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Duplicate this file per quarter. Keep the structure; replace the content. The companion markdown carries the same rules in prose for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is a working default for twelve weeks — a milestone a fortnight. Fewer, larger milestones are fine; more than eight means they are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the state pill by how bad it is: red for finished-and-never-used, amber for finished-and-unscheduled, green for now live. Three greens means delete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rarely change between quarters. Copy them forward verbatim rather than rewriting — a principle that is reworded every quarter is not binding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guidance, not a slot — keep it as it is when reusing the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4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566928"/>
            <a:ext cx="264160" cy="264160"/>
          </a:xfrm>
          <a:prstGeom prst="rect">
            <a:avLst/>
          </a:prstGeom>
        </p:spPr>
      </p:pic>
      <p:sp>
        <p:nvSpPr>
          <p:cNvPr id="3" name="Text 0"/>
          <p:cNvSpPr/>
          <p:nvPr/>
        </p:nvSpPr>
        <p:spPr>
          <a:xfrm>
            <a:off x="895096" y="539496"/>
            <a:ext cx="2194560" cy="319024"/>
          </a:xfrm>
          <a:prstGeom prst="rect">
            <a:avLst/>
          </a:prstGeom>
          <a:noFill/>
          <a:ln/>
        </p:spPr>
        <p:txBody>
          <a:bodyPr wrap="square" lIns="0" tIns="0" rIns="0" bIns="0" rtlCol="0" anchor="ctr"/>
          <a:lstStyle/>
          <a:p>
            <a:pPr indent="0" marL="0">
              <a:buNone/>
            </a:pPr>
            <a:r>
              <a:rPr lang="en-US" sz="1300" b="1" spc="169" kern="0" dirty="0">
                <a:solidFill>
                  <a:srgbClr val="FFFFFF"/>
                </a:solidFill>
                <a:latin typeface="Calibri" pitchFamily="34" charset="0"/>
                <a:ea typeface="Calibri" pitchFamily="34" charset="-122"/>
                <a:cs typeface="Calibri" pitchFamily="34" charset="-120"/>
              </a:rPr>
              <a:t>COMP</a:t>
            </a:r>
            <a:pPr indent="0" marL="0">
              <a:buNone/>
            </a:pPr>
            <a:r>
              <a:rPr lang="en-US" sz="1300" b="1" spc="169" kern="0" dirty="0">
                <a:solidFill>
                  <a:srgbClr val="F87171"/>
                </a:solidFill>
                <a:latin typeface="Calibri" pitchFamily="34" charset="0"/>
                <a:ea typeface="Calibri" pitchFamily="34" charset="-122"/>
                <a:cs typeface="Calibri" pitchFamily="34" charset="-120"/>
              </a:rPr>
              <a:t>NINJA</a:t>
            </a:r>
            <a:endParaRPr lang="en-US" sz="1300" dirty="0"/>
          </a:p>
        </p:txBody>
      </p:sp>
      <p:sp>
        <p:nvSpPr>
          <p:cNvPr id="4" name="Text 1"/>
          <p:cNvSpPr/>
          <p:nvPr/>
        </p:nvSpPr>
        <p:spPr>
          <a:xfrm>
            <a:off x="566928" y="1737360"/>
            <a:ext cx="8778240" cy="960120"/>
          </a:xfrm>
          <a:prstGeom prst="rect">
            <a:avLst/>
          </a:prstGeom>
          <a:noFill/>
          <a:ln/>
        </p:spPr>
        <p:txBody>
          <a:bodyPr wrap="square" lIns="0" tIns="0" rIns="0" bIns="0" rtlCol="0" anchor="ctr"/>
          <a:lstStyle/>
          <a:p>
            <a:pPr indent="0" marL="0">
              <a:buNone/>
            </a:pPr>
            <a:r>
              <a:rPr lang="en-US" sz="5400" dirty="0">
                <a:solidFill>
                  <a:srgbClr val="FFFFFF"/>
                </a:solidFill>
                <a:latin typeface="Georgia" pitchFamily="34" charset="0"/>
                <a:ea typeface="Georgia" pitchFamily="34" charset="-122"/>
                <a:cs typeface="Georgia" pitchFamily="34" charset="-120"/>
              </a:rPr>
              <a:t>Roadmap</a:t>
            </a:r>
            <a:endParaRPr lang="en-US" sz="5400" dirty="0"/>
          </a:p>
        </p:txBody>
      </p:sp>
      <p:sp>
        <p:nvSpPr>
          <p:cNvPr id="5" name="Text 2"/>
          <p:cNvSpPr/>
          <p:nvPr/>
        </p:nvSpPr>
        <p:spPr>
          <a:xfrm>
            <a:off x="566928" y="2743200"/>
            <a:ext cx="8778240" cy="457200"/>
          </a:xfrm>
          <a:prstGeom prst="rect">
            <a:avLst/>
          </a:prstGeom>
          <a:noFill/>
          <a:ln/>
        </p:spPr>
        <p:txBody>
          <a:bodyPr wrap="square" lIns="0" tIns="0" rIns="0" bIns="0" rtlCol="0" anchor="ctr"/>
          <a:lstStyle/>
          <a:p>
            <a:pPr indent="0" marL="0">
              <a:buNone/>
            </a:pPr>
            <a:r>
              <a:rPr lang="en-US" sz="2200" dirty="0">
                <a:solidFill>
                  <a:srgbClr val="F87171"/>
                </a:solidFill>
                <a:latin typeface="Georgia" pitchFamily="34" charset="0"/>
                <a:ea typeface="Georgia" pitchFamily="34" charset="-122"/>
                <a:cs typeface="Georgia" pitchFamily="34" charset="-120"/>
              </a:rPr>
              <a:t>[ Quarter ]  ·  twelve weeks  ·  [ start date ] – [ end date ]</a:t>
            </a:r>
            <a:endParaRPr lang="en-US" sz="2200" dirty="0"/>
          </a:p>
        </p:txBody>
      </p:sp>
      <p:sp>
        <p:nvSpPr>
          <p:cNvPr id="6" name="Text 3"/>
          <p:cNvSpPr/>
          <p:nvPr/>
        </p:nvSpPr>
        <p:spPr>
          <a:xfrm>
            <a:off x="566928" y="3401568"/>
            <a:ext cx="7498080" cy="731520"/>
          </a:xfrm>
          <a:prstGeom prst="rect">
            <a:avLst/>
          </a:prstGeom>
          <a:noFill/>
          <a:ln/>
        </p:spPr>
        <p:txBody>
          <a:bodyPr wrap="square" lIns="0" tIns="0" rIns="0" bIns="0" rtlCol="0" anchor="t"/>
          <a:lstStyle/>
          <a:p>
            <a:pPr indent="0" marL="0">
              <a:lnSpc>
                <a:spcPct val="120000"/>
              </a:lnSpc>
              <a:buNone/>
            </a:pPr>
            <a:r>
              <a:rPr lang="en-US" sz="1350" dirty="0">
                <a:solidFill>
                  <a:srgbClr val="D5DDE8"/>
                </a:solidFill>
                <a:latin typeface="Calibri" pitchFamily="34" charset="0"/>
                <a:ea typeface="Calibri" pitchFamily="34" charset="-122"/>
                <a:cs typeface="Calibri" pitchFamily="34" charset="-120"/>
              </a:rPr>
              <a:t>Replace every italic grey line in this deck. A prompt left in place is the tell that the section was never thought about — delete the slide instead.</a:t>
            </a:r>
            <a:endParaRPr lang="en-US" sz="1350" dirty="0"/>
          </a:p>
        </p:txBody>
      </p:sp>
      <p:sp>
        <p:nvSpPr>
          <p:cNvPr id="7" name="Shape 4"/>
          <p:cNvSpPr/>
          <p:nvPr/>
        </p:nvSpPr>
        <p:spPr>
          <a:xfrm>
            <a:off x="566928" y="4443984"/>
            <a:ext cx="2057400" cy="566928"/>
          </a:xfrm>
          <a:prstGeom prst="roundRect">
            <a:avLst>
              <a:gd name="adj" fmla="val 8065"/>
            </a:avLst>
          </a:prstGeom>
          <a:solidFill>
            <a:srgbClr val="243044"/>
          </a:solidFill>
          <a:ln w="9525">
            <a:solidFill>
              <a:srgbClr val="3D4B5F"/>
            </a:solidFill>
            <a:prstDash val="dash"/>
          </a:ln>
        </p:spPr>
      </p:sp>
      <p:sp>
        <p:nvSpPr>
          <p:cNvPr id="8" name="Text 5"/>
          <p:cNvSpPr/>
          <p:nvPr/>
        </p:nvSpPr>
        <p:spPr>
          <a:xfrm>
            <a:off x="566928" y="4443984"/>
            <a:ext cx="2057400" cy="566928"/>
          </a:xfrm>
          <a:prstGeom prst="rect">
            <a:avLst/>
          </a:prstGeom>
          <a:noFill/>
          <a:ln/>
        </p:spPr>
        <p:txBody>
          <a:bodyPr wrap="square" lIns="0" tIns="0" rIns="0" bIns="0" rtlCol="0" anchor="ctr"/>
          <a:lstStyle/>
          <a:p>
            <a:pPr algn="ctr" indent="0" marL="0">
              <a:buNone/>
            </a:pPr>
            <a:r>
              <a:rPr lang="en-US" sz="2000" dirty="0">
                <a:solidFill>
                  <a:srgbClr val="8B98A8"/>
                </a:solidFill>
                <a:latin typeface="Georgia" pitchFamily="34" charset="0"/>
                <a:ea typeface="Georgia" pitchFamily="34" charset="-122"/>
                <a:cs typeface="Georgia" pitchFamily="34" charset="-120"/>
              </a:rPr>
              <a:t>[ __ ]</a:t>
            </a:r>
            <a:endParaRPr lang="en-US" sz="2000" dirty="0"/>
          </a:p>
        </p:txBody>
      </p:sp>
      <p:sp>
        <p:nvSpPr>
          <p:cNvPr id="9" name="Text 6"/>
          <p:cNvSpPr/>
          <p:nvPr/>
        </p:nvSpPr>
        <p:spPr>
          <a:xfrm>
            <a:off x="566928" y="5084064"/>
            <a:ext cx="2057400" cy="237744"/>
          </a:xfrm>
          <a:prstGeom prst="rect">
            <a:avLst/>
          </a:prstGeom>
          <a:noFill/>
          <a:ln/>
        </p:spPr>
        <p:txBody>
          <a:bodyPr wrap="square" lIns="0" tIns="0" rIns="0" bIns="0" rtlCol="0" anchor="ctr"/>
          <a:lstStyle/>
          <a:p>
            <a:pPr algn="ctr" indent="0" marL="0">
              <a:buNone/>
            </a:pPr>
            <a:r>
              <a:rPr lang="en-US" sz="900" b="1" spc="130" kern="0" dirty="0">
                <a:solidFill>
                  <a:srgbClr val="8B98A8"/>
                </a:solidFill>
                <a:latin typeface="Calibri" pitchFamily="34" charset="0"/>
                <a:ea typeface="Calibri" pitchFamily="34" charset="-122"/>
                <a:cs typeface="Calibri" pitchFamily="34" charset="-120"/>
              </a:rPr>
              <a:t>MILESTONES</a:t>
            </a:r>
            <a:endParaRPr lang="en-US" sz="900" dirty="0"/>
          </a:p>
        </p:txBody>
      </p:sp>
      <p:sp>
        <p:nvSpPr>
          <p:cNvPr id="10" name="Shape 7"/>
          <p:cNvSpPr/>
          <p:nvPr/>
        </p:nvSpPr>
        <p:spPr>
          <a:xfrm>
            <a:off x="2898648" y="4443984"/>
            <a:ext cx="2057400" cy="566928"/>
          </a:xfrm>
          <a:prstGeom prst="roundRect">
            <a:avLst>
              <a:gd name="adj" fmla="val 8065"/>
            </a:avLst>
          </a:prstGeom>
          <a:solidFill>
            <a:srgbClr val="243044"/>
          </a:solidFill>
          <a:ln w="9525">
            <a:solidFill>
              <a:srgbClr val="3D4B5F"/>
            </a:solidFill>
            <a:prstDash val="dash"/>
          </a:ln>
        </p:spPr>
      </p:sp>
      <p:sp>
        <p:nvSpPr>
          <p:cNvPr id="11" name="Text 8"/>
          <p:cNvSpPr/>
          <p:nvPr/>
        </p:nvSpPr>
        <p:spPr>
          <a:xfrm>
            <a:off x="2898648" y="4443984"/>
            <a:ext cx="2057400" cy="566928"/>
          </a:xfrm>
          <a:prstGeom prst="rect">
            <a:avLst/>
          </a:prstGeom>
          <a:noFill/>
          <a:ln/>
        </p:spPr>
        <p:txBody>
          <a:bodyPr wrap="square" lIns="0" tIns="0" rIns="0" bIns="0" rtlCol="0" anchor="ctr"/>
          <a:lstStyle/>
          <a:p>
            <a:pPr algn="ctr" indent="0" marL="0">
              <a:buNone/>
            </a:pPr>
            <a:r>
              <a:rPr lang="en-US" sz="2000" dirty="0">
                <a:solidFill>
                  <a:srgbClr val="8B98A8"/>
                </a:solidFill>
                <a:latin typeface="Georgia" pitchFamily="34" charset="0"/>
                <a:ea typeface="Georgia" pitchFamily="34" charset="-122"/>
                <a:cs typeface="Georgia" pitchFamily="34" charset="-120"/>
              </a:rPr>
              <a:t>[ __ ]</a:t>
            </a:r>
            <a:endParaRPr lang="en-US" sz="2000" dirty="0"/>
          </a:p>
        </p:txBody>
      </p:sp>
      <p:sp>
        <p:nvSpPr>
          <p:cNvPr id="12" name="Text 9"/>
          <p:cNvSpPr/>
          <p:nvPr/>
        </p:nvSpPr>
        <p:spPr>
          <a:xfrm>
            <a:off x="2898648" y="5084064"/>
            <a:ext cx="2057400" cy="237744"/>
          </a:xfrm>
          <a:prstGeom prst="rect">
            <a:avLst/>
          </a:prstGeom>
          <a:noFill/>
          <a:ln/>
        </p:spPr>
        <p:txBody>
          <a:bodyPr wrap="square" lIns="0" tIns="0" rIns="0" bIns="0" rtlCol="0" anchor="ctr"/>
          <a:lstStyle/>
          <a:p>
            <a:pPr algn="ctr" indent="0" marL="0">
              <a:buNone/>
            </a:pPr>
            <a:r>
              <a:rPr lang="en-US" sz="900" b="1" spc="130" kern="0" dirty="0">
                <a:solidFill>
                  <a:srgbClr val="8B98A8"/>
                </a:solidFill>
                <a:latin typeface="Calibri" pitchFamily="34" charset="0"/>
                <a:ea typeface="Calibri" pitchFamily="34" charset="-122"/>
                <a:cs typeface="Calibri" pitchFamily="34" charset="-120"/>
              </a:rPr>
              <a:t>WEEKS</a:t>
            </a:r>
            <a:endParaRPr lang="en-US" sz="900" dirty="0"/>
          </a:p>
        </p:txBody>
      </p:sp>
      <p:sp>
        <p:nvSpPr>
          <p:cNvPr id="13" name="Shape 10"/>
          <p:cNvSpPr/>
          <p:nvPr/>
        </p:nvSpPr>
        <p:spPr>
          <a:xfrm>
            <a:off x="5230368" y="4443984"/>
            <a:ext cx="2057400" cy="566928"/>
          </a:xfrm>
          <a:prstGeom prst="roundRect">
            <a:avLst>
              <a:gd name="adj" fmla="val 8065"/>
            </a:avLst>
          </a:prstGeom>
          <a:solidFill>
            <a:srgbClr val="243044"/>
          </a:solidFill>
          <a:ln w="9525">
            <a:solidFill>
              <a:srgbClr val="3D4B5F"/>
            </a:solidFill>
            <a:prstDash val="dash"/>
          </a:ln>
        </p:spPr>
      </p:sp>
      <p:sp>
        <p:nvSpPr>
          <p:cNvPr id="14" name="Text 11"/>
          <p:cNvSpPr/>
          <p:nvPr/>
        </p:nvSpPr>
        <p:spPr>
          <a:xfrm>
            <a:off x="5230368" y="4443984"/>
            <a:ext cx="2057400" cy="566928"/>
          </a:xfrm>
          <a:prstGeom prst="rect">
            <a:avLst/>
          </a:prstGeom>
          <a:noFill/>
          <a:ln/>
        </p:spPr>
        <p:txBody>
          <a:bodyPr wrap="square" lIns="0" tIns="0" rIns="0" bIns="0" rtlCol="0" anchor="ctr"/>
          <a:lstStyle/>
          <a:p>
            <a:pPr algn="ctr" indent="0" marL="0">
              <a:buNone/>
            </a:pPr>
            <a:r>
              <a:rPr lang="en-US" sz="2000" dirty="0">
                <a:solidFill>
                  <a:srgbClr val="8B98A8"/>
                </a:solidFill>
                <a:latin typeface="Georgia" pitchFamily="34" charset="0"/>
                <a:ea typeface="Georgia" pitchFamily="34" charset="-122"/>
                <a:cs typeface="Georgia" pitchFamily="34" charset="-120"/>
              </a:rPr>
              <a:t>[ date ]</a:t>
            </a:r>
            <a:endParaRPr lang="en-US" sz="2000" dirty="0"/>
          </a:p>
        </p:txBody>
      </p:sp>
      <p:sp>
        <p:nvSpPr>
          <p:cNvPr id="15" name="Text 12"/>
          <p:cNvSpPr/>
          <p:nvPr/>
        </p:nvSpPr>
        <p:spPr>
          <a:xfrm>
            <a:off x="5230368" y="5084064"/>
            <a:ext cx="2057400" cy="237744"/>
          </a:xfrm>
          <a:prstGeom prst="rect">
            <a:avLst/>
          </a:prstGeom>
          <a:noFill/>
          <a:ln/>
        </p:spPr>
        <p:txBody>
          <a:bodyPr wrap="square" lIns="0" tIns="0" rIns="0" bIns="0" rtlCol="0" anchor="ctr"/>
          <a:lstStyle/>
          <a:p>
            <a:pPr algn="ctr" indent="0" marL="0">
              <a:buNone/>
            </a:pPr>
            <a:r>
              <a:rPr lang="en-US" sz="900" b="1" spc="130" kern="0" dirty="0">
                <a:solidFill>
                  <a:srgbClr val="8B98A8"/>
                </a:solidFill>
                <a:latin typeface="Calibri" pitchFamily="34" charset="0"/>
                <a:ea typeface="Calibri" pitchFamily="34" charset="-122"/>
                <a:cs typeface="Calibri" pitchFamily="34" charset="-120"/>
              </a:rPr>
              <a:t>PREPARED</a:t>
            </a:r>
            <a:endParaRPr lang="en-US" sz="900" dirty="0"/>
          </a:p>
        </p:txBody>
      </p:sp>
      <p:sp>
        <p:nvSpPr>
          <p:cNvPr id="16" name="Text 13"/>
          <p:cNvSpPr/>
          <p:nvPr/>
        </p:nvSpPr>
        <p:spPr>
          <a:xfrm>
            <a:off x="5955487" y="6373368"/>
            <a:ext cx="5669280" cy="274320"/>
          </a:xfrm>
          <a:prstGeom prst="rect">
            <a:avLst/>
          </a:prstGeom>
          <a:noFill/>
          <a:ln/>
        </p:spPr>
        <p:txBody>
          <a:bodyPr wrap="square" lIns="0" tIns="0" rIns="0" bIns="0" rtlCol="0" anchor="ctr"/>
          <a:lstStyle/>
          <a:p>
            <a:pPr algn="r" indent="0" marL="0">
              <a:buNone/>
            </a:pPr>
            <a:r>
              <a:rPr lang="en-US" sz="950" dirty="0">
                <a:solidFill>
                  <a:srgbClr val="8B98A8"/>
                </a:solidFill>
                <a:latin typeface="Calibri" pitchFamily="34" charset="0"/>
                <a:ea typeface="Calibri" pitchFamily="34" charset="-122"/>
                <a:cs typeface="Calibri" pitchFamily="34" charset="-120"/>
              </a:rPr>
              <a:t>Template  ·  the written rules live in docs/ROADMAP-TEMPLATE.md</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566928" y="384048"/>
            <a:ext cx="11057839" cy="219456"/>
          </a:xfrm>
          <a:prstGeom prst="rect">
            <a:avLst/>
          </a:prstGeom>
          <a:noFill/>
          <a:ln/>
        </p:spPr>
        <p:txBody>
          <a:bodyPr wrap="square" lIns="0" tIns="0" rIns="0" bIns="0" rtlCol="0" anchor="ctr"/>
          <a:lstStyle/>
          <a:p>
            <a:pPr indent="0" marL="0">
              <a:buNone/>
            </a:pPr>
            <a:r>
              <a:rPr lang="en-US" sz="1000" b="1" spc="150" kern="0" dirty="0">
                <a:solidFill>
                  <a:srgbClr val="B91C1C"/>
                </a:solidFill>
                <a:latin typeface="Calibri" pitchFamily="34" charset="0"/>
                <a:ea typeface="Calibri" pitchFamily="34" charset="-122"/>
                <a:cs typeface="Calibri" pitchFamily="34" charset="-120"/>
              </a:rPr>
              <a:t>BEFORE YOU FILL ANYTHING IN</a:t>
            </a:r>
            <a:endParaRPr lang="en-US" sz="1000" dirty="0"/>
          </a:p>
        </p:txBody>
      </p:sp>
      <p:sp>
        <p:nvSpPr>
          <p:cNvPr id="3" name="Text 1"/>
          <p:cNvSpPr/>
          <p:nvPr/>
        </p:nvSpPr>
        <p:spPr>
          <a:xfrm>
            <a:off x="566928" y="621792"/>
            <a:ext cx="11057839" cy="566928"/>
          </a:xfrm>
          <a:prstGeom prst="rect">
            <a:avLst/>
          </a:prstGeom>
          <a:noFill/>
          <a:ln/>
        </p:spPr>
        <p:txBody>
          <a:bodyPr wrap="square" lIns="0" tIns="0" rIns="0" bIns="0" rtlCol="0" anchor="ctr"/>
          <a:lstStyle/>
          <a:p>
            <a:pPr indent="0" marL="0">
              <a:buNone/>
            </a:pPr>
            <a:r>
              <a:rPr lang="en-US" sz="3000" dirty="0">
                <a:solidFill>
                  <a:srgbClr val="1A2433"/>
                </a:solidFill>
                <a:latin typeface="Georgia" pitchFamily="34" charset="0"/>
                <a:ea typeface="Georgia" pitchFamily="34" charset="-122"/>
                <a:cs typeface="Georgia" pitchFamily="34" charset="-120"/>
              </a:rPr>
              <a:t>Four rules, or this becomes a to-do list.</a:t>
            </a:r>
            <a:endParaRPr lang="en-US" sz="3000" dirty="0"/>
          </a:p>
        </p:txBody>
      </p:sp>
      <p:pic>
        <p:nvPicPr>
          <p:cNvPr id="4" name="Image 0" descr="preencoded.png">    </p:cNvPr>
          <p:cNvPicPr>
            <a:picLocks noChangeAspect="1"/>
          </p:cNvPicPr>
          <p:nvPr/>
        </p:nvPicPr>
        <p:blipFill>
          <a:blip r:embed="rId1"/>
          <a:stretch>
            <a:fillRect/>
          </a:stretch>
        </p:blipFill>
        <p:spPr>
          <a:xfrm>
            <a:off x="566928" y="6373368"/>
            <a:ext cx="162560" cy="162560"/>
          </a:xfrm>
          <a:prstGeom prst="rect">
            <a:avLst/>
          </a:prstGeom>
        </p:spPr>
      </p:pic>
      <p:sp>
        <p:nvSpPr>
          <p:cNvPr id="5" name="Text 2"/>
          <p:cNvSpPr/>
          <p:nvPr/>
        </p:nvSpPr>
        <p:spPr>
          <a:xfrm>
            <a:off x="793496" y="6345936"/>
            <a:ext cx="2194560" cy="217424"/>
          </a:xfrm>
          <a:prstGeom prst="rect">
            <a:avLst/>
          </a:prstGeom>
          <a:noFill/>
          <a:ln/>
        </p:spPr>
        <p:txBody>
          <a:bodyPr wrap="square" lIns="0" tIns="0" rIns="0" bIns="0" rtlCol="0" anchor="ctr"/>
          <a:lstStyle/>
          <a:p>
            <a:pPr indent="0" marL="0">
              <a:buNone/>
            </a:pPr>
            <a:r>
              <a:rPr lang="en-US" sz="800" b="1" spc="104" kern="0" dirty="0">
                <a:solidFill>
                  <a:srgbClr val="1A2433"/>
                </a:solidFill>
                <a:latin typeface="Calibri" pitchFamily="34" charset="0"/>
                <a:ea typeface="Calibri" pitchFamily="34" charset="-122"/>
                <a:cs typeface="Calibri" pitchFamily="34" charset="-120"/>
              </a:rPr>
              <a:t>COMP</a:t>
            </a:r>
            <a:pPr indent="0" marL="0">
              <a:buNone/>
            </a:pPr>
            <a:r>
              <a:rPr lang="en-US" sz="800" b="1" spc="104" kern="0" dirty="0">
                <a:solidFill>
                  <a:srgbClr val="B91C1C"/>
                </a:solidFill>
                <a:latin typeface="Calibri" pitchFamily="34" charset="0"/>
                <a:ea typeface="Calibri" pitchFamily="34" charset="-122"/>
                <a:cs typeface="Calibri" pitchFamily="34" charset="-120"/>
              </a:rPr>
              <a:t>NINJA</a:t>
            </a:r>
            <a:endParaRPr lang="en-US" sz="800" dirty="0"/>
          </a:p>
        </p:txBody>
      </p:sp>
      <p:sp>
        <p:nvSpPr>
          <p:cNvPr id="6" name="Text 3"/>
          <p:cNvSpPr/>
          <p:nvPr/>
        </p:nvSpPr>
        <p:spPr>
          <a:xfrm>
            <a:off x="10527487" y="6355080"/>
            <a:ext cx="1097280" cy="256032"/>
          </a:xfrm>
          <a:prstGeom prst="rect">
            <a:avLst/>
          </a:prstGeom>
          <a:noFill/>
          <a:ln/>
        </p:spPr>
        <p:txBody>
          <a:bodyPr wrap="square" lIns="0" tIns="0" rIns="0" bIns="0" rtlCol="0" anchor="ctr"/>
          <a:lstStyle/>
          <a:p>
            <a:pPr algn="r" indent="0" marL="0">
              <a:buNone/>
            </a:pPr>
            <a:r>
              <a:rPr lang="en-US" sz="950" dirty="0">
                <a:solidFill>
                  <a:srgbClr val="9AA2AD"/>
                </a:solidFill>
                <a:latin typeface="Calibri" pitchFamily="34" charset="0"/>
                <a:ea typeface="Calibri" pitchFamily="34" charset="-122"/>
                <a:cs typeface="Calibri" pitchFamily="34" charset="-120"/>
              </a:rPr>
              <a:t>2</a:t>
            </a:r>
            <a:endParaRPr lang="en-US" sz="950" dirty="0"/>
          </a:p>
        </p:txBody>
      </p:sp>
      <p:sp>
        <p:nvSpPr>
          <p:cNvPr id="7" name="Shape 4"/>
          <p:cNvSpPr/>
          <p:nvPr/>
        </p:nvSpPr>
        <p:spPr>
          <a:xfrm>
            <a:off x="566928" y="1481328"/>
            <a:ext cx="5440680" cy="1883664"/>
          </a:xfrm>
          <a:prstGeom prst="roundRect">
            <a:avLst>
              <a:gd name="adj" fmla="val 2913"/>
            </a:avLst>
          </a:prstGeom>
          <a:solidFill>
            <a:srgbClr val="FFFFFF"/>
          </a:solidFill>
          <a:ln w="9525">
            <a:solidFill>
              <a:srgbClr val="D8D4C9"/>
            </a:solidFill>
            <a:prstDash val="solid"/>
          </a:ln>
        </p:spPr>
      </p:sp>
      <p:sp>
        <p:nvSpPr>
          <p:cNvPr id="8" name="Shape 5"/>
          <p:cNvSpPr/>
          <p:nvPr/>
        </p:nvSpPr>
        <p:spPr>
          <a:xfrm>
            <a:off x="804672" y="1719072"/>
            <a:ext cx="420624" cy="420624"/>
          </a:xfrm>
          <a:prstGeom prst="roundRect">
            <a:avLst>
              <a:gd name="adj" fmla="val 10870"/>
            </a:avLst>
          </a:prstGeom>
          <a:solidFill>
            <a:srgbClr val="B91C1C"/>
          </a:solidFill>
          <a:ln w="6350">
            <a:solidFill>
              <a:srgbClr val="B91C1C"/>
            </a:solidFill>
            <a:prstDash val="solid"/>
          </a:ln>
        </p:spPr>
      </p:sp>
      <p:sp>
        <p:nvSpPr>
          <p:cNvPr id="9" name="Text 6"/>
          <p:cNvSpPr/>
          <p:nvPr/>
        </p:nvSpPr>
        <p:spPr>
          <a:xfrm>
            <a:off x="804672" y="1719072"/>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0" name="Text 7"/>
          <p:cNvSpPr/>
          <p:nvPr/>
        </p:nvSpPr>
        <p:spPr>
          <a:xfrm>
            <a:off x="1353312" y="1719072"/>
            <a:ext cx="4434840" cy="420624"/>
          </a:xfrm>
          <a:prstGeom prst="rect">
            <a:avLst/>
          </a:prstGeom>
          <a:noFill/>
          <a:ln/>
        </p:spPr>
        <p:txBody>
          <a:bodyPr wrap="square" lIns="0" tIns="0" rIns="0" bIns="0" rtlCol="0" anchor="ctr"/>
          <a:lstStyle/>
          <a:p>
            <a:pPr indent="0" marL="0">
              <a:buNone/>
            </a:pPr>
            <a:r>
              <a:rPr lang="en-US" sz="1600" dirty="0">
                <a:solidFill>
                  <a:srgbClr val="1A2433"/>
                </a:solidFill>
                <a:latin typeface="Georgia" pitchFamily="34" charset="0"/>
                <a:ea typeface="Georgia" pitchFamily="34" charset="-122"/>
                <a:cs typeface="Georgia" pitchFamily="34" charset="-120"/>
              </a:rPr>
              <a:t>Milestones are claims, not deliverables</a:t>
            </a:r>
            <a:endParaRPr lang="en-US" sz="1600" dirty="0"/>
          </a:p>
        </p:txBody>
      </p:sp>
      <p:sp>
        <p:nvSpPr>
          <p:cNvPr id="11" name="Text 8"/>
          <p:cNvSpPr/>
          <p:nvPr/>
        </p:nvSpPr>
        <p:spPr>
          <a:xfrm>
            <a:off x="804672" y="2249424"/>
            <a:ext cx="4956048" cy="969264"/>
          </a:xfrm>
          <a:prstGeom prst="rect">
            <a:avLst/>
          </a:prstGeom>
          <a:noFill/>
          <a:ln/>
        </p:spPr>
        <p:txBody>
          <a:bodyPr wrap="square" lIns="0" tIns="0" rIns="0" bIns="0" rtlCol="0" anchor="t"/>
          <a:lstStyle/>
          <a:p>
            <a:pPr indent="0" marL="0">
              <a:lnSpc>
                <a:spcPct val="110000"/>
              </a:lnSpc>
              <a:buNone/>
            </a:pPr>
            <a:r>
              <a:rPr lang="en-US" sz="1100" dirty="0">
                <a:solidFill>
                  <a:srgbClr val="374253"/>
                </a:solidFill>
                <a:latin typeface="Calibri" pitchFamily="34" charset="0"/>
                <a:ea typeface="Calibri" pitchFamily="34" charset="-122"/>
                <a:cs typeface="Calibri" pitchFamily="34" charset="-120"/>
              </a:rPr>
              <a:t>Word each one so somebody outside can check it and so it can be shown false — a row in a table, a figure on a dashboard, a person who came back. “Ship the vault” is a deliverable. “One outside broker's book is in the vault” is a milestone.</a:t>
            </a:r>
            <a:endParaRPr lang="en-US" sz="1100" dirty="0"/>
          </a:p>
        </p:txBody>
      </p:sp>
      <p:sp>
        <p:nvSpPr>
          <p:cNvPr id="12" name="Shape 9"/>
          <p:cNvSpPr/>
          <p:nvPr/>
        </p:nvSpPr>
        <p:spPr>
          <a:xfrm>
            <a:off x="6181344" y="1481328"/>
            <a:ext cx="5440680" cy="1883664"/>
          </a:xfrm>
          <a:prstGeom prst="roundRect">
            <a:avLst>
              <a:gd name="adj" fmla="val 2913"/>
            </a:avLst>
          </a:prstGeom>
          <a:solidFill>
            <a:srgbClr val="FFFFFF"/>
          </a:solidFill>
          <a:ln w="9525">
            <a:solidFill>
              <a:srgbClr val="D8D4C9"/>
            </a:solidFill>
            <a:prstDash val="solid"/>
          </a:ln>
        </p:spPr>
      </p:sp>
      <p:sp>
        <p:nvSpPr>
          <p:cNvPr id="13" name="Shape 10"/>
          <p:cNvSpPr/>
          <p:nvPr/>
        </p:nvSpPr>
        <p:spPr>
          <a:xfrm>
            <a:off x="6419088" y="1719072"/>
            <a:ext cx="420624" cy="420624"/>
          </a:xfrm>
          <a:prstGeom prst="roundRect">
            <a:avLst>
              <a:gd name="adj" fmla="val 10870"/>
            </a:avLst>
          </a:prstGeom>
          <a:solidFill>
            <a:srgbClr val="B91C1C"/>
          </a:solidFill>
          <a:ln w="6350">
            <a:solidFill>
              <a:srgbClr val="B91C1C"/>
            </a:solidFill>
            <a:prstDash val="solid"/>
          </a:ln>
        </p:spPr>
      </p:sp>
      <p:sp>
        <p:nvSpPr>
          <p:cNvPr id="14" name="Text 11"/>
          <p:cNvSpPr/>
          <p:nvPr/>
        </p:nvSpPr>
        <p:spPr>
          <a:xfrm>
            <a:off x="6419088" y="1719072"/>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5" name="Text 12"/>
          <p:cNvSpPr/>
          <p:nvPr/>
        </p:nvSpPr>
        <p:spPr>
          <a:xfrm>
            <a:off x="6967728" y="1719072"/>
            <a:ext cx="4434840" cy="420624"/>
          </a:xfrm>
          <a:prstGeom prst="rect">
            <a:avLst/>
          </a:prstGeom>
          <a:noFill/>
          <a:ln/>
        </p:spPr>
        <p:txBody>
          <a:bodyPr wrap="square" lIns="0" tIns="0" rIns="0" bIns="0" rtlCol="0" anchor="ctr"/>
          <a:lstStyle/>
          <a:p>
            <a:pPr indent="0" marL="0">
              <a:buNone/>
            </a:pPr>
            <a:r>
              <a:rPr lang="en-US" sz="1600" dirty="0">
                <a:solidFill>
                  <a:srgbClr val="1A2433"/>
                </a:solidFill>
                <a:latin typeface="Georgia" pitchFamily="34" charset="0"/>
                <a:ea typeface="Georgia" pitchFamily="34" charset="-122"/>
                <a:cs typeface="Georgia" pitchFamily="34" charset="-120"/>
              </a:rPr>
              <a:t>One constraint decides the order</a:t>
            </a:r>
            <a:endParaRPr lang="en-US" sz="1600" dirty="0"/>
          </a:p>
        </p:txBody>
      </p:sp>
      <p:sp>
        <p:nvSpPr>
          <p:cNvPr id="16" name="Text 13"/>
          <p:cNvSpPr/>
          <p:nvPr/>
        </p:nvSpPr>
        <p:spPr>
          <a:xfrm>
            <a:off x="6419088" y="2249424"/>
            <a:ext cx="4956048" cy="969264"/>
          </a:xfrm>
          <a:prstGeom prst="rect">
            <a:avLst/>
          </a:prstGeom>
          <a:noFill/>
          <a:ln/>
        </p:spPr>
        <p:txBody>
          <a:bodyPr wrap="square" lIns="0" tIns="0" rIns="0" bIns="0" rtlCol="0" anchor="t"/>
          <a:lstStyle/>
          <a:p>
            <a:pPr indent="0" marL="0">
              <a:lnSpc>
                <a:spcPct val="110000"/>
              </a:lnSpc>
              <a:buNone/>
            </a:pPr>
            <a:r>
              <a:rPr lang="en-US" sz="1100" dirty="0">
                <a:solidFill>
                  <a:srgbClr val="374253"/>
                </a:solidFill>
                <a:latin typeface="Calibri" pitchFamily="34" charset="0"/>
                <a:ea typeface="Calibri" pitchFamily="34" charset="-122"/>
                <a:cs typeface="Calibri" pitchFamily="34" charset="-120"/>
              </a:rPr>
              <a:t>Name the single thing the business is actually short of, and rank every week against it. If two milestones are both “important”, the constraint has not been named yet.</a:t>
            </a:r>
            <a:endParaRPr lang="en-US" sz="1100" dirty="0"/>
          </a:p>
        </p:txBody>
      </p:sp>
      <p:sp>
        <p:nvSpPr>
          <p:cNvPr id="17" name="Shape 14"/>
          <p:cNvSpPr/>
          <p:nvPr/>
        </p:nvSpPr>
        <p:spPr>
          <a:xfrm>
            <a:off x="566928" y="3602736"/>
            <a:ext cx="5440680" cy="1883664"/>
          </a:xfrm>
          <a:prstGeom prst="roundRect">
            <a:avLst>
              <a:gd name="adj" fmla="val 2913"/>
            </a:avLst>
          </a:prstGeom>
          <a:solidFill>
            <a:srgbClr val="FFFFFF"/>
          </a:solidFill>
          <a:ln w="9525">
            <a:solidFill>
              <a:srgbClr val="D8D4C9"/>
            </a:solidFill>
            <a:prstDash val="solid"/>
          </a:ln>
        </p:spPr>
      </p:sp>
      <p:sp>
        <p:nvSpPr>
          <p:cNvPr id="18" name="Shape 15"/>
          <p:cNvSpPr/>
          <p:nvPr/>
        </p:nvSpPr>
        <p:spPr>
          <a:xfrm>
            <a:off x="804672" y="3840480"/>
            <a:ext cx="420624" cy="420624"/>
          </a:xfrm>
          <a:prstGeom prst="roundRect">
            <a:avLst>
              <a:gd name="adj" fmla="val 10870"/>
            </a:avLst>
          </a:prstGeom>
          <a:solidFill>
            <a:srgbClr val="B91C1C"/>
          </a:solidFill>
          <a:ln w="6350">
            <a:solidFill>
              <a:srgbClr val="B91C1C"/>
            </a:solidFill>
            <a:prstDash val="solid"/>
          </a:ln>
        </p:spPr>
      </p:sp>
      <p:sp>
        <p:nvSpPr>
          <p:cNvPr id="19" name="Text 16"/>
          <p:cNvSpPr/>
          <p:nvPr/>
        </p:nvSpPr>
        <p:spPr>
          <a:xfrm>
            <a:off x="804672" y="3840480"/>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0" name="Text 17"/>
          <p:cNvSpPr/>
          <p:nvPr/>
        </p:nvSpPr>
        <p:spPr>
          <a:xfrm>
            <a:off x="1353312" y="3840480"/>
            <a:ext cx="4434840" cy="420624"/>
          </a:xfrm>
          <a:prstGeom prst="rect">
            <a:avLst/>
          </a:prstGeom>
          <a:noFill/>
          <a:ln/>
        </p:spPr>
        <p:txBody>
          <a:bodyPr wrap="square" lIns="0" tIns="0" rIns="0" bIns="0" rtlCol="0" anchor="ctr"/>
          <a:lstStyle/>
          <a:p>
            <a:pPr indent="0" marL="0">
              <a:buNone/>
            </a:pPr>
            <a:r>
              <a:rPr lang="en-US" sz="1600" dirty="0">
                <a:solidFill>
                  <a:srgbClr val="1A2433"/>
                </a:solidFill>
                <a:latin typeface="Georgia" pitchFamily="34" charset="0"/>
                <a:ea typeface="Georgia" pitchFamily="34" charset="-122"/>
                <a:cs typeface="Georgia" pitchFamily="34" charset="-120"/>
              </a:rPr>
              <a:t>Every gate is observable</a:t>
            </a:r>
            <a:endParaRPr lang="en-US" sz="1600" dirty="0"/>
          </a:p>
        </p:txBody>
      </p:sp>
      <p:sp>
        <p:nvSpPr>
          <p:cNvPr id="21" name="Text 18"/>
          <p:cNvSpPr/>
          <p:nvPr/>
        </p:nvSpPr>
        <p:spPr>
          <a:xfrm>
            <a:off x="804672" y="4370832"/>
            <a:ext cx="4956048" cy="969264"/>
          </a:xfrm>
          <a:prstGeom prst="rect">
            <a:avLst/>
          </a:prstGeom>
          <a:noFill/>
          <a:ln/>
        </p:spPr>
        <p:txBody>
          <a:bodyPr wrap="square" lIns="0" tIns="0" rIns="0" bIns="0" rtlCol="0" anchor="t"/>
          <a:lstStyle/>
          <a:p>
            <a:pPr indent="0" marL="0">
              <a:lnSpc>
                <a:spcPct val="110000"/>
              </a:lnSpc>
              <a:buNone/>
            </a:pPr>
            <a:r>
              <a:rPr lang="en-US" sz="1100" dirty="0">
                <a:solidFill>
                  <a:srgbClr val="374253"/>
                </a:solidFill>
                <a:latin typeface="Calibri" pitchFamily="34" charset="0"/>
                <a:ea typeface="Calibri" pitchFamily="34" charset="-122"/>
                <a:cs typeface="Calibri" pitchFamily="34" charset="-120"/>
              </a:rPr>
              <a:t>“When we have more data” never arrives. “Ten buckets holding eight good comps” does. Write the number, and where it is read from.</a:t>
            </a:r>
            <a:endParaRPr lang="en-US" sz="1100" dirty="0"/>
          </a:p>
        </p:txBody>
      </p:sp>
      <p:sp>
        <p:nvSpPr>
          <p:cNvPr id="22" name="Shape 19"/>
          <p:cNvSpPr/>
          <p:nvPr/>
        </p:nvSpPr>
        <p:spPr>
          <a:xfrm>
            <a:off x="6181344" y="3602736"/>
            <a:ext cx="5440680" cy="1883664"/>
          </a:xfrm>
          <a:prstGeom prst="roundRect">
            <a:avLst>
              <a:gd name="adj" fmla="val 2913"/>
            </a:avLst>
          </a:prstGeom>
          <a:solidFill>
            <a:srgbClr val="FFFFFF"/>
          </a:solidFill>
          <a:ln w="9525">
            <a:solidFill>
              <a:srgbClr val="D8D4C9"/>
            </a:solidFill>
            <a:prstDash val="solid"/>
          </a:ln>
        </p:spPr>
      </p:sp>
      <p:sp>
        <p:nvSpPr>
          <p:cNvPr id="23" name="Shape 20"/>
          <p:cNvSpPr/>
          <p:nvPr/>
        </p:nvSpPr>
        <p:spPr>
          <a:xfrm>
            <a:off x="6419088" y="3840480"/>
            <a:ext cx="420624" cy="420624"/>
          </a:xfrm>
          <a:prstGeom prst="roundRect">
            <a:avLst>
              <a:gd name="adj" fmla="val 10870"/>
            </a:avLst>
          </a:prstGeom>
          <a:solidFill>
            <a:srgbClr val="B91C1C"/>
          </a:solidFill>
          <a:ln w="6350">
            <a:solidFill>
              <a:srgbClr val="B91C1C"/>
            </a:solidFill>
            <a:prstDash val="solid"/>
          </a:ln>
        </p:spPr>
      </p:sp>
      <p:sp>
        <p:nvSpPr>
          <p:cNvPr id="24" name="Text 21"/>
          <p:cNvSpPr/>
          <p:nvPr/>
        </p:nvSpPr>
        <p:spPr>
          <a:xfrm>
            <a:off x="6419088" y="3840480"/>
            <a:ext cx="420624"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5" name="Text 22"/>
          <p:cNvSpPr/>
          <p:nvPr/>
        </p:nvSpPr>
        <p:spPr>
          <a:xfrm>
            <a:off x="6967728" y="3840480"/>
            <a:ext cx="4434840" cy="420624"/>
          </a:xfrm>
          <a:prstGeom prst="rect">
            <a:avLst/>
          </a:prstGeom>
          <a:noFill/>
          <a:ln/>
        </p:spPr>
        <p:txBody>
          <a:bodyPr wrap="square" lIns="0" tIns="0" rIns="0" bIns="0" rtlCol="0" anchor="ctr"/>
          <a:lstStyle/>
          <a:p>
            <a:pPr indent="0" marL="0">
              <a:buNone/>
            </a:pPr>
            <a:r>
              <a:rPr lang="en-US" sz="1600" dirty="0">
                <a:solidFill>
                  <a:srgbClr val="1A2433"/>
                </a:solidFill>
                <a:latin typeface="Georgia" pitchFamily="34" charset="0"/>
                <a:ea typeface="Georgia" pitchFamily="34" charset="-122"/>
                <a:cs typeface="Georgia" pitchFamily="34" charset="-120"/>
              </a:rPr>
              <a:t>Dates, never adverbs</a:t>
            </a:r>
            <a:endParaRPr lang="en-US" sz="1600" dirty="0"/>
          </a:p>
        </p:txBody>
      </p:sp>
      <p:sp>
        <p:nvSpPr>
          <p:cNvPr id="26" name="Text 23"/>
          <p:cNvSpPr/>
          <p:nvPr/>
        </p:nvSpPr>
        <p:spPr>
          <a:xfrm>
            <a:off x="6419088" y="4370832"/>
            <a:ext cx="4956048" cy="969264"/>
          </a:xfrm>
          <a:prstGeom prst="rect">
            <a:avLst/>
          </a:prstGeom>
          <a:noFill/>
          <a:ln/>
        </p:spPr>
        <p:txBody>
          <a:bodyPr wrap="square" lIns="0" tIns="0" rIns="0" bIns="0" rtlCol="0" anchor="t"/>
          <a:lstStyle/>
          <a:p>
            <a:pPr indent="0" marL="0">
              <a:lnSpc>
                <a:spcPct val="110000"/>
              </a:lnSpc>
              <a:buNone/>
            </a:pPr>
            <a:r>
              <a:rPr lang="en-US" sz="1100" dirty="0">
                <a:solidFill>
                  <a:srgbClr val="374253"/>
                </a:solidFill>
                <a:latin typeface="Calibri" pitchFamily="34" charset="0"/>
                <a:ea typeface="Calibri" pitchFamily="34" charset="-122"/>
                <a:cs typeface="Calibri" pitchFamily="34" charset="-120"/>
              </a:rPr>
              <a:t>“Recently”, “soon” and “currently” age into lies within a month. Put the day a claim was last true beside the claim.</a:t>
            </a:r>
            <a:endParaRPr lang="en-US" sz="1100" dirty="0"/>
          </a:p>
        </p:txBody>
      </p:sp>
      <p:sp>
        <p:nvSpPr>
          <p:cNvPr id="27" name="Text 24"/>
          <p:cNvSpPr/>
          <p:nvPr/>
        </p:nvSpPr>
        <p:spPr>
          <a:xfrm>
            <a:off x="566928" y="5760720"/>
            <a:ext cx="11057839" cy="292608"/>
          </a:xfrm>
          <a:prstGeom prst="rect">
            <a:avLst/>
          </a:prstGeom>
          <a:noFill/>
          <a:ln/>
        </p:spPr>
        <p:txBody>
          <a:bodyPr wrap="square" lIns="0" tIns="0" rIns="0" bIns="0" rtlCol="0" anchor="ctr"/>
          <a:lstStyle/>
          <a:p>
            <a:pPr indent="0" marL="0">
              <a:buNone/>
            </a:pPr>
            <a:r>
              <a:rPr lang="en-US" sz="1100" i="1" dirty="0">
                <a:solidFill>
                  <a:srgbClr val="68707E"/>
                </a:solidFill>
                <a:latin typeface="Calibri" pitchFamily="34" charset="0"/>
                <a:ea typeface="Calibri" pitchFamily="34" charset="-122"/>
                <a:cs typeface="Calibri" pitchFamily="34" charset="-120"/>
              </a:rPr>
              <a:t>Anything grey and italic in the slides that follow is a prompt. Replace it or remove the whole block — never present it.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566928" y="384048"/>
            <a:ext cx="11057839" cy="219456"/>
          </a:xfrm>
          <a:prstGeom prst="rect">
            <a:avLst/>
          </a:prstGeom>
          <a:noFill/>
          <a:ln/>
        </p:spPr>
        <p:txBody>
          <a:bodyPr wrap="square" lIns="0" tIns="0" rIns="0" bIns="0" rtlCol="0" anchor="ctr"/>
          <a:lstStyle/>
          <a:p>
            <a:pPr indent="0" marL="0">
              <a:buNone/>
            </a:pPr>
            <a:r>
              <a:rPr lang="en-US" sz="1000" b="1" spc="150" kern="0" dirty="0">
                <a:solidFill>
                  <a:srgbClr val="B91C1C"/>
                </a:solidFill>
                <a:latin typeface="Calibri" pitchFamily="34" charset="0"/>
                <a:ea typeface="Calibri" pitchFamily="34" charset="-122"/>
                <a:cs typeface="Calibri" pitchFamily="34" charset="-120"/>
              </a:rPr>
              <a:t>WHY THIS PLAN AND NOT ANOTHER</a:t>
            </a:r>
            <a:endParaRPr lang="en-US" sz="1000" dirty="0"/>
          </a:p>
        </p:txBody>
      </p:sp>
      <p:sp>
        <p:nvSpPr>
          <p:cNvPr id="3" name="Text 1"/>
          <p:cNvSpPr/>
          <p:nvPr/>
        </p:nvSpPr>
        <p:spPr>
          <a:xfrm>
            <a:off x="566928" y="621792"/>
            <a:ext cx="11057839" cy="566928"/>
          </a:xfrm>
          <a:prstGeom prst="rect">
            <a:avLst/>
          </a:prstGeom>
          <a:noFill/>
          <a:ln/>
        </p:spPr>
        <p:txBody>
          <a:bodyPr wrap="square" lIns="0" tIns="0" rIns="0" bIns="0" rtlCol="0" anchor="ctr"/>
          <a:lstStyle/>
          <a:p>
            <a:pPr indent="0" marL="0">
              <a:buNone/>
            </a:pPr>
            <a:r>
              <a:rPr lang="en-US" sz="3000" dirty="0">
                <a:solidFill>
                  <a:srgbClr val="1A2433"/>
                </a:solidFill>
                <a:latin typeface="Georgia" pitchFamily="34" charset="0"/>
                <a:ea typeface="Georgia" pitchFamily="34" charset="-122"/>
                <a:cs typeface="Georgia" pitchFamily="34" charset="-120"/>
              </a:rPr>
              <a:t>[ The constraint, as a sentence. ]</a:t>
            </a:r>
            <a:endParaRPr lang="en-US" sz="3000" dirty="0"/>
          </a:p>
        </p:txBody>
      </p:sp>
      <p:pic>
        <p:nvPicPr>
          <p:cNvPr id="4" name="Image 0" descr="preencoded.png">    </p:cNvPr>
          <p:cNvPicPr>
            <a:picLocks noChangeAspect="1"/>
          </p:cNvPicPr>
          <p:nvPr/>
        </p:nvPicPr>
        <p:blipFill>
          <a:blip r:embed="rId1"/>
          <a:stretch>
            <a:fillRect/>
          </a:stretch>
        </p:blipFill>
        <p:spPr>
          <a:xfrm>
            <a:off x="566928" y="6373368"/>
            <a:ext cx="162560" cy="162560"/>
          </a:xfrm>
          <a:prstGeom prst="rect">
            <a:avLst/>
          </a:prstGeom>
        </p:spPr>
      </p:pic>
      <p:sp>
        <p:nvSpPr>
          <p:cNvPr id="5" name="Text 2"/>
          <p:cNvSpPr/>
          <p:nvPr/>
        </p:nvSpPr>
        <p:spPr>
          <a:xfrm>
            <a:off x="793496" y="6345936"/>
            <a:ext cx="2194560" cy="217424"/>
          </a:xfrm>
          <a:prstGeom prst="rect">
            <a:avLst/>
          </a:prstGeom>
          <a:noFill/>
          <a:ln/>
        </p:spPr>
        <p:txBody>
          <a:bodyPr wrap="square" lIns="0" tIns="0" rIns="0" bIns="0" rtlCol="0" anchor="ctr"/>
          <a:lstStyle/>
          <a:p>
            <a:pPr indent="0" marL="0">
              <a:buNone/>
            </a:pPr>
            <a:r>
              <a:rPr lang="en-US" sz="800" b="1" spc="104" kern="0" dirty="0">
                <a:solidFill>
                  <a:srgbClr val="1A2433"/>
                </a:solidFill>
                <a:latin typeface="Calibri" pitchFamily="34" charset="0"/>
                <a:ea typeface="Calibri" pitchFamily="34" charset="-122"/>
                <a:cs typeface="Calibri" pitchFamily="34" charset="-120"/>
              </a:rPr>
              <a:t>COMP</a:t>
            </a:r>
            <a:pPr indent="0" marL="0">
              <a:buNone/>
            </a:pPr>
            <a:r>
              <a:rPr lang="en-US" sz="800" b="1" spc="104" kern="0" dirty="0">
                <a:solidFill>
                  <a:srgbClr val="B91C1C"/>
                </a:solidFill>
                <a:latin typeface="Calibri" pitchFamily="34" charset="0"/>
                <a:ea typeface="Calibri" pitchFamily="34" charset="-122"/>
                <a:cs typeface="Calibri" pitchFamily="34" charset="-120"/>
              </a:rPr>
              <a:t>NINJA</a:t>
            </a:r>
            <a:endParaRPr lang="en-US" sz="800" dirty="0"/>
          </a:p>
        </p:txBody>
      </p:sp>
      <p:sp>
        <p:nvSpPr>
          <p:cNvPr id="6" name="Text 3"/>
          <p:cNvSpPr/>
          <p:nvPr/>
        </p:nvSpPr>
        <p:spPr>
          <a:xfrm>
            <a:off x="10527487" y="6355080"/>
            <a:ext cx="1097280" cy="256032"/>
          </a:xfrm>
          <a:prstGeom prst="rect">
            <a:avLst/>
          </a:prstGeom>
          <a:noFill/>
          <a:ln/>
        </p:spPr>
        <p:txBody>
          <a:bodyPr wrap="square" lIns="0" tIns="0" rIns="0" bIns="0" rtlCol="0" anchor="ctr"/>
          <a:lstStyle/>
          <a:p>
            <a:pPr algn="r" indent="0" marL="0">
              <a:buNone/>
            </a:pPr>
            <a:r>
              <a:rPr lang="en-US" sz="950" dirty="0">
                <a:solidFill>
                  <a:srgbClr val="9AA2AD"/>
                </a:solidFill>
                <a:latin typeface="Calibri" pitchFamily="34" charset="0"/>
                <a:ea typeface="Calibri" pitchFamily="34" charset="-122"/>
                <a:cs typeface="Calibri" pitchFamily="34" charset="-120"/>
              </a:rPr>
              <a:t>3</a:t>
            </a:r>
            <a:endParaRPr lang="en-US" sz="950" dirty="0"/>
          </a:p>
        </p:txBody>
      </p:sp>
      <p:sp>
        <p:nvSpPr>
          <p:cNvPr id="7" name="Shape 4"/>
          <p:cNvSpPr/>
          <p:nvPr/>
        </p:nvSpPr>
        <p:spPr>
          <a:xfrm>
            <a:off x="566928" y="1481328"/>
            <a:ext cx="3246120" cy="2212848"/>
          </a:xfrm>
          <a:prstGeom prst="roundRect">
            <a:avLst>
              <a:gd name="adj" fmla="val 2479"/>
            </a:avLst>
          </a:prstGeom>
          <a:solidFill>
            <a:srgbClr val="1A2433"/>
          </a:solidFill>
          <a:ln w="12700">
            <a:solidFill>
              <a:srgbClr val="1A2433"/>
            </a:solidFill>
            <a:prstDash val="solid"/>
          </a:ln>
        </p:spPr>
      </p:sp>
      <p:sp>
        <p:nvSpPr>
          <p:cNvPr id="8" name="Text 5"/>
          <p:cNvSpPr/>
          <p:nvPr/>
        </p:nvSpPr>
        <p:spPr>
          <a:xfrm>
            <a:off x="822960" y="1700784"/>
            <a:ext cx="2743200" cy="1005840"/>
          </a:xfrm>
          <a:prstGeom prst="rect">
            <a:avLst/>
          </a:prstGeom>
          <a:noFill/>
          <a:ln/>
        </p:spPr>
        <p:txBody>
          <a:bodyPr wrap="square" lIns="0" tIns="0" rIns="0" bIns="0" rtlCol="0" anchor="t"/>
          <a:lstStyle/>
          <a:p>
            <a:pPr indent="0" marL="0">
              <a:buNone/>
            </a:pPr>
            <a:r>
              <a:rPr lang="en-US" sz="4000" dirty="0">
                <a:solidFill>
                  <a:srgbClr val="8B98A8"/>
                </a:solidFill>
                <a:latin typeface="Georgia" pitchFamily="34" charset="0"/>
                <a:ea typeface="Georgia" pitchFamily="34" charset="-122"/>
                <a:cs typeface="Georgia" pitchFamily="34" charset="-120"/>
              </a:rPr>
              <a:t>[ figure ]</a:t>
            </a:r>
            <a:endParaRPr lang="en-US" sz="4000" dirty="0"/>
          </a:p>
        </p:txBody>
      </p:sp>
      <p:sp>
        <p:nvSpPr>
          <p:cNvPr id="9" name="Text 6"/>
          <p:cNvSpPr/>
          <p:nvPr/>
        </p:nvSpPr>
        <p:spPr>
          <a:xfrm>
            <a:off x="822960" y="2761488"/>
            <a:ext cx="2697480" cy="786384"/>
          </a:xfrm>
          <a:prstGeom prst="rect">
            <a:avLst/>
          </a:prstGeom>
          <a:noFill/>
          <a:ln/>
        </p:spPr>
        <p:txBody>
          <a:bodyPr wrap="square" lIns="0" tIns="0" rIns="0" bIns="0" rtlCol="0" anchor="t"/>
          <a:lstStyle/>
          <a:p>
            <a:pPr indent="0" marL="0">
              <a:lnSpc>
                <a:spcPct val="115000"/>
              </a:lnSpc>
              <a:buNone/>
            </a:pPr>
            <a:r>
              <a:rPr lang="en-US" sz="1150" i="1" dirty="0">
                <a:solidFill>
                  <a:srgbClr val="8B98A8"/>
                </a:solidFill>
                <a:latin typeface="Calibri" pitchFamily="34" charset="0"/>
                <a:ea typeface="Calibri" pitchFamily="34" charset="-122"/>
                <a:cs typeface="Calibri" pitchFamily="34" charset="-120"/>
              </a:rPr>
              <a:t>The one number that makes the case. Say when it was measured.</a:t>
            </a:r>
            <a:endParaRPr lang="en-US" sz="1150" dirty="0"/>
          </a:p>
        </p:txBody>
      </p:sp>
      <p:sp>
        <p:nvSpPr>
          <p:cNvPr id="10" name="Shape 7"/>
          <p:cNvSpPr/>
          <p:nvPr/>
        </p:nvSpPr>
        <p:spPr>
          <a:xfrm>
            <a:off x="4087368" y="1481328"/>
            <a:ext cx="2395728" cy="2212848"/>
          </a:xfrm>
          <a:prstGeom prst="roundRect">
            <a:avLst>
              <a:gd name="adj" fmla="val 2479"/>
            </a:avLst>
          </a:prstGeom>
          <a:solidFill>
            <a:srgbClr val="FFFFFF"/>
          </a:solidFill>
          <a:ln w="9525">
            <a:solidFill>
              <a:srgbClr val="C7CBD2"/>
            </a:solidFill>
            <a:prstDash val="dash"/>
          </a:ln>
        </p:spPr>
      </p:sp>
      <p:sp>
        <p:nvSpPr>
          <p:cNvPr id="11" name="Text 8"/>
          <p:cNvSpPr/>
          <p:nvPr/>
        </p:nvSpPr>
        <p:spPr>
          <a:xfrm>
            <a:off x="4288536" y="1682496"/>
            <a:ext cx="2011680" cy="310896"/>
          </a:xfrm>
          <a:prstGeom prst="rect">
            <a:avLst/>
          </a:prstGeom>
          <a:noFill/>
          <a:ln/>
        </p:spPr>
        <p:txBody>
          <a:bodyPr wrap="square" lIns="0" tIns="0" rIns="0" bIns="0" rtlCol="0" anchor="t"/>
          <a:lstStyle/>
          <a:p>
            <a:pPr indent="0" marL="0">
              <a:buNone/>
            </a:pPr>
            <a:r>
              <a:rPr lang="en-US" sz="1500" dirty="0">
                <a:solidFill>
                  <a:srgbClr val="68707E"/>
                </a:solidFill>
                <a:latin typeface="Georgia" pitchFamily="34" charset="0"/>
                <a:ea typeface="Georgia" pitchFamily="34" charset="-122"/>
                <a:cs typeface="Georgia" pitchFamily="34" charset="-120"/>
              </a:rPr>
              <a:t>What is built</a:t>
            </a:r>
            <a:endParaRPr lang="en-US" sz="1500" dirty="0"/>
          </a:p>
        </p:txBody>
      </p:sp>
      <p:sp>
        <p:nvSpPr>
          <p:cNvPr id="12" name="Text 9"/>
          <p:cNvSpPr/>
          <p:nvPr/>
        </p:nvSpPr>
        <p:spPr>
          <a:xfrm>
            <a:off x="4288536" y="2066544"/>
            <a:ext cx="2011680" cy="1481328"/>
          </a:xfrm>
          <a:prstGeom prst="rect">
            <a:avLst/>
          </a:prstGeom>
          <a:noFill/>
          <a:ln/>
        </p:spPr>
        <p:txBody>
          <a:bodyPr wrap="square" lIns="0" tIns="0" rIns="0" bIns="0" rtlCol="0" anchor="t"/>
          <a:lstStyle/>
          <a:p>
            <a:pPr indent="0" marL="0">
              <a:lnSpc>
                <a:spcPct val="112000"/>
              </a:lnSpc>
              <a:buNone/>
            </a:pPr>
            <a:r>
              <a:rPr lang="en-US" sz="1050" i="1" dirty="0">
                <a:solidFill>
                  <a:srgbClr val="9AA2AD"/>
                </a:solidFill>
                <a:latin typeface="Calibri" pitchFamily="34" charset="0"/>
                <a:ea typeface="Calibri" pitchFamily="34" charset="-122"/>
                <a:cs typeface="Calibri" pitchFamily="34" charset="-120"/>
              </a:rPr>
              <a:t>Everything real, listed plainly. Resist selling it here.</a:t>
            </a:r>
            <a:endParaRPr lang="en-US" sz="1050" dirty="0"/>
          </a:p>
        </p:txBody>
      </p:sp>
      <p:sp>
        <p:nvSpPr>
          <p:cNvPr id="13" name="Shape 10"/>
          <p:cNvSpPr/>
          <p:nvPr/>
        </p:nvSpPr>
        <p:spPr>
          <a:xfrm>
            <a:off x="6647688" y="1481328"/>
            <a:ext cx="2395728" cy="2212848"/>
          </a:xfrm>
          <a:prstGeom prst="roundRect">
            <a:avLst>
              <a:gd name="adj" fmla="val 2479"/>
            </a:avLst>
          </a:prstGeom>
          <a:solidFill>
            <a:srgbClr val="FFFFFF"/>
          </a:solidFill>
          <a:ln w="9525">
            <a:solidFill>
              <a:srgbClr val="C7CBD2"/>
            </a:solidFill>
            <a:prstDash val="dash"/>
          </a:ln>
        </p:spPr>
      </p:sp>
      <p:sp>
        <p:nvSpPr>
          <p:cNvPr id="14" name="Text 11"/>
          <p:cNvSpPr/>
          <p:nvPr/>
        </p:nvSpPr>
        <p:spPr>
          <a:xfrm>
            <a:off x="6848856" y="1682496"/>
            <a:ext cx="2011680" cy="310896"/>
          </a:xfrm>
          <a:prstGeom prst="rect">
            <a:avLst/>
          </a:prstGeom>
          <a:noFill/>
          <a:ln/>
        </p:spPr>
        <p:txBody>
          <a:bodyPr wrap="square" lIns="0" tIns="0" rIns="0" bIns="0" rtlCol="0" anchor="t"/>
          <a:lstStyle/>
          <a:p>
            <a:pPr indent="0" marL="0">
              <a:buNone/>
            </a:pPr>
            <a:r>
              <a:rPr lang="en-US" sz="1500" dirty="0">
                <a:solidFill>
                  <a:srgbClr val="68707E"/>
                </a:solidFill>
                <a:latin typeface="Georgia" pitchFamily="34" charset="0"/>
                <a:ea typeface="Georgia" pitchFamily="34" charset="-122"/>
                <a:cs typeface="Georgia" pitchFamily="34" charset="-120"/>
              </a:rPr>
              <a:t>What is proven</a:t>
            </a:r>
            <a:endParaRPr lang="en-US" sz="1500" dirty="0"/>
          </a:p>
        </p:txBody>
      </p:sp>
      <p:sp>
        <p:nvSpPr>
          <p:cNvPr id="15" name="Text 12"/>
          <p:cNvSpPr/>
          <p:nvPr/>
        </p:nvSpPr>
        <p:spPr>
          <a:xfrm>
            <a:off x="6848856" y="2066544"/>
            <a:ext cx="2011680" cy="1481328"/>
          </a:xfrm>
          <a:prstGeom prst="rect">
            <a:avLst/>
          </a:prstGeom>
          <a:noFill/>
          <a:ln/>
        </p:spPr>
        <p:txBody>
          <a:bodyPr wrap="square" lIns="0" tIns="0" rIns="0" bIns="0" rtlCol="0" anchor="t"/>
          <a:lstStyle/>
          <a:p>
            <a:pPr indent="0" marL="0">
              <a:lnSpc>
                <a:spcPct val="112000"/>
              </a:lnSpc>
              <a:buNone/>
            </a:pPr>
            <a:r>
              <a:rPr lang="en-US" sz="1050" i="1" dirty="0">
                <a:solidFill>
                  <a:srgbClr val="9AA2AD"/>
                </a:solidFill>
                <a:latin typeface="Calibri" pitchFamily="34" charset="0"/>
                <a:ea typeface="Calibri" pitchFamily="34" charset="-122"/>
                <a:cs typeface="Calibri" pitchFamily="34" charset="-120"/>
              </a:rPr>
              <a:t>What has evidence behind it, and what kind.</a:t>
            </a:r>
            <a:endParaRPr lang="en-US" sz="1050" dirty="0"/>
          </a:p>
        </p:txBody>
      </p:sp>
      <p:sp>
        <p:nvSpPr>
          <p:cNvPr id="16" name="Shape 13"/>
          <p:cNvSpPr/>
          <p:nvPr/>
        </p:nvSpPr>
        <p:spPr>
          <a:xfrm>
            <a:off x="9208008" y="1481328"/>
            <a:ext cx="2395728" cy="2212848"/>
          </a:xfrm>
          <a:prstGeom prst="roundRect">
            <a:avLst>
              <a:gd name="adj" fmla="val 2479"/>
            </a:avLst>
          </a:prstGeom>
          <a:solidFill>
            <a:srgbClr val="FFFFFF"/>
          </a:solidFill>
          <a:ln w="9525">
            <a:solidFill>
              <a:srgbClr val="C7CBD2"/>
            </a:solidFill>
            <a:prstDash val="dash"/>
          </a:ln>
        </p:spPr>
      </p:sp>
      <p:sp>
        <p:nvSpPr>
          <p:cNvPr id="17" name="Text 14"/>
          <p:cNvSpPr/>
          <p:nvPr/>
        </p:nvSpPr>
        <p:spPr>
          <a:xfrm>
            <a:off x="9409176" y="1682496"/>
            <a:ext cx="2011680" cy="310896"/>
          </a:xfrm>
          <a:prstGeom prst="rect">
            <a:avLst/>
          </a:prstGeom>
          <a:noFill/>
          <a:ln/>
        </p:spPr>
        <p:txBody>
          <a:bodyPr wrap="square" lIns="0" tIns="0" rIns="0" bIns="0" rtlCol="0" anchor="t"/>
          <a:lstStyle/>
          <a:p>
            <a:pPr indent="0" marL="0">
              <a:buNone/>
            </a:pPr>
            <a:r>
              <a:rPr lang="en-US" sz="1500" dirty="0">
                <a:solidFill>
                  <a:srgbClr val="68707E"/>
                </a:solidFill>
                <a:latin typeface="Georgia" pitchFamily="34" charset="0"/>
                <a:ea typeface="Georgia" pitchFamily="34" charset="-122"/>
                <a:cs typeface="Georgia" pitchFamily="34" charset="-120"/>
              </a:rPr>
              <a:t>What is missing</a:t>
            </a:r>
            <a:endParaRPr lang="en-US" sz="1500" dirty="0"/>
          </a:p>
        </p:txBody>
      </p:sp>
      <p:sp>
        <p:nvSpPr>
          <p:cNvPr id="18" name="Text 15"/>
          <p:cNvSpPr/>
          <p:nvPr/>
        </p:nvSpPr>
        <p:spPr>
          <a:xfrm>
            <a:off x="9409176" y="2066544"/>
            <a:ext cx="2011680" cy="1481328"/>
          </a:xfrm>
          <a:prstGeom prst="rect">
            <a:avLst/>
          </a:prstGeom>
          <a:noFill/>
          <a:ln/>
        </p:spPr>
        <p:txBody>
          <a:bodyPr wrap="square" lIns="0" tIns="0" rIns="0" bIns="0" rtlCol="0" anchor="t"/>
          <a:lstStyle/>
          <a:p>
            <a:pPr indent="0" marL="0">
              <a:lnSpc>
                <a:spcPct val="112000"/>
              </a:lnSpc>
              <a:buNone/>
            </a:pPr>
            <a:r>
              <a:rPr lang="en-US" sz="1050" i="1" dirty="0">
                <a:solidFill>
                  <a:srgbClr val="9AA2AD"/>
                </a:solidFill>
                <a:latin typeface="Calibri" pitchFamily="34" charset="0"/>
                <a:ea typeface="Calibri" pitchFamily="34" charset="-122"/>
                <a:cs typeface="Calibri" pitchFamily="34" charset="-120"/>
              </a:rPr>
              <a:t>The gap the whole plan exists to close.</a:t>
            </a:r>
            <a:endParaRPr lang="en-US" sz="1050" dirty="0"/>
          </a:p>
        </p:txBody>
      </p:sp>
      <p:sp>
        <p:nvSpPr>
          <p:cNvPr id="19" name="Shape 16"/>
          <p:cNvSpPr/>
          <p:nvPr/>
        </p:nvSpPr>
        <p:spPr>
          <a:xfrm>
            <a:off x="566928" y="3931920"/>
            <a:ext cx="11057839" cy="1188720"/>
          </a:xfrm>
          <a:prstGeom prst="roundRect">
            <a:avLst>
              <a:gd name="adj" fmla="val 4615"/>
            </a:avLst>
          </a:prstGeom>
          <a:solidFill>
            <a:srgbClr val="FFFFFF"/>
          </a:solidFill>
          <a:ln w="9525">
            <a:solidFill>
              <a:srgbClr val="C7CBD2"/>
            </a:solidFill>
            <a:prstDash val="dash"/>
          </a:ln>
        </p:spPr>
      </p:sp>
      <p:sp>
        <p:nvSpPr>
          <p:cNvPr id="20" name="Text 17"/>
          <p:cNvSpPr/>
          <p:nvPr/>
        </p:nvSpPr>
        <p:spPr>
          <a:xfrm>
            <a:off x="822960" y="4133088"/>
            <a:ext cx="5486400" cy="201168"/>
          </a:xfrm>
          <a:prstGeom prst="rect">
            <a:avLst/>
          </a:prstGeom>
          <a:noFill/>
          <a:ln/>
        </p:spPr>
        <p:txBody>
          <a:bodyPr wrap="square" lIns="0" tIns="0" rIns="0" bIns="0" rtlCol="0" anchor="ctr"/>
          <a:lstStyle/>
          <a:p>
            <a:pPr indent="0" marL="0">
              <a:buNone/>
            </a:pPr>
            <a:r>
              <a:rPr lang="en-US" sz="950" b="1" spc="130" kern="0" dirty="0">
                <a:solidFill>
                  <a:srgbClr val="C7CBD2"/>
                </a:solidFill>
                <a:latin typeface="Calibri" pitchFamily="34" charset="0"/>
                <a:ea typeface="Calibri" pitchFamily="34" charset="-122"/>
                <a:cs typeface="Calibri" pitchFamily="34" charset="-120"/>
              </a:rPr>
              <a:t>THE ORDERING RULE FOR EVERYTHING THAT FOLLOWS</a:t>
            </a:r>
            <a:endParaRPr lang="en-US" sz="950" dirty="0"/>
          </a:p>
        </p:txBody>
      </p:sp>
      <p:sp>
        <p:nvSpPr>
          <p:cNvPr id="21" name="Text 18"/>
          <p:cNvSpPr/>
          <p:nvPr/>
        </p:nvSpPr>
        <p:spPr>
          <a:xfrm>
            <a:off x="822960" y="4370832"/>
            <a:ext cx="10545775" cy="676656"/>
          </a:xfrm>
          <a:prstGeom prst="rect">
            <a:avLst/>
          </a:prstGeom>
          <a:noFill/>
          <a:ln/>
        </p:spPr>
        <p:txBody>
          <a:bodyPr wrap="square" lIns="0" tIns="0" rIns="0" bIns="0" rtlCol="0" anchor="t"/>
          <a:lstStyle/>
          <a:p>
            <a:pPr indent="0" marL="0">
              <a:lnSpc>
                <a:spcPct val="114000"/>
              </a:lnSpc>
              <a:buNone/>
            </a:pPr>
            <a:r>
              <a:rPr lang="en-US" sz="1200" i="1" dirty="0">
                <a:solidFill>
                  <a:srgbClr val="9AA2AD"/>
                </a:solidFill>
                <a:latin typeface="Calibri" pitchFamily="34" charset="0"/>
                <a:ea typeface="Calibri" pitchFamily="34" charset="-122"/>
                <a:cs typeface="Calibri" pitchFamily="34" charset="-120"/>
              </a:rPr>
              <a:t>One sentence that settles any argument about what comes next. It should be possible to hold two pieces of work against it and get a different answer for each.</a:t>
            </a:r>
            <a:endParaRPr lang="en-US" sz="1200" dirty="0"/>
          </a:p>
        </p:txBody>
      </p:sp>
      <p:sp>
        <p:nvSpPr>
          <p:cNvPr id="22" name="Text 19"/>
          <p:cNvSpPr/>
          <p:nvPr/>
        </p:nvSpPr>
        <p:spPr>
          <a:xfrm>
            <a:off x="566928" y="5303520"/>
            <a:ext cx="9686239" cy="457200"/>
          </a:xfrm>
          <a:prstGeom prst="rect">
            <a:avLst/>
          </a:prstGeom>
          <a:noFill/>
          <a:ln/>
        </p:spPr>
        <p:txBody>
          <a:bodyPr wrap="square" lIns="0" tIns="0" rIns="0" bIns="0" rtlCol="0" anchor="t"/>
          <a:lstStyle/>
          <a:p>
            <a:pPr indent="0" marL="0">
              <a:buNone/>
            </a:pPr>
            <a:r>
              <a:rPr lang="en-US" sz="1050" i="1" dirty="0">
                <a:solidFill>
                  <a:srgbClr val="68707E"/>
                </a:solidFill>
                <a:latin typeface="Calibri" pitchFamily="34" charset="0"/>
                <a:ea typeface="Calibri" pitchFamily="34" charset="-122"/>
                <a:cs typeface="Calibri" pitchFamily="34" charset="-120"/>
              </a:rPr>
              <a:t>If the constraint cannot be written as a number, it is a mood. Keep looking.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566928" y="384048"/>
            <a:ext cx="11057839" cy="219456"/>
          </a:xfrm>
          <a:prstGeom prst="rect">
            <a:avLst/>
          </a:prstGeom>
          <a:noFill/>
          <a:ln/>
        </p:spPr>
        <p:txBody>
          <a:bodyPr wrap="square" lIns="0" tIns="0" rIns="0" bIns="0" rtlCol="0" anchor="ctr"/>
          <a:lstStyle/>
          <a:p>
            <a:pPr indent="0" marL="0">
              <a:buNone/>
            </a:pPr>
            <a:r>
              <a:rPr lang="en-US" sz="1000" b="1" spc="150" kern="0" dirty="0">
                <a:solidFill>
                  <a:srgbClr val="B91C1C"/>
                </a:solidFill>
                <a:latin typeface="Calibri" pitchFamily="34" charset="0"/>
                <a:ea typeface="Calibri" pitchFamily="34" charset="-122"/>
                <a:cs typeface="Calibri" pitchFamily="34" charset="-120"/>
              </a:rPr>
              <a:t>THE TWELVE WEEKS AT A GLANCE</a:t>
            </a:r>
            <a:endParaRPr lang="en-US" sz="1000" dirty="0"/>
          </a:p>
        </p:txBody>
      </p:sp>
      <p:sp>
        <p:nvSpPr>
          <p:cNvPr id="3" name="Text 1"/>
          <p:cNvSpPr/>
          <p:nvPr/>
        </p:nvSpPr>
        <p:spPr>
          <a:xfrm>
            <a:off x="566928" y="621792"/>
            <a:ext cx="11057839" cy="566928"/>
          </a:xfrm>
          <a:prstGeom prst="rect">
            <a:avLst/>
          </a:prstGeom>
          <a:noFill/>
          <a:ln/>
        </p:spPr>
        <p:txBody>
          <a:bodyPr wrap="square" lIns="0" tIns="0" rIns="0" bIns="0" rtlCol="0" anchor="ctr"/>
          <a:lstStyle/>
          <a:p>
            <a:pPr indent="0" marL="0">
              <a:buNone/>
            </a:pPr>
            <a:r>
              <a:rPr lang="en-US" sz="3000" dirty="0">
                <a:solidFill>
                  <a:srgbClr val="1A2433"/>
                </a:solidFill>
                <a:latin typeface="Georgia" pitchFamily="34" charset="0"/>
                <a:ea typeface="Georgia" pitchFamily="34" charset="-122"/>
                <a:cs typeface="Georgia" pitchFamily="34" charset="-120"/>
              </a:rPr>
              <a:t>[ Six milestones — one line each. ]</a:t>
            </a:r>
            <a:endParaRPr lang="en-US" sz="3000" dirty="0"/>
          </a:p>
        </p:txBody>
      </p:sp>
      <p:pic>
        <p:nvPicPr>
          <p:cNvPr id="4" name="Image 0" descr="preencoded.png">    </p:cNvPr>
          <p:cNvPicPr>
            <a:picLocks noChangeAspect="1"/>
          </p:cNvPicPr>
          <p:nvPr/>
        </p:nvPicPr>
        <p:blipFill>
          <a:blip r:embed="rId1"/>
          <a:stretch>
            <a:fillRect/>
          </a:stretch>
        </p:blipFill>
        <p:spPr>
          <a:xfrm>
            <a:off x="566928" y="6373368"/>
            <a:ext cx="162560" cy="162560"/>
          </a:xfrm>
          <a:prstGeom prst="rect">
            <a:avLst/>
          </a:prstGeom>
        </p:spPr>
      </p:pic>
      <p:sp>
        <p:nvSpPr>
          <p:cNvPr id="5" name="Text 2"/>
          <p:cNvSpPr/>
          <p:nvPr/>
        </p:nvSpPr>
        <p:spPr>
          <a:xfrm>
            <a:off x="793496" y="6345936"/>
            <a:ext cx="2194560" cy="217424"/>
          </a:xfrm>
          <a:prstGeom prst="rect">
            <a:avLst/>
          </a:prstGeom>
          <a:noFill/>
          <a:ln/>
        </p:spPr>
        <p:txBody>
          <a:bodyPr wrap="square" lIns="0" tIns="0" rIns="0" bIns="0" rtlCol="0" anchor="ctr"/>
          <a:lstStyle/>
          <a:p>
            <a:pPr indent="0" marL="0">
              <a:buNone/>
            </a:pPr>
            <a:r>
              <a:rPr lang="en-US" sz="800" b="1" spc="104" kern="0" dirty="0">
                <a:solidFill>
                  <a:srgbClr val="1A2433"/>
                </a:solidFill>
                <a:latin typeface="Calibri" pitchFamily="34" charset="0"/>
                <a:ea typeface="Calibri" pitchFamily="34" charset="-122"/>
                <a:cs typeface="Calibri" pitchFamily="34" charset="-120"/>
              </a:rPr>
              <a:t>COMP</a:t>
            </a:r>
            <a:pPr indent="0" marL="0">
              <a:buNone/>
            </a:pPr>
            <a:r>
              <a:rPr lang="en-US" sz="800" b="1" spc="104" kern="0" dirty="0">
                <a:solidFill>
                  <a:srgbClr val="B91C1C"/>
                </a:solidFill>
                <a:latin typeface="Calibri" pitchFamily="34" charset="0"/>
                <a:ea typeface="Calibri" pitchFamily="34" charset="-122"/>
                <a:cs typeface="Calibri" pitchFamily="34" charset="-120"/>
              </a:rPr>
              <a:t>NINJA</a:t>
            </a:r>
            <a:endParaRPr lang="en-US" sz="800" dirty="0"/>
          </a:p>
        </p:txBody>
      </p:sp>
      <p:sp>
        <p:nvSpPr>
          <p:cNvPr id="6" name="Text 3"/>
          <p:cNvSpPr/>
          <p:nvPr/>
        </p:nvSpPr>
        <p:spPr>
          <a:xfrm>
            <a:off x="10527487" y="6355080"/>
            <a:ext cx="1097280" cy="256032"/>
          </a:xfrm>
          <a:prstGeom prst="rect">
            <a:avLst/>
          </a:prstGeom>
          <a:noFill/>
          <a:ln/>
        </p:spPr>
        <p:txBody>
          <a:bodyPr wrap="square" lIns="0" tIns="0" rIns="0" bIns="0" rtlCol="0" anchor="ctr"/>
          <a:lstStyle/>
          <a:p>
            <a:pPr algn="r" indent="0" marL="0">
              <a:buNone/>
            </a:pPr>
            <a:r>
              <a:rPr lang="en-US" sz="950" dirty="0">
                <a:solidFill>
                  <a:srgbClr val="9AA2AD"/>
                </a:solidFill>
                <a:latin typeface="Calibri" pitchFamily="34" charset="0"/>
                <a:ea typeface="Calibri" pitchFamily="34" charset="-122"/>
                <a:cs typeface="Calibri" pitchFamily="34" charset="-120"/>
              </a:rPr>
              <a:t>4</a:t>
            </a:r>
            <a:endParaRPr lang="en-US" sz="950" dirty="0"/>
          </a:p>
        </p:txBody>
      </p:sp>
      <p:sp>
        <p:nvSpPr>
          <p:cNvPr id="7" name="Shape 4"/>
          <p:cNvSpPr/>
          <p:nvPr/>
        </p:nvSpPr>
        <p:spPr>
          <a:xfrm>
            <a:off x="566928" y="1481328"/>
            <a:ext cx="3538728" cy="2212848"/>
          </a:xfrm>
          <a:prstGeom prst="roundRect">
            <a:avLst>
              <a:gd name="adj" fmla="val 2479"/>
            </a:avLst>
          </a:prstGeom>
          <a:solidFill>
            <a:srgbClr val="FFFFFF"/>
          </a:solidFill>
          <a:ln w="9525">
            <a:solidFill>
              <a:srgbClr val="C7CBD2"/>
            </a:solidFill>
            <a:prstDash val="dash"/>
          </a:ln>
        </p:spPr>
      </p:sp>
      <p:sp>
        <p:nvSpPr>
          <p:cNvPr id="8" name="Shape 5"/>
          <p:cNvSpPr/>
          <p:nvPr/>
        </p:nvSpPr>
        <p:spPr>
          <a:xfrm>
            <a:off x="804672" y="1719072"/>
            <a:ext cx="420624" cy="420624"/>
          </a:xfrm>
          <a:prstGeom prst="roundRect">
            <a:avLst>
              <a:gd name="adj" fmla="val 10870"/>
            </a:avLst>
          </a:prstGeom>
          <a:solidFill>
            <a:srgbClr val="F5F4EF"/>
          </a:solidFill>
          <a:ln w="6350">
            <a:solidFill>
              <a:srgbClr val="F5F4EF"/>
            </a:solidFill>
            <a:prstDash val="solid"/>
          </a:ln>
        </p:spPr>
      </p:sp>
      <p:sp>
        <p:nvSpPr>
          <p:cNvPr id="9" name="Text 6"/>
          <p:cNvSpPr/>
          <p:nvPr/>
        </p:nvSpPr>
        <p:spPr>
          <a:xfrm>
            <a:off x="804672" y="1719072"/>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M1</a:t>
            </a:r>
            <a:endParaRPr lang="en-US" sz="1150" dirty="0"/>
          </a:p>
        </p:txBody>
      </p:sp>
      <p:sp>
        <p:nvSpPr>
          <p:cNvPr id="10" name="Text 7"/>
          <p:cNvSpPr/>
          <p:nvPr/>
        </p:nvSpPr>
        <p:spPr>
          <a:xfrm>
            <a:off x="1316736" y="1755648"/>
            <a:ext cx="2578608" cy="347472"/>
          </a:xfrm>
          <a:prstGeom prst="rect">
            <a:avLst/>
          </a:prstGeom>
          <a:noFill/>
          <a:ln/>
        </p:spPr>
        <p:txBody>
          <a:bodyPr wrap="square" lIns="0" tIns="0" rIns="0" bIns="0" rtlCol="0" anchor="ctr"/>
          <a:lstStyle/>
          <a:p>
            <a:pPr indent="0" marL="0">
              <a:buNone/>
            </a:pPr>
            <a:r>
              <a:rPr lang="en-US" sz="950" b="1" spc="120" kern="0" dirty="0">
                <a:solidFill>
                  <a:srgbClr val="C7CBD2"/>
                </a:solidFill>
                <a:latin typeface="Calibri" pitchFamily="34" charset="0"/>
                <a:ea typeface="Calibri" pitchFamily="34" charset="-122"/>
                <a:cs typeface="Calibri" pitchFamily="34" charset="-120"/>
              </a:rPr>
              <a:t>Weeks 1–2  ·  [ dates ]</a:t>
            </a:r>
            <a:endParaRPr lang="en-US" sz="950" dirty="0"/>
          </a:p>
        </p:txBody>
      </p:sp>
      <p:sp>
        <p:nvSpPr>
          <p:cNvPr id="11" name="Text 8"/>
          <p:cNvSpPr/>
          <p:nvPr/>
        </p:nvSpPr>
        <p:spPr>
          <a:xfrm>
            <a:off x="804672" y="2249424"/>
            <a:ext cx="3063240" cy="475488"/>
          </a:xfrm>
          <a:prstGeom prst="rect">
            <a:avLst/>
          </a:prstGeom>
          <a:noFill/>
          <a:ln/>
        </p:spPr>
        <p:txBody>
          <a:bodyPr wrap="square" lIns="0" tIns="0" rIns="0" bIns="0" rtlCol="0" anchor="t"/>
          <a:lstStyle/>
          <a:p>
            <a:pPr indent="0" marL="0">
              <a:lnSpc>
                <a:spcPct val="100000"/>
              </a:lnSpc>
              <a:buNone/>
            </a:pPr>
            <a:r>
              <a:rPr lang="en-US" sz="1700" i="1" dirty="0">
                <a:solidFill>
                  <a:srgbClr val="9AA2AD"/>
                </a:solidFill>
                <a:latin typeface="Georgia" pitchFamily="34" charset="0"/>
                <a:ea typeface="Georgia" pitchFamily="34" charset="-122"/>
                <a:cs typeface="Georgia" pitchFamily="34" charset="-120"/>
              </a:rPr>
              <a:t>Fill this in — the outcome</a:t>
            </a:r>
            <a:endParaRPr lang="en-US" sz="1700" dirty="0"/>
          </a:p>
        </p:txBody>
      </p:sp>
      <p:sp>
        <p:nvSpPr>
          <p:cNvPr id="12" name="Text 9"/>
          <p:cNvSpPr/>
          <p:nvPr/>
        </p:nvSpPr>
        <p:spPr>
          <a:xfrm>
            <a:off x="804672" y="2779776"/>
            <a:ext cx="1828800" cy="201168"/>
          </a:xfrm>
          <a:prstGeom prst="rect">
            <a:avLst/>
          </a:prstGeom>
          <a:noFill/>
          <a:ln/>
        </p:spPr>
        <p:txBody>
          <a:bodyPr wrap="square" lIns="0" tIns="0" rIns="0" bIns="0" rtlCol="0" anchor="ctr"/>
          <a:lstStyle/>
          <a:p>
            <a:pPr indent="0" marL="0">
              <a:buNone/>
            </a:pPr>
            <a:r>
              <a:rPr lang="en-US" sz="950" b="1" spc="130" kern="0" dirty="0">
                <a:solidFill>
                  <a:srgbClr val="C7CBD2"/>
                </a:solidFill>
                <a:latin typeface="Calibri" pitchFamily="34" charset="0"/>
                <a:ea typeface="Calibri" pitchFamily="34" charset="-122"/>
                <a:cs typeface="Calibri" pitchFamily="34" charset="-120"/>
              </a:rPr>
              <a:t>DONE WHEN</a:t>
            </a:r>
            <a:endParaRPr lang="en-US" sz="950" dirty="0"/>
          </a:p>
        </p:txBody>
      </p:sp>
      <p:sp>
        <p:nvSpPr>
          <p:cNvPr id="13" name="Text 10"/>
          <p:cNvSpPr/>
          <p:nvPr/>
        </p:nvSpPr>
        <p:spPr>
          <a:xfrm>
            <a:off x="804672" y="2980944"/>
            <a:ext cx="3063240" cy="512064"/>
          </a:xfrm>
          <a:prstGeom prst="rect">
            <a:avLst/>
          </a:prstGeom>
          <a:noFill/>
          <a:ln/>
        </p:spPr>
        <p:txBody>
          <a:bodyPr wrap="square" lIns="0" tIns="0" rIns="0" bIns="0" rtlCol="0" anchor="t"/>
          <a:lstStyle/>
          <a:p>
            <a:pPr indent="0" marL="0">
              <a:lnSpc>
                <a:spcPct val="106000"/>
              </a:lnSpc>
              <a:buNone/>
            </a:pPr>
            <a:r>
              <a:rPr lang="en-US" sz="1050" i="1" dirty="0">
                <a:solidFill>
                  <a:srgbClr val="9AA2AD"/>
                </a:solidFill>
                <a:latin typeface="Calibri" pitchFamily="34" charset="0"/>
                <a:ea typeface="Calibri" pitchFamily="34" charset="-122"/>
                <a:cs typeface="Calibri" pitchFamily="34" charset="-120"/>
              </a:rPr>
              <a:t>The fact that proves it, and where that fact is read from.</a:t>
            </a:r>
            <a:endParaRPr lang="en-US" sz="1050" dirty="0"/>
          </a:p>
        </p:txBody>
      </p:sp>
      <p:sp>
        <p:nvSpPr>
          <p:cNvPr id="14" name="Shape 11"/>
          <p:cNvSpPr/>
          <p:nvPr/>
        </p:nvSpPr>
        <p:spPr>
          <a:xfrm>
            <a:off x="4306824" y="1481328"/>
            <a:ext cx="3538728" cy="2212848"/>
          </a:xfrm>
          <a:prstGeom prst="roundRect">
            <a:avLst>
              <a:gd name="adj" fmla="val 2479"/>
            </a:avLst>
          </a:prstGeom>
          <a:solidFill>
            <a:srgbClr val="FFFFFF"/>
          </a:solidFill>
          <a:ln w="9525">
            <a:solidFill>
              <a:srgbClr val="C7CBD2"/>
            </a:solidFill>
            <a:prstDash val="dash"/>
          </a:ln>
        </p:spPr>
      </p:sp>
      <p:sp>
        <p:nvSpPr>
          <p:cNvPr id="15" name="Shape 12"/>
          <p:cNvSpPr/>
          <p:nvPr/>
        </p:nvSpPr>
        <p:spPr>
          <a:xfrm>
            <a:off x="4544568" y="1719072"/>
            <a:ext cx="420624" cy="420624"/>
          </a:xfrm>
          <a:prstGeom prst="roundRect">
            <a:avLst>
              <a:gd name="adj" fmla="val 10870"/>
            </a:avLst>
          </a:prstGeom>
          <a:solidFill>
            <a:srgbClr val="F5F4EF"/>
          </a:solidFill>
          <a:ln w="6350">
            <a:solidFill>
              <a:srgbClr val="F5F4EF"/>
            </a:solidFill>
            <a:prstDash val="solid"/>
          </a:ln>
        </p:spPr>
      </p:sp>
      <p:sp>
        <p:nvSpPr>
          <p:cNvPr id="16" name="Text 13"/>
          <p:cNvSpPr/>
          <p:nvPr/>
        </p:nvSpPr>
        <p:spPr>
          <a:xfrm>
            <a:off x="4544568" y="1719072"/>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M2</a:t>
            </a:r>
            <a:endParaRPr lang="en-US" sz="1150" dirty="0"/>
          </a:p>
        </p:txBody>
      </p:sp>
      <p:sp>
        <p:nvSpPr>
          <p:cNvPr id="17" name="Text 14"/>
          <p:cNvSpPr/>
          <p:nvPr/>
        </p:nvSpPr>
        <p:spPr>
          <a:xfrm>
            <a:off x="5056632" y="1755648"/>
            <a:ext cx="2578608" cy="347472"/>
          </a:xfrm>
          <a:prstGeom prst="rect">
            <a:avLst/>
          </a:prstGeom>
          <a:noFill/>
          <a:ln/>
        </p:spPr>
        <p:txBody>
          <a:bodyPr wrap="square" lIns="0" tIns="0" rIns="0" bIns="0" rtlCol="0" anchor="ctr"/>
          <a:lstStyle/>
          <a:p>
            <a:pPr indent="0" marL="0">
              <a:buNone/>
            </a:pPr>
            <a:r>
              <a:rPr lang="en-US" sz="950" b="1" spc="120" kern="0" dirty="0">
                <a:solidFill>
                  <a:srgbClr val="C7CBD2"/>
                </a:solidFill>
                <a:latin typeface="Calibri" pitchFamily="34" charset="0"/>
                <a:ea typeface="Calibri" pitchFamily="34" charset="-122"/>
                <a:cs typeface="Calibri" pitchFamily="34" charset="-120"/>
              </a:rPr>
              <a:t>Weeks 3–4  ·  [ dates ]</a:t>
            </a:r>
            <a:endParaRPr lang="en-US" sz="950" dirty="0"/>
          </a:p>
        </p:txBody>
      </p:sp>
      <p:sp>
        <p:nvSpPr>
          <p:cNvPr id="18" name="Text 15"/>
          <p:cNvSpPr/>
          <p:nvPr/>
        </p:nvSpPr>
        <p:spPr>
          <a:xfrm>
            <a:off x="4544568" y="2249424"/>
            <a:ext cx="3063240" cy="475488"/>
          </a:xfrm>
          <a:prstGeom prst="rect">
            <a:avLst/>
          </a:prstGeom>
          <a:noFill/>
          <a:ln/>
        </p:spPr>
        <p:txBody>
          <a:bodyPr wrap="square" lIns="0" tIns="0" rIns="0" bIns="0" rtlCol="0" anchor="t"/>
          <a:lstStyle/>
          <a:p>
            <a:pPr indent="0" marL="0">
              <a:lnSpc>
                <a:spcPct val="100000"/>
              </a:lnSpc>
              <a:buNone/>
            </a:pPr>
            <a:r>
              <a:rPr lang="en-US" sz="1700" i="1" dirty="0">
                <a:solidFill>
                  <a:srgbClr val="9AA2AD"/>
                </a:solidFill>
                <a:latin typeface="Georgia" pitchFamily="34" charset="0"/>
                <a:ea typeface="Georgia" pitchFamily="34" charset="-122"/>
                <a:cs typeface="Georgia" pitchFamily="34" charset="-120"/>
              </a:rPr>
              <a:t>Fill this in — the outcome</a:t>
            </a:r>
            <a:endParaRPr lang="en-US" sz="1700" dirty="0"/>
          </a:p>
        </p:txBody>
      </p:sp>
      <p:sp>
        <p:nvSpPr>
          <p:cNvPr id="19" name="Text 16"/>
          <p:cNvSpPr/>
          <p:nvPr/>
        </p:nvSpPr>
        <p:spPr>
          <a:xfrm>
            <a:off x="4544568" y="2779776"/>
            <a:ext cx="1828800" cy="201168"/>
          </a:xfrm>
          <a:prstGeom prst="rect">
            <a:avLst/>
          </a:prstGeom>
          <a:noFill/>
          <a:ln/>
        </p:spPr>
        <p:txBody>
          <a:bodyPr wrap="square" lIns="0" tIns="0" rIns="0" bIns="0" rtlCol="0" anchor="ctr"/>
          <a:lstStyle/>
          <a:p>
            <a:pPr indent="0" marL="0">
              <a:buNone/>
            </a:pPr>
            <a:r>
              <a:rPr lang="en-US" sz="950" b="1" spc="130" kern="0" dirty="0">
                <a:solidFill>
                  <a:srgbClr val="C7CBD2"/>
                </a:solidFill>
                <a:latin typeface="Calibri" pitchFamily="34" charset="0"/>
                <a:ea typeface="Calibri" pitchFamily="34" charset="-122"/>
                <a:cs typeface="Calibri" pitchFamily="34" charset="-120"/>
              </a:rPr>
              <a:t>DONE WHEN</a:t>
            </a:r>
            <a:endParaRPr lang="en-US" sz="950" dirty="0"/>
          </a:p>
        </p:txBody>
      </p:sp>
      <p:sp>
        <p:nvSpPr>
          <p:cNvPr id="20" name="Text 17"/>
          <p:cNvSpPr/>
          <p:nvPr/>
        </p:nvSpPr>
        <p:spPr>
          <a:xfrm>
            <a:off x="4544568" y="2980944"/>
            <a:ext cx="3063240" cy="512064"/>
          </a:xfrm>
          <a:prstGeom prst="rect">
            <a:avLst/>
          </a:prstGeom>
          <a:noFill/>
          <a:ln/>
        </p:spPr>
        <p:txBody>
          <a:bodyPr wrap="square" lIns="0" tIns="0" rIns="0" bIns="0" rtlCol="0" anchor="t"/>
          <a:lstStyle/>
          <a:p>
            <a:pPr indent="0" marL="0">
              <a:lnSpc>
                <a:spcPct val="106000"/>
              </a:lnSpc>
              <a:buNone/>
            </a:pPr>
            <a:r>
              <a:rPr lang="en-US" sz="1050" i="1" dirty="0">
                <a:solidFill>
                  <a:srgbClr val="9AA2AD"/>
                </a:solidFill>
                <a:latin typeface="Calibri" pitchFamily="34" charset="0"/>
                <a:ea typeface="Calibri" pitchFamily="34" charset="-122"/>
                <a:cs typeface="Calibri" pitchFamily="34" charset="-120"/>
              </a:rPr>
              <a:t>The fact that proves it, and where that fact is read from.</a:t>
            </a:r>
            <a:endParaRPr lang="en-US" sz="1050" dirty="0"/>
          </a:p>
        </p:txBody>
      </p:sp>
      <p:sp>
        <p:nvSpPr>
          <p:cNvPr id="21" name="Shape 18"/>
          <p:cNvSpPr/>
          <p:nvPr/>
        </p:nvSpPr>
        <p:spPr>
          <a:xfrm>
            <a:off x="8046720" y="1481328"/>
            <a:ext cx="3538728" cy="2212848"/>
          </a:xfrm>
          <a:prstGeom prst="roundRect">
            <a:avLst>
              <a:gd name="adj" fmla="val 2479"/>
            </a:avLst>
          </a:prstGeom>
          <a:solidFill>
            <a:srgbClr val="FFFFFF"/>
          </a:solidFill>
          <a:ln w="9525">
            <a:solidFill>
              <a:srgbClr val="C7CBD2"/>
            </a:solidFill>
            <a:prstDash val="dash"/>
          </a:ln>
        </p:spPr>
      </p:sp>
      <p:sp>
        <p:nvSpPr>
          <p:cNvPr id="22" name="Shape 19"/>
          <p:cNvSpPr/>
          <p:nvPr/>
        </p:nvSpPr>
        <p:spPr>
          <a:xfrm>
            <a:off x="8284464" y="1719072"/>
            <a:ext cx="420624" cy="420624"/>
          </a:xfrm>
          <a:prstGeom prst="roundRect">
            <a:avLst>
              <a:gd name="adj" fmla="val 10870"/>
            </a:avLst>
          </a:prstGeom>
          <a:solidFill>
            <a:srgbClr val="F5F4EF"/>
          </a:solidFill>
          <a:ln w="6350">
            <a:solidFill>
              <a:srgbClr val="F5F4EF"/>
            </a:solidFill>
            <a:prstDash val="solid"/>
          </a:ln>
        </p:spPr>
      </p:sp>
      <p:sp>
        <p:nvSpPr>
          <p:cNvPr id="23" name="Text 20"/>
          <p:cNvSpPr/>
          <p:nvPr/>
        </p:nvSpPr>
        <p:spPr>
          <a:xfrm>
            <a:off x="8284464" y="1719072"/>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M3</a:t>
            </a:r>
            <a:endParaRPr lang="en-US" sz="1150" dirty="0"/>
          </a:p>
        </p:txBody>
      </p:sp>
      <p:sp>
        <p:nvSpPr>
          <p:cNvPr id="24" name="Text 21"/>
          <p:cNvSpPr/>
          <p:nvPr/>
        </p:nvSpPr>
        <p:spPr>
          <a:xfrm>
            <a:off x="8796528" y="1755648"/>
            <a:ext cx="2578608" cy="347472"/>
          </a:xfrm>
          <a:prstGeom prst="rect">
            <a:avLst/>
          </a:prstGeom>
          <a:noFill/>
          <a:ln/>
        </p:spPr>
        <p:txBody>
          <a:bodyPr wrap="square" lIns="0" tIns="0" rIns="0" bIns="0" rtlCol="0" anchor="ctr"/>
          <a:lstStyle/>
          <a:p>
            <a:pPr indent="0" marL="0">
              <a:buNone/>
            </a:pPr>
            <a:r>
              <a:rPr lang="en-US" sz="950" b="1" spc="120" kern="0" dirty="0">
                <a:solidFill>
                  <a:srgbClr val="C7CBD2"/>
                </a:solidFill>
                <a:latin typeface="Calibri" pitchFamily="34" charset="0"/>
                <a:ea typeface="Calibri" pitchFamily="34" charset="-122"/>
                <a:cs typeface="Calibri" pitchFamily="34" charset="-120"/>
              </a:rPr>
              <a:t>Weeks 5–6  ·  [ dates ]</a:t>
            </a:r>
            <a:endParaRPr lang="en-US" sz="950" dirty="0"/>
          </a:p>
        </p:txBody>
      </p:sp>
      <p:sp>
        <p:nvSpPr>
          <p:cNvPr id="25" name="Text 22"/>
          <p:cNvSpPr/>
          <p:nvPr/>
        </p:nvSpPr>
        <p:spPr>
          <a:xfrm>
            <a:off x="8284464" y="2249424"/>
            <a:ext cx="3063240" cy="475488"/>
          </a:xfrm>
          <a:prstGeom prst="rect">
            <a:avLst/>
          </a:prstGeom>
          <a:noFill/>
          <a:ln/>
        </p:spPr>
        <p:txBody>
          <a:bodyPr wrap="square" lIns="0" tIns="0" rIns="0" bIns="0" rtlCol="0" anchor="t"/>
          <a:lstStyle/>
          <a:p>
            <a:pPr indent="0" marL="0">
              <a:lnSpc>
                <a:spcPct val="100000"/>
              </a:lnSpc>
              <a:buNone/>
            </a:pPr>
            <a:r>
              <a:rPr lang="en-US" sz="1700" i="1" dirty="0">
                <a:solidFill>
                  <a:srgbClr val="9AA2AD"/>
                </a:solidFill>
                <a:latin typeface="Georgia" pitchFamily="34" charset="0"/>
                <a:ea typeface="Georgia" pitchFamily="34" charset="-122"/>
                <a:cs typeface="Georgia" pitchFamily="34" charset="-120"/>
              </a:rPr>
              <a:t>Fill this in — the outcome</a:t>
            </a:r>
            <a:endParaRPr lang="en-US" sz="1700" dirty="0"/>
          </a:p>
        </p:txBody>
      </p:sp>
      <p:sp>
        <p:nvSpPr>
          <p:cNvPr id="26" name="Text 23"/>
          <p:cNvSpPr/>
          <p:nvPr/>
        </p:nvSpPr>
        <p:spPr>
          <a:xfrm>
            <a:off x="8284464" y="2779776"/>
            <a:ext cx="1828800" cy="201168"/>
          </a:xfrm>
          <a:prstGeom prst="rect">
            <a:avLst/>
          </a:prstGeom>
          <a:noFill/>
          <a:ln/>
        </p:spPr>
        <p:txBody>
          <a:bodyPr wrap="square" lIns="0" tIns="0" rIns="0" bIns="0" rtlCol="0" anchor="ctr"/>
          <a:lstStyle/>
          <a:p>
            <a:pPr indent="0" marL="0">
              <a:buNone/>
            </a:pPr>
            <a:r>
              <a:rPr lang="en-US" sz="950" b="1" spc="130" kern="0" dirty="0">
                <a:solidFill>
                  <a:srgbClr val="C7CBD2"/>
                </a:solidFill>
                <a:latin typeface="Calibri" pitchFamily="34" charset="0"/>
                <a:ea typeface="Calibri" pitchFamily="34" charset="-122"/>
                <a:cs typeface="Calibri" pitchFamily="34" charset="-120"/>
              </a:rPr>
              <a:t>DONE WHEN</a:t>
            </a:r>
            <a:endParaRPr lang="en-US" sz="950" dirty="0"/>
          </a:p>
        </p:txBody>
      </p:sp>
      <p:sp>
        <p:nvSpPr>
          <p:cNvPr id="27" name="Text 24"/>
          <p:cNvSpPr/>
          <p:nvPr/>
        </p:nvSpPr>
        <p:spPr>
          <a:xfrm>
            <a:off x="8284464" y="2980944"/>
            <a:ext cx="3063240" cy="512064"/>
          </a:xfrm>
          <a:prstGeom prst="rect">
            <a:avLst/>
          </a:prstGeom>
          <a:noFill/>
          <a:ln/>
        </p:spPr>
        <p:txBody>
          <a:bodyPr wrap="square" lIns="0" tIns="0" rIns="0" bIns="0" rtlCol="0" anchor="t"/>
          <a:lstStyle/>
          <a:p>
            <a:pPr indent="0" marL="0">
              <a:lnSpc>
                <a:spcPct val="106000"/>
              </a:lnSpc>
              <a:buNone/>
            </a:pPr>
            <a:r>
              <a:rPr lang="en-US" sz="1050" i="1" dirty="0">
                <a:solidFill>
                  <a:srgbClr val="9AA2AD"/>
                </a:solidFill>
                <a:latin typeface="Calibri" pitchFamily="34" charset="0"/>
                <a:ea typeface="Calibri" pitchFamily="34" charset="-122"/>
                <a:cs typeface="Calibri" pitchFamily="34" charset="-120"/>
              </a:rPr>
              <a:t>The fact that proves it, and where that fact is read from.</a:t>
            </a:r>
            <a:endParaRPr lang="en-US" sz="1050" dirty="0"/>
          </a:p>
        </p:txBody>
      </p:sp>
      <p:sp>
        <p:nvSpPr>
          <p:cNvPr id="28" name="Shape 25"/>
          <p:cNvSpPr/>
          <p:nvPr/>
        </p:nvSpPr>
        <p:spPr>
          <a:xfrm>
            <a:off x="566928" y="3877056"/>
            <a:ext cx="3538728" cy="2212848"/>
          </a:xfrm>
          <a:prstGeom prst="roundRect">
            <a:avLst>
              <a:gd name="adj" fmla="val 2479"/>
            </a:avLst>
          </a:prstGeom>
          <a:solidFill>
            <a:srgbClr val="FFFFFF"/>
          </a:solidFill>
          <a:ln w="9525">
            <a:solidFill>
              <a:srgbClr val="C7CBD2"/>
            </a:solidFill>
            <a:prstDash val="dash"/>
          </a:ln>
        </p:spPr>
      </p:sp>
      <p:sp>
        <p:nvSpPr>
          <p:cNvPr id="29" name="Shape 26"/>
          <p:cNvSpPr/>
          <p:nvPr/>
        </p:nvSpPr>
        <p:spPr>
          <a:xfrm>
            <a:off x="804672" y="4114800"/>
            <a:ext cx="420624" cy="420624"/>
          </a:xfrm>
          <a:prstGeom prst="roundRect">
            <a:avLst>
              <a:gd name="adj" fmla="val 10870"/>
            </a:avLst>
          </a:prstGeom>
          <a:solidFill>
            <a:srgbClr val="F5F4EF"/>
          </a:solidFill>
          <a:ln w="6350">
            <a:solidFill>
              <a:srgbClr val="F5F4EF"/>
            </a:solidFill>
            <a:prstDash val="solid"/>
          </a:ln>
        </p:spPr>
      </p:sp>
      <p:sp>
        <p:nvSpPr>
          <p:cNvPr id="30" name="Text 27"/>
          <p:cNvSpPr/>
          <p:nvPr/>
        </p:nvSpPr>
        <p:spPr>
          <a:xfrm>
            <a:off x="804672" y="4114800"/>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M4</a:t>
            </a:r>
            <a:endParaRPr lang="en-US" sz="1150" dirty="0"/>
          </a:p>
        </p:txBody>
      </p:sp>
      <p:sp>
        <p:nvSpPr>
          <p:cNvPr id="31" name="Text 28"/>
          <p:cNvSpPr/>
          <p:nvPr/>
        </p:nvSpPr>
        <p:spPr>
          <a:xfrm>
            <a:off x="1316736" y="4151376"/>
            <a:ext cx="2578608" cy="347472"/>
          </a:xfrm>
          <a:prstGeom prst="rect">
            <a:avLst/>
          </a:prstGeom>
          <a:noFill/>
          <a:ln/>
        </p:spPr>
        <p:txBody>
          <a:bodyPr wrap="square" lIns="0" tIns="0" rIns="0" bIns="0" rtlCol="0" anchor="ctr"/>
          <a:lstStyle/>
          <a:p>
            <a:pPr indent="0" marL="0">
              <a:buNone/>
            </a:pPr>
            <a:r>
              <a:rPr lang="en-US" sz="950" b="1" spc="120" kern="0" dirty="0">
                <a:solidFill>
                  <a:srgbClr val="C7CBD2"/>
                </a:solidFill>
                <a:latin typeface="Calibri" pitchFamily="34" charset="0"/>
                <a:ea typeface="Calibri" pitchFamily="34" charset="-122"/>
                <a:cs typeface="Calibri" pitchFamily="34" charset="-120"/>
              </a:rPr>
              <a:t>Weeks 7–8  ·  [ dates ]</a:t>
            </a:r>
            <a:endParaRPr lang="en-US" sz="950" dirty="0"/>
          </a:p>
        </p:txBody>
      </p:sp>
      <p:sp>
        <p:nvSpPr>
          <p:cNvPr id="32" name="Text 29"/>
          <p:cNvSpPr/>
          <p:nvPr/>
        </p:nvSpPr>
        <p:spPr>
          <a:xfrm>
            <a:off x="804672" y="4645152"/>
            <a:ext cx="3063240" cy="475488"/>
          </a:xfrm>
          <a:prstGeom prst="rect">
            <a:avLst/>
          </a:prstGeom>
          <a:noFill/>
          <a:ln/>
        </p:spPr>
        <p:txBody>
          <a:bodyPr wrap="square" lIns="0" tIns="0" rIns="0" bIns="0" rtlCol="0" anchor="t"/>
          <a:lstStyle/>
          <a:p>
            <a:pPr indent="0" marL="0">
              <a:lnSpc>
                <a:spcPct val="100000"/>
              </a:lnSpc>
              <a:buNone/>
            </a:pPr>
            <a:r>
              <a:rPr lang="en-US" sz="1700" i="1" dirty="0">
                <a:solidFill>
                  <a:srgbClr val="9AA2AD"/>
                </a:solidFill>
                <a:latin typeface="Georgia" pitchFamily="34" charset="0"/>
                <a:ea typeface="Georgia" pitchFamily="34" charset="-122"/>
                <a:cs typeface="Georgia" pitchFamily="34" charset="-120"/>
              </a:rPr>
              <a:t>Fill this in — the outcome</a:t>
            </a:r>
            <a:endParaRPr lang="en-US" sz="1700" dirty="0"/>
          </a:p>
        </p:txBody>
      </p:sp>
      <p:sp>
        <p:nvSpPr>
          <p:cNvPr id="33" name="Text 30"/>
          <p:cNvSpPr/>
          <p:nvPr/>
        </p:nvSpPr>
        <p:spPr>
          <a:xfrm>
            <a:off x="804672" y="5175504"/>
            <a:ext cx="1828800" cy="201168"/>
          </a:xfrm>
          <a:prstGeom prst="rect">
            <a:avLst/>
          </a:prstGeom>
          <a:noFill/>
          <a:ln/>
        </p:spPr>
        <p:txBody>
          <a:bodyPr wrap="square" lIns="0" tIns="0" rIns="0" bIns="0" rtlCol="0" anchor="ctr"/>
          <a:lstStyle/>
          <a:p>
            <a:pPr indent="0" marL="0">
              <a:buNone/>
            </a:pPr>
            <a:r>
              <a:rPr lang="en-US" sz="950" b="1" spc="130" kern="0" dirty="0">
                <a:solidFill>
                  <a:srgbClr val="C7CBD2"/>
                </a:solidFill>
                <a:latin typeface="Calibri" pitchFamily="34" charset="0"/>
                <a:ea typeface="Calibri" pitchFamily="34" charset="-122"/>
                <a:cs typeface="Calibri" pitchFamily="34" charset="-120"/>
              </a:rPr>
              <a:t>DONE WHEN</a:t>
            </a:r>
            <a:endParaRPr lang="en-US" sz="950" dirty="0"/>
          </a:p>
        </p:txBody>
      </p:sp>
      <p:sp>
        <p:nvSpPr>
          <p:cNvPr id="34" name="Text 31"/>
          <p:cNvSpPr/>
          <p:nvPr/>
        </p:nvSpPr>
        <p:spPr>
          <a:xfrm>
            <a:off x="804672" y="5376672"/>
            <a:ext cx="3063240" cy="512064"/>
          </a:xfrm>
          <a:prstGeom prst="rect">
            <a:avLst/>
          </a:prstGeom>
          <a:noFill/>
          <a:ln/>
        </p:spPr>
        <p:txBody>
          <a:bodyPr wrap="square" lIns="0" tIns="0" rIns="0" bIns="0" rtlCol="0" anchor="t"/>
          <a:lstStyle/>
          <a:p>
            <a:pPr indent="0" marL="0">
              <a:lnSpc>
                <a:spcPct val="106000"/>
              </a:lnSpc>
              <a:buNone/>
            </a:pPr>
            <a:r>
              <a:rPr lang="en-US" sz="1050" i="1" dirty="0">
                <a:solidFill>
                  <a:srgbClr val="9AA2AD"/>
                </a:solidFill>
                <a:latin typeface="Calibri" pitchFamily="34" charset="0"/>
                <a:ea typeface="Calibri" pitchFamily="34" charset="-122"/>
                <a:cs typeface="Calibri" pitchFamily="34" charset="-120"/>
              </a:rPr>
              <a:t>The fact that proves it, and where that fact is read from.</a:t>
            </a:r>
            <a:endParaRPr lang="en-US" sz="1050" dirty="0"/>
          </a:p>
        </p:txBody>
      </p:sp>
      <p:sp>
        <p:nvSpPr>
          <p:cNvPr id="35" name="Shape 32"/>
          <p:cNvSpPr/>
          <p:nvPr/>
        </p:nvSpPr>
        <p:spPr>
          <a:xfrm>
            <a:off x="4306824" y="3877056"/>
            <a:ext cx="3538728" cy="2212848"/>
          </a:xfrm>
          <a:prstGeom prst="roundRect">
            <a:avLst>
              <a:gd name="adj" fmla="val 2479"/>
            </a:avLst>
          </a:prstGeom>
          <a:solidFill>
            <a:srgbClr val="FFFFFF"/>
          </a:solidFill>
          <a:ln w="9525">
            <a:solidFill>
              <a:srgbClr val="C7CBD2"/>
            </a:solidFill>
            <a:prstDash val="dash"/>
          </a:ln>
        </p:spPr>
      </p:sp>
      <p:sp>
        <p:nvSpPr>
          <p:cNvPr id="36" name="Shape 33"/>
          <p:cNvSpPr/>
          <p:nvPr/>
        </p:nvSpPr>
        <p:spPr>
          <a:xfrm>
            <a:off x="4544568" y="4114800"/>
            <a:ext cx="420624" cy="420624"/>
          </a:xfrm>
          <a:prstGeom prst="roundRect">
            <a:avLst>
              <a:gd name="adj" fmla="val 10870"/>
            </a:avLst>
          </a:prstGeom>
          <a:solidFill>
            <a:srgbClr val="F5F4EF"/>
          </a:solidFill>
          <a:ln w="6350">
            <a:solidFill>
              <a:srgbClr val="F5F4EF"/>
            </a:solidFill>
            <a:prstDash val="solid"/>
          </a:ln>
        </p:spPr>
      </p:sp>
      <p:sp>
        <p:nvSpPr>
          <p:cNvPr id="37" name="Text 34"/>
          <p:cNvSpPr/>
          <p:nvPr/>
        </p:nvSpPr>
        <p:spPr>
          <a:xfrm>
            <a:off x="4544568" y="4114800"/>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M5</a:t>
            </a:r>
            <a:endParaRPr lang="en-US" sz="1150" dirty="0"/>
          </a:p>
        </p:txBody>
      </p:sp>
      <p:sp>
        <p:nvSpPr>
          <p:cNvPr id="38" name="Text 35"/>
          <p:cNvSpPr/>
          <p:nvPr/>
        </p:nvSpPr>
        <p:spPr>
          <a:xfrm>
            <a:off x="5056632" y="4151376"/>
            <a:ext cx="2578608" cy="347472"/>
          </a:xfrm>
          <a:prstGeom prst="rect">
            <a:avLst/>
          </a:prstGeom>
          <a:noFill/>
          <a:ln/>
        </p:spPr>
        <p:txBody>
          <a:bodyPr wrap="square" lIns="0" tIns="0" rIns="0" bIns="0" rtlCol="0" anchor="ctr"/>
          <a:lstStyle/>
          <a:p>
            <a:pPr indent="0" marL="0">
              <a:buNone/>
            </a:pPr>
            <a:r>
              <a:rPr lang="en-US" sz="950" b="1" spc="120" kern="0" dirty="0">
                <a:solidFill>
                  <a:srgbClr val="C7CBD2"/>
                </a:solidFill>
                <a:latin typeface="Calibri" pitchFamily="34" charset="0"/>
                <a:ea typeface="Calibri" pitchFamily="34" charset="-122"/>
                <a:cs typeface="Calibri" pitchFamily="34" charset="-120"/>
              </a:rPr>
              <a:t>Weeks 9–10  ·  [ dates ]</a:t>
            </a:r>
            <a:endParaRPr lang="en-US" sz="950" dirty="0"/>
          </a:p>
        </p:txBody>
      </p:sp>
      <p:sp>
        <p:nvSpPr>
          <p:cNvPr id="39" name="Text 36"/>
          <p:cNvSpPr/>
          <p:nvPr/>
        </p:nvSpPr>
        <p:spPr>
          <a:xfrm>
            <a:off x="4544568" y="4645152"/>
            <a:ext cx="3063240" cy="475488"/>
          </a:xfrm>
          <a:prstGeom prst="rect">
            <a:avLst/>
          </a:prstGeom>
          <a:noFill/>
          <a:ln/>
        </p:spPr>
        <p:txBody>
          <a:bodyPr wrap="square" lIns="0" tIns="0" rIns="0" bIns="0" rtlCol="0" anchor="t"/>
          <a:lstStyle/>
          <a:p>
            <a:pPr indent="0" marL="0">
              <a:lnSpc>
                <a:spcPct val="100000"/>
              </a:lnSpc>
              <a:buNone/>
            </a:pPr>
            <a:r>
              <a:rPr lang="en-US" sz="1700" i="1" dirty="0">
                <a:solidFill>
                  <a:srgbClr val="9AA2AD"/>
                </a:solidFill>
                <a:latin typeface="Georgia" pitchFamily="34" charset="0"/>
                <a:ea typeface="Georgia" pitchFamily="34" charset="-122"/>
                <a:cs typeface="Georgia" pitchFamily="34" charset="-120"/>
              </a:rPr>
              <a:t>Fill this in — the outcome</a:t>
            </a:r>
            <a:endParaRPr lang="en-US" sz="1700" dirty="0"/>
          </a:p>
        </p:txBody>
      </p:sp>
      <p:sp>
        <p:nvSpPr>
          <p:cNvPr id="40" name="Text 37"/>
          <p:cNvSpPr/>
          <p:nvPr/>
        </p:nvSpPr>
        <p:spPr>
          <a:xfrm>
            <a:off x="4544568" y="5175504"/>
            <a:ext cx="1828800" cy="201168"/>
          </a:xfrm>
          <a:prstGeom prst="rect">
            <a:avLst/>
          </a:prstGeom>
          <a:noFill/>
          <a:ln/>
        </p:spPr>
        <p:txBody>
          <a:bodyPr wrap="square" lIns="0" tIns="0" rIns="0" bIns="0" rtlCol="0" anchor="ctr"/>
          <a:lstStyle/>
          <a:p>
            <a:pPr indent="0" marL="0">
              <a:buNone/>
            </a:pPr>
            <a:r>
              <a:rPr lang="en-US" sz="950" b="1" spc="130" kern="0" dirty="0">
                <a:solidFill>
                  <a:srgbClr val="C7CBD2"/>
                </a:solidFill>
                <a:latin typeface="Calibri" pitchFamily="34" charset="0"/>
                <a:ea typeface="Calibri" pitchFamily="34" charset="-122"/>
                <a:cs typeface="Calibri" pitchFamily="34" charset="-120"/>
              </a:rPr>
              <a:t>DONE WHEN</a:t>
            </a:r>
            <a:endParaRPr lang="en-US" sz="950" dirty="0"/>
          </a:p>
        </p:txBody>
      </p:sp>
      <p:sp>
        <p:nvSpPr>
          <p:cNvPr id="41" name="Text 38"/>
          <p:cNvSpPr/>
          <p:nvPr/>
        </p:nvSpPr>
        <p:spPr>
          <a:xfrm>
            <a:off x="4544568" y="5376672"/>
            <a:ext cx="3063240" cy="512064"/>
          </a:xfrm>
          <a:prstGeom prst="rect">
            <a:avLst/>
          </a:prstGeom>
          <a:noFill/>
          <a:ln/>
        </p:spPr>
        <p:txBody>
          <a:bodyPr wrap="square" lIns="0" tIns="0" rIns="0" bIns="0" rtlCol="0" anchor="t"/>
          <a:lstStyle/>
          <a:p>
            <a:pPr indent="0" marL="0">
              <a:lnSpc>
                <a:spcPct val="106000"/>
              </a:lnSpc>
              <a:buNone/>
            </a:pPr>
            <a:r>
              <a:rPr lang="en-US" sz="1050" i="1" dirty="0">
                <a:solidFill>
                  <a:srgbClr val="9AA2AD"/>
                </a:solidFill>
                <a:latin typeface="Calibri" pitchFamily="34" charset="0"/>
                <a:ea typeface="Calibri" pitchFamily="34" charset="-122"/>
                <a:cs typeface="Calibri" pitchFamily="34" charset="-120"/>
              </a:rPr>
              <a:t>The fact that proves it, and where that fact is read from.</a:t>
            </a:r>
            <a:endParaRPr lang="en-US" sz="1050" dirty="0"/>
          </a:p>
        </p:txBody>
      </p:sp>
      <p:sp>
        <p:nvSpPr>
          <p:cNvPr id="42" name="Shape 39"/>
          <p:cNvSpPr/>
          <p:nvPr/>
        </p:nvSpPr>
        <p:spPr>
          <a:xfrm>
            <a:off x="8046720" y="3877056"/>
            <a:ext cx="3538728" cy="2212848"/>
          </a:xfrm>
          <a:prstGeom prst="roundRect">
            <a:avLst>
              <a:gd name="adj" fmla="val 2479"/>
            </a:avLst>
          </a:prstGeom>
          <a:solidFill>
            <a:srgbClr val="FFFFFF"/>
          </a:solidFill>
          <a:ln w="9525">
            <a:solidFill>
              <a:srgbClr val="C7CBD2"/>
            </a:solidFill>
            <a:prstDash val="dash"/>
          </a:ln>
        </p:spPr>
      </p:sp>
      <p:sp>
        <p:nvSpPr>
          <p:cNvPr id="43" name="Shape 40"/>
          <p:cNvSpPr/>
          <p:nvPr/>
        </p:nvSpPr>
        <p:spPr>
          <a:xfrm>
            <a:off x="8284464" y="4114800"/>
            <a:ext cx="420624" cy="420624"/>
          </a:xfrm>
          <a:prstGeom prst="roundRect">
            <a:avLst>
              <a:gd name="adj" fmla="val 10870"/>
            </a:avLst>
          </a:prstGeom>
          <a:solidFill>
            <a:srgbClr val="F5F4EF"/>
          </a:solidFill>
          <a:ln w="6350">
            <a:solidFill>
              <a:srgbClr val="F5F4EF"/>
            </a:solidFill>
            <a:prstDash val="solid"/>
          </a:ln>
        </p:spPr>
      </p:sp>
      <p:sp>
        <p:nvSpPr>
          <p:cNvPr id="44" name="Text 41"/>
          <p:cNvSpPr/>
          <p:nvPr/>
        </p:nvSpPr>
        <p:spPr>
          <a:xfrm>
            <a:off x="8284464" y="4114800"/>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M6</a:t>
            </a:r>
            <a:endParaRPr lang="en-US" sz="1150" dirty="0"/>
          </a:p>
        </p:txBody>
      </p:sp>
      <p:sp>
        <p:nvSpPr>
          <p:cNvPr id="45" name="Text 42"/>
          <p:cNvSpPr/>
          <p:nvPr/>
        </p:nvSpPr>
        <p:spPr>
          <a:xfrm>
            <a:off x="8796528" y="4151376"/>
            <a:ext cx="2578608" cy="347472"/>
          </a:xfrm>
          <a:prstGeom prst="rect">
            <a:avLst/>
          </a:prstGeom>
          <a:noFill/>
          <a:ln/>
        </p:spPr>
        <p:txBody>
          <a:bodyPr wrap="square" lIns="0" tIns="0" rIns="0" bIns="0" rtlCol="0" anchor="ctr"/>
          <a:lstStyle/>
          <a:p>
            <a:pPr indent="0" marL="0">
              <a:buNone/>
            </a:pPr>
            <a:r>
              <a:rPr lang="en-US" sz="950" b="1" spc="120" kern="0" dirty="0">
                <a:solidFill>
                  <a:srgbClr val="C7CBD2"/>
                </a:solidFill>
                <a:latin typeface="Calibri" pitchFamily="34" charset="0"/>
                <a:ea typeface="Calibri" pitchFamily="34" charset="-122"/>
                <a:cs typeface="Calibri" pitchFamily="34" charset="-120"/>
              </a:rPr>
              <a:t>Weeks 11–12  ·  [ dates ]</a:t>
            </a:r>
            <a:endParaRPr lang="en-US" sz="950" dirty="0"/>
          </a:p>
        </p:txBody>
      </p:sp>
      <p:sp>
        <p:nvSpPr>
          <p:cNvPr id="46" name="Text 43"/>
          <p:cNvSpPr/>
          <p:nvPr/>
        </p:nvSpPr>
        <p:spPr>
          <a:xfrm>
            <a:off x="8284464" y="4645152"/>
            <a:ext cx="3063240" cy="475488"/>
          </a:xfrm>
          <a:prstGeom prst="rect">
            <a:avLst/>
          </a:prstGeom>
          <a:noFill/>
          <a:ln/>
        </p:spPr>
        <p:txBody>
          <a:bodyPr wrap="square" lIns="0" tIns="0" rIns="0" bIns="0" rtlCol="0" anchor="t"/>
          <a:lstStyle/>
          <a:p>
            <a:pPr indent="0" marL="0">
              <a:lnSpc>
                <a:spcPct val="100000"/>
              </a:lnSpc>
              <a:buNone/>
            </a:pPr>
            <a:r>
              <a:rPr lang="en-US" sz="1700" i="1" dirty="0">
                <a:solidFill>
                  <a:srgbClr val="9AA2AD"/>
                </a:solidFill>
                <a:latin typeface="Georgia" pitchFamily="34" charset="0"/>
                <a:ea typeface="Georgia" pitchFamily="34" charset="-122"/>
                <a:cs typeface="Georgia" pitchFamily="34" charset="-120"/>
              </a:rPr>
              <a:t>Fill this in — the outcome</a:t>
            </a:r>
            <a:endParaRPr lang="en-US" sz="1700" dirty="0"/>
          </a:p>
        </p:txBody>
      </p:sp>
      <p:sp>
        <p:nvSpPr>
          <p:cNvPr id="47" name="Text 44"/>
          <p:cNvSpPr/>
          <p:nvPr/>
        </p:nvSpPr>
        <p:spPr>
          <a:xfrm>
            <a:off x="8284464" y="5175504"/>
            <a:ext cx="1828800" cy="201168"/>
          </a:xfrm>
          <a:prstGeom prst="rect">
            <a:avLst/>
          </a:prstGeom>
          <a:noFill/>
          <a:ln/>
        </p:spPr>
        <p:txBody>
          <a:bodyPr wrap="square" lIns="0" tIns="0" rIns="0" bIns="0" rtlCol="0" anchor="ctr"/>
          <a:lstStyle/>
          <a:p>
            <a:pPr indent="0" marL="0">
              <a:buNone/>
            </a:pPr>
            <a:r>
              <a:rPr lang="en-US" sz="950" b="1" spc="130" kern="0" dirty="0">
                <a:solidFill>
                  <a:srgbClr val="C7CBD2"/>
                </a:solidFill>
                <a:latin typeface="Calibri" pitchFamily="34" charset="0"/>
                <a:ea typeface="Calibri" pitchFamily="34" charset="-122"/>
                <a:cs typeface="Calibri" pitchFamily="34" charset="-120"/>
              </a:rPr>
              <a:t>DONE WHEN</a:t>
            </a:r>
            <a:endParaRPr lang="en-US" sz="950" dirty="0"/>
          </a:p>
        </p:txBody>
      </p:sp>
      <p:sp>
        <p:nvSpPr>
          <p:cNvPr id="48" name="Text 45"/>
          <p:cNvSpPr/>
          <p:nvPr/>
        </p:nvSpPr>
        <p:spPr>
          <a:xfrm>
            <a:off x="8284464" y="5376672"/>
            <a:ext cx="3063240" cy="512064"/>
          </a:xfrm>
          <a:prstGeom prst="rect">
            <a:avLst/>
          </a:prstGeom>
          <a:noFill/>
          <a:ln/>
        </p:spPr>
        <p:txBody>
          <a:bodyPr wrap="square" lIns="0" tIns="0" rIns="0" bIns="0" rtlCol="0" anchor="t"/>
          <a:lstStyle/>
          <a:p>
            <a:pPr indent="0" marL="0">
              <a:lnSpc>
                <a:spcPct val="106000"/>
              </a:lnSpc>
              <a:buNone/>
            </a:pPr>
            <a:r>
              <a:rPr lang="en-US" sz="1050" i="1" dirty="0">
                <a:solidFill>
                  <a:srgbClr val="9AA2AD"/>
                </a:solidFill>
                <a:latin typeface="Calibri" pitchFamily="34" charset="0"/>
                <a:ea typeface="Calibri" pitchFamily="34" charset="-122"/>
                <a:cs typeface="Calibri" pitchFamily="34" charset="-120"/>
              </a:rPr>
              <a:t>The fact that proves it, and where that fact is read from.</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566928" y="384048"/>
            <a:ext cx="11057839" cy="219456"/>
          </a:xfrm>
          <a:prstGeom prst="rect">
            <a:avLst/>
          </a:prstGeom>
          <a:noFill/>
          <a:ln/>
        </p:spPr>
        <p:txBody>
          <a:bodyPr wrap="square" lIns="0" tIns="0" rIns="0" bIns="0" rtlCol="0" anchor="ctr"/>
          <a:lstStyle/>
          <a:p>
            <a:pPr indent="0" marL="0">
              <a:buNone/>
            </a:pPr>
            <a:r>
              <a:rPr lang="en-US" sz="1000" b="1" spc="150" kern="0" dirty="0">
                <a:solidFill>
                  <a:srgbClr val="B91C1C"/>
                </a:solidFill>
                <a:latin typeface="Calibri" pitchFamily="34" charset="0"/>
                <a:ea typeface="Calibri" pitchFamily="34" charset="-122"/>
                <a:cs typeface="Calibri" pitchFamily="34" charset="-120"/>
              </a:rPr>
              <a:t>M1 [ MILESTONE ]  ·  M2 [ MILESTONE ]</a:t>
            </a:r>
            <a:endParaRPr lang="en-US" sz="1000" dirty="0"/>
          </a:p>
        </p:txBody>
      </p:sp>
      <p:sp>
        <p:nvSpPr>
          <p:cNvPr id="3" name="Text 1"/>
          <p:cNvSpPr/>
          <p:nvPr/>
        </p:nvSpPr>
        <p:spPr>
          <a:xfrm>
            <a:off x="566928" y="621792"/>
            <a:ext cx="11057839" cy="566928"/>
          </a:xfrm>
          <a:prstGeom prst="rect">
            <a:avLst/>
          </a:prstGeom>
          <a:noFill/>
          <a:ln/>
        </p:spPr>
        <p:txBody>
          <a:bodyPr wrap="square" lIns="0" tIns="0" rIns="0" bIns="0" rtlCol="0" anchor="ctr"/>
          <a:lstStyle/>
          <a:p>
            <a:pPr indent="0" marL="0">
              <a:buNone/>
            </a:pPr>
            <a:r>
              <a:rPr lang="en-US" sz="3000" dirty="0">
                <a:solidFill>
                  <a:srgbClr val="1A2433"/>
                </a:solidFill>
                <a:latin typeface="Georgia" pitchFamily="34" charset="0"/>
                <a:ea typeface="Georgia" pitchFamily="34" charset="-122"/>
                <a:cs typeface="Georgia" pitchFamily="34" charset="-120"/>
              </a:rPr>
              <a:t>Weeks 1–4  ·  [ what this block is for ]</a:t>
            </a:r>
            <a:endParaRPr lang="en-US" sz="3000" dirty="0"/>
          </a:p>
        </p:txBody>
      </p:sp>
      <p:pic>
        <p:nvPicPr>
          <p:cNvPr id="4" name="Image 0" descr="preencoded.png">    </p:cNvPr>
          <p:cNvPicPr>
            <a:picLocks noChangeAspect="1"/>
          </p:cNvPicPr>
          <p:nvPr/>
        </p:nvPicPr>
        <p:blipFill>
          <a:blip r:embed="rId1"/>
          <a:stretch>
            <a:fillRect/>
          </a:stretch>
        </p:blipFill>
        <p:spPr>
          <a:xfrm>
            <a:off x="566928" y="6373368"/>
            <a:ext cx="162560" cy="162560"/>
          </a:xfrm>
          <a:prstGeom prst="rect">
            <a:avLst/>
          </a:prstGeom>
        </p:spPr>
      </p:pic>
      <p:sp>
        <p:nvSpPr>
          <p:cNvPr id="5" name="Text 2"/>
          <p:cNvSpPr/>
          <p:nvPr/>
        </p:nvSpPr>
        <p:spPr>
          <a:xfrm>
            <a:off x="793496" y="6345936"/>
            <a:ext cx="2194560" cy="217424"/>
          </a:xfrm>
          <a:prstGeom prst="rect">
            <a:avLst/>
          </a:prstGeom>
          <a:noFill/>
          <a:ln/>
        </p:spPr>
        <p:txBody>
          <a:bodyPr wrap="square" lIns="0" tIns="0" rIns="0" bIns="0" rtlCol="0" anchor="ctr"/>
          <a:lstStyle/>
          <a:p>
            <a:pPr indent="0" marL="0">
              <a:buNone/>
            </a:pPr>
            <a:r>
              <a:rPr lang="en-US" sz="800" b="1" spc="104" kern="0" dirty="0">
                <a:solidFill>
                  <a:srgbClr val="1A2433"/>
                </a:solidFill>
                <a:latin typeface="Calibri" pitchFamily="34" charset="0"/>
                <a:ea typeface="Calibri" pitchFamily="34" charset="-122"/>
                <a:cs typeface="Calibri" pitchFamily="34" charset="-120"/>
              </a:rPr>
              <a:t>COMP</a:t>
            </a:r>
            <a:pPr indent="0" marL="0">
              <a:buNone/>
            </a:pPr>
            <a:r>
              <a:rPr lang="en-US" sz="800" b="1" spc="104" kern="0" dirty="0">
                <a:solidFill>
                  <a:srgbClr val="B91C1C"/>
                </a:solidFill>
                <a:latin typeface="Calibri" pitchFamily="34" charset="0"/>
                <a:ea typeface="Calibri" pitchFamily="34" charset="-122"/>
                <a:cs typeface="Calibri" pitchFamily="34" charset="-120"/>
              </a:rPr>
              <a:t>NINJA</a:t>
            </a:r>
            <a:endParaRPr lang="en-US" sz="800" dirty="0"/>
          </a:p>
        </p:txBody>
      </p:sp>
      <p:sp>
        <p:nvSpPr>
          <p:cNvPr id="6" name="Text 3"/>
          <p:cNvSpPr/>
          <p:nvPr/>
        </p:nvSpPr>
        <p:spPr>
          <a:xfrm>
            <a:off x="10527487" y="6355080"/>
            <a:ext cx="1097280" cy="256032"/>
          </a:xfrm>
          <a:prstGeom prst="rect">
            <a:avLst/>
          </a:prstGeom>
          <a:noFill/>
          <a:ln/>
        </p:spPr>
        <p:txBody>
          <a:bodyPr wrap="square" lIns="0" tIns="0" rIns="0" bIns="0" rtlCol="0" anchor="ctr"/>
          <a:lstStyle/>
          <a:p>
            <a:pPr algn="r" indent="0" marL="0">
              <a:buNone/>
            </a:pPr>
            <a:r>
              <a:rPr lang="en-US" sz="950" dirty="0">
                <a:solidFill>
                  <a:srgbClr val="9AA2AD"/>
                </a:solidFill>
                <a:latin typeface="Calibri" pitchFamily="34" charset="0"/>
                <a:ea typeface="Calibri" pitchFamily="34" charset="-122"/>
                <a:cs typeface="Calibri" pitchFamily="34" charset="-120"/>
              </a:rPr>
              <a:t>5</a:t>
            </a:r>
            <a:endParaRPr lang="en-US" sz="950" dirty="0"/>
          </a:p>
        </p:txBody>
      </p:sp>
      <p:sp>
        <p:nvSpPr>
          <p:cNvPr id="7" name="Shape 4"/>
          <p:cNvSpPr/>
          <p:nvPr/>
        </p:nvSpPr>
        <p:spPr>
          <a:xfrm>
            <a:off x="566928" y="1481328"/>
            <a:ext cx="11057839" cy="914400"/>
          </a:xfrm>
          <a:prstGeom prst="roundRect">
            <a:avLst>
              <a:gd name="adj" fmla="val 6000"/>
            </a:avLst>
          </a:prstGeom>
          <a:solidFill>
            <a:srgbClr val="FFFFFF"/>
          </a:solidFill>
          <a:ln w="9525">
            <a:solidFill>
              <a:srgbClr val="C7CBD2"/>
            </a:solidFill>
            <a:prstDash val="dash"/>
          </a:ln>
        </p:spPr>
      </p:sp>
      <p:sp>
        <p:nvSpPr>
          <p:cNvPr id="8" name="Text 5"/>
          <p:cNvSpPr/>
          <p:nvPr/>
        </p:nvSpPr>
        <p:spPr>
          <a:xfrm>
            <a:off x="731520" y="1627632"/>
            <a:ext cx="749808" cy="329184"/>
          </a:xfrm>
          <a:prstGeom prst="rect">
            <a:avLst/>
          </a:prstGeom>
          <a:noFill/>
          <a:ln/>
        </p:spPr>
        <p:txBody>
          <a:bodyPr wrap="square" lIns="0" tIns="0" rIns="0" bIns="0" rtlCol="0" anchor="ctr"/>
          <a:lstStyle/>
          <a:p>
            <a:pPr indent="0" marL="0">
              <a:buNone/>
            </a:pPr>
            <a:r>
              <a:rPr lang="en-US" sz="1900" dirty="0">
                <a:solidFill>
                  <a:srgbClr val="C7CBD2"/>
                </a:solidFill>
                <a:latin typeface="Georgia" pitchFamily="34" charset="0"/>
                <a:ea typeface="Georgia" pitchFamily="34" charset="-122"/>
                <a:cs typeface="Georgia" pitchFamily="34" charset="-120"/>
              </a:rPr>
              <a:t>W01</a:t>
            </a:r>
            <a:endParaRPr lang="en-US" sz="1900" dirty="0"/>
          </a:p>
        </p:txBody>
      </p:sp>
      <p:sp>
        <p:nvSpPr>
          <p:cNvPr id="9" name="Text 6"/>
          <p:cNvSpPr/>
          <p:nvPr/>
        </p:nvSpPr>
        <p:spPr>
          <a:xfrm>
            <a:off x="731520" y="1975104"/>
            <a:ext cx="822960" cy="219456"/>
          </a:xfrm>
          <a:prstGeom prst="rect">
            <a:avLst/>
          </a:prstGeom>
          <a:noFill/>
          <a:ln/>
        </p:spPr>
        <p:txBody>
          <a:bodyPr wrap="square" lIns="0" tIns="0" rIns="0" bIns="0" rtlCol="0" anchor="ctr"/>
          <a:lstStyle/>
          <a:p>
            <a:pPr indent="0" marL="0">
              <a:buNone/>
            </a:pPr>
            <a:r>
              <a:rPr lang="en-US" sz="850" dirty="0">
                <a:solidFill>
                  <a:srgbClr val="C7CBD2"/>
                </a:solidFill>
                <a:latin typeface="Calibri" pitchFamily="34" charset="0"/>
                <a:ea typeface="Calibri" pitchFamily="34" charset="-122"/>
                <a:cs typeface="Calibri" pitchFamily="34" charset="-120"/>
              </a:rPr>
              <a:t>[ dates ]</a:t>
            </a:r>
            <a:endParaRPr lang="en-US" sz="850" dirty="0"/>
          </a:p>
        </p:txBody>
      </p:sp>
      <p:sp>
        <p:nvSpPr>
          <p:cNvPr id="10" name="Shape 7"/>
          <p:cNvSpPr/>
          <p:nvPr/>
        </p:nvSpPr>
        <p:spPr>
          <a:xfrm>
            <a:off x="1572768" y="1728216"/>
            <a:ext cx="420624" cy="420624"/>
          </a:xfrm>
          <a:prstGeom prst="roundRect">
            <a:avLst>
              <a:gd name="adj" fmla="val 10870"/>
            </a:avLst>
          </a:prstGeom>
          <a:solidFill>
            <a:srgbClr val="F5F4EF"/>
          </a:solidFill>
          <a:ln w="6350">
            <a:solidFill>
              <a:srgbClr val="F5F4EF"/>
            </a:solidFill>
            <a:prstDash val="solid"/>
          </a:ln>
        </p:spPr>
      </p:sp>
      <p:sp>
        <p:nvSpPr>
          <p:cNvPr id="11" name="Text 8"/>
          <p:cNvSpPr/>
          <p:nvPr/>
        </p:nvSpPr>
        <p:spPr>
          <a:xfrm>
            <a:off x="1572768" y="1728216"/>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M1</a:t>
            </a:r>
            <a:endParaRPr lang="en-US" sz="1150" dirty="0"/>
          </a:p>
        </p:txBody>
      </p:sp>
      <p:sp>
        <p:nvSpPr>
          <p:cNvPr id="12" name="Text 9"/>
          <p:cNvSpPr/>
          <p:nvPr/>
        </p:nvSpPr>
        <p:spPr>
          <a:xfrm>
            <a:off x="2176272" y="1609344"/>
            <a:ext cx="3474720" cy="676656"/>
          </a:xfrm>
          <a:prstGeom prst="rect">
            <a:avLst/>
          </a:prstGeom>
          <a:noFill/>
          <a:ln/>
        </p:spPr>
        <p:txBody>
          <a:bodyPr wrap="square" lIns="0" tIns="0" rIns="0" bIns="0" rtlCol="0" anchor="ctr"/>
          <a:lstStyle/>
          <a:p>
            <a:pPr indent="0" marL="0">
              <a:lnSpc>
                <a:spcPct val="105000"/>
              </a:lnSpc>
              <a:buNone/>
            </a:pPr>
            <a:r>
              <a:rPr lang="en-US" sz="1100" i="1" dirty="0">
                <a:solidFill>
                  <a:srgbClr val="9AA2AD"/>
                </a:solidFill>
                <a:latin typeface="Calibri" pitchFamily="34" charset="0"/>
                <a:ea typeface="Calibri" pitchFamily="34" charset="-122"/>
                <a:cs typeface="Calibri" pitchFamily="34" charset="-120"/>
              </a:rPr>
              <a:t>One line: what this week is for.</a:t>
            </a:r>
            <a:endParaRPr lang="en-US" sz="1100" dirty="0"/>
          </a:p>
        </p:txBody>
      </p:sp>
      <p:sp>
        <p:nvSpPr>
          <p:cNvPr id="13" name="Text 10"/>
          <p:cNvSpPr/>
          <p:nvPr/>
        </p:nvSpPr>
        <p:spPr>
          <a:xfrm>
            <a:off x="5806440" y="1609344"/>
            <a:ext cx="4590288" cy="676656"/>
          </a:xfrm>
          <a:prstGeom prst="rect">
            <a:avLst/>
          </a:prstGeom>
          <a:noFill/>
          <a:ln/>
        </p:spPr>
        <p:txBody>
          <a:bodyPr wrap="square" lIns="0" tIns="0" rIns="0" bIns="0" rtlCol="0" anchor="ctr"/>
          <a:lstStyle/>
          <a:p>
            <a:pPr indent="0" marL="0">
              <a:lnSpc>
                <a:spcPct val="108000"/>
              </a:lnSpc>
              <a:buNone/>
            </a:pPr>
            <a:r>
              <a:rPr lang="en-US" sz="1050" i="1" dirty="0">
                <a:solidFill>
                  <a:srgbClr val="9AA2AD"/>
                </a:solidFill>
                <a:latin typeface="Calibri" pitchFamily="34" charset="0"/>
                <a:ea typeface="Calibri" pitchFamily="34" charset="-122"/>
                <a:cs typeface="Calibri" pitchFamily="34" charset="-120"/>
              </a:rPr>
              <a:t>What ships, what it proves, and the thing that would show it was the wrong week's work. Name the file, route or dashboard where the answer appears.</a:t>
            </a:r>
            <a:endParaRPr lang="en-US" sz="1050" dirty="0"/>
          </a:p>
        </p:txBody>
      </p:sp>
      <p:sp>
        <p:nvSpPr>
          <p:cNvPr id="14" name="Shape 11"/>
          <p:cNvSpPr/>
          <p:nvPr/>
        </p:nvSpPr>
        <p:spPr>
          <a:xfrm>
            <a:off x="10515600" y="1819656"/>
            <a:ext cx="1005840" cy="237744"/>
          </a:xfrm>
          <a:prstGeom prst="roundRect">
            <a:avLst>
              <a:gd name="adj" fmla="val 11538"/>
            </a:avLst>
          </a:prstGeom>
          <a:solidFill>
            <a:srgbClr val="FFFFFF"/>
          </a:solidFill>
          <a:ln w="9525">
            <a:solidFill>
              <a:srgbClr val="C7CBD2"/>
            </a:solidFill>
            <a:prstDash val="dash"/>
          </a:ln>
        </p:spPr>
      </p:sp>
      <p:sp>
        <p:nvSpPr>
          <p:cNvPr id="15" name="Text 12"/>
          <p:cNvSpPr/>
          <p:nvPr/>
        </p:nvSpPr>
        <p:spPr>
          <a:xfrm>
            <a:off x="10515600" y="1819656"/>
            <a:ext cx="1005840" cy="237744"/>
          </a:xfrm>
          <a:prstGeom prst="rect">
            <a:avLst/>
          </a:prstGeom>
          <a:noFill/>
          <a:ln/>
        </p:spPr>
        <p:txBody>
          <a:bodyPr wrap="square" lIns="0" tIns="0" rIns="0" bIns="0" rtlCol="0" anchor="ctr"/>
          <a:lstStyle/>
          <a:p>
            <a:pPr algn="ctr" indent="0" marL="0">
              <a:buNone/>
            </a:pPr>
            <a:r>
              <a:rPr lang="en-US" sz="750" b="1" spc="60" kern="0" dirty="0">
                <a:solidFill>
                  <a:srgbClr val="68707E"/>
                </a:solidFill>
                <a:latin typeface="Calibri" pitchFamily="34" charset="0"/>
                <a:ea typeface="Calibri" pitchFamily="34" charset="-122"/>
                <a:cs typeface="Calibri" pitchFamily="34" charset="-120"/>
              </a:rPr>
              <a:t>MILESTONE?</a:t>
            </a:r>
            <a:endParaRPr lang="en-US" sz="750" dirty="0"/>
          </a:p>
        </p:txBody>
      </p:sp>
      <p:sp>
        <p:nvSpPr>
          <p:cNvPr id="16" name="Shape 13"/>
          <p:cNvSpPr/>
          <p:nvPr/>
        </p:nvSpPr>
        <p:spPr>
          <a:xfrm>
            <a:off x="566928" y="2514600"/>
            <a:ext cx="11057839" cy="914400"/>
          </a:xfrm>
          <a:prstGeom prst="roundRect">
            <a:avLst>
              <a:gd name="adj" fmla="val 6000"/>
            </a:avLst>
          </a:prstGeom>
          <a:solidFill>
            <a:srgbClr val="FFFFFF"/>
          </a:solidFill>
          <a:ln w="9525">
            <a:solidFill>
              <a:srgbClr val="C7CBD2"/>
            </a:solidFill>
            <a:prstDash val="dash"/>
          </a:ln>
        </p:spPr>
      </p:sp>
      <p:sp>
        <p:nvSpPr>
          <p:cNvPr id="17" name="Text 14"/>
          <p:cNvSpPr/>
          <p:nvPr/>
        </p:nvSpPr>
        <p:spPr>
          <a:xfrm>
            <a:off x="731520" y="2660904"/>
            <a:ext cx="749808" cy="329184"/>
          </a:xfrm>
          <a:prstGeom prst="rect">
            <a:avLst/>
          </a:prstGeom>
          <a:noFill/>
          <a:ln/>
        </p:spPr>
        <p:txBody>
          <a:bodyPr wrap="square" lIns="0" tIns="0" rIns="0" bIns="0" rtlCol="0" anchor="ctr"/>
          <a:lstStyle/>
          <a:p>
            <a:pPr indent="0" marL="0">
              <a:buNone/>
            </a:pPr>
            <a:r>
              <a:rPr lang="en-US" sz="1900" dirty="0">
                <a:solidFill>
                  <a:srgbClr val="C7CBD2"/>
                </a:solidFill>
                <a:latin typeface="Georgia" pitchFamily="34" charset="0"/>
                <a:ea typeface="Georgia" pitchFamily="34" charset="-122"/>
                <a:cs typeface="Georgia" pitchFamily="34" charset="-120"/>
              </a:rPr>
              <a:t>W02</a:t>
            </a:r>
            <a:endParaRPr lang="en-US" sz="1900" dirty="0"/>
          </a:p>
        </p:txBody>
      </p:sp>
      <p:sp>
        <p:nvSpPr>
          <p:cNvPr id="18" name="Text 15"/>
          <p:cNvSpPr/>
          <p:nvPr/>
        </p:nvSpPr>
        <p:spPr>
          <a:xfrm>
            <a:off x="731520" y="3008376"/>
            <a:ext cx="822960" cy="219456"/>
          </a:xfrm>
          <a:prstGeom prst="rect">
            <a:avLst/>
          </a:prstGeom>
          <a:noFill/>
          <a:ln/>
        </p:spPr>
        <p:txBody>
          <a:bodyPr wrap="square" lIns="0" tIns="0" rIns="0" bIns="0" rtlCol="0" anchor="ctr"/>
          <a:lstStyle/>
          <a:p>
            <a:pPr indent="0" marL="0">
              <a:buNone/>
            </a:pPr>
            <a:r>
              <a:rPr lang="en-US" sz="850" dirty="0">
                <a:solidFill>
                  <a:srgbClr val="C7CBD2"/>
                </a:solidFill>
                <a:latin typeface="Calibri" pitchFamily="34" charset="0"/>
                <a:ea typeface="Calibri" pitchFamily="34" charset="-122"/>
                <a:cs typeface="Calibri" pitchFamily="34" charset="-120"/>
              </a:rPr>
              <a:t>[ dates ]</a:t>
            </a:r>
            <a:endParaRPr lang="en-US" sz="850" dirty="0"/>
          </a:p>
        </p:txBody>
      </p:sp>
      <p:sp>
        <p:nvSpPr>
          <p:cNvPr id="19" name="Shape 16"/>
          <p:cNvSpPr/>
          <p:nvPr/>
        </p:nvSpPr>
        <p:spPr>
          <a:xfrm>
            <a:off x="1572768" y="2761488"/>
            <a:ext cx="420624" cy="420624"/>
          </a:xfrm>
          <a:prstGeom prst="roundRect">
            <a:avLst>
              <a:gd name="adj" fmla="val 10870"/>
            </a:avLst>
          </a:prstGeom>
          <a:solidFill>
            <a:srgbClr val="F5F4EF"/>
          </a:solidFill>
          <a:ln w="6350">
            <a:solidFill>
              <a:srgbClr val="F5F4EF"/>
            </a:solidFill>
            <a:prstDash val="solid"/>
          </a:ln>
        </p:spPr>
      </p:sp>
      <p:sp>
        <p:nvSpPr>
          <p:cNvPr id="20" name="Text 17"/>
          <p:cNvSpPr/>
          <p:nvPr/>
        </p:nvSpPr>
        <p:spPr>
          <a:xfrm>
            <a:off x="1572768" y="2761488"/>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M1</a:t>
            </a:r>
            <a:endParaRPr lang="en-US" sz="1150" dirty="0"/>
          </a:p>
        </p:txBody>
      </p:sp>
      <p:sp>
        <p:nvSpPr>
          <p:cNvPr id="21" name="Text 18"/>
          <p:cNvSpPr/>
          <p:nvPr/>
        </p:nvSpPr>
        <p:spPr>
          <a:xfrm>
            <a:off x="2176272" y="2642616"/>
            <a:ext cx="3474720" cy="676656"/>
          </a:xfrm>
          <a:prstGeom prst="rect">
            <a:avLst/>
          </a:prstGeom>
          <a:noFill/>
          <a:ln/>
        </p:spPr>
        <p:txBody>
          <a:bodyPr wrap="square" lIns="0" tIns="0" rIns="0" bIns="0" rtlCol="0" anchor="ctr"/>
          <a:lstStyle/>
          <a:p>
            <a:pPr indent="0" marL="0">
              <a:lnSpc>
                <a:spcPct val="105000"/>
              </a:lnSpc>
              <a:buNone/>
            </a:pPr>
            <a:r>
              <a:rPr lang="en-US" sz="1100" i="1" dirty="0">
                <a:solidFill>
                  <a:srgbClr val="9AA2AD"/>
                </a:solidFill>
                <a:latin typeface="Calibri" pitchFamily="34" charset="0"/>
                <a:ea typeface="Calibri" pitchFamily="34" charset="-122"/>
                <a:cs typeface="Calibri" pitchFamily="34" charset="-120"/>
              </a:rPr>
              <a:t>One line: what this week is for.</a:t>
            </a:r>
            <a:endParaRPr lang="en-US" sz="1100" dirty="0"/>
          </a:p>
        </p:txBody>
      </p:sp>
      <p:sp>
        <p:nvSpPr>
          <p:cNvPr id="22" name="Text 19"/>
          <p:cNvSpPr/>
          <p:nvPr/>
        </p:nvSpPr>
        <p:spPr>
          <a:xfrm>
            <a:off x="5806440" y="2642616"/>
            <a:ext cx="4590288" cy="676656"/>
          </a:xfrm>
          <a:prstGeom prst="rect">
            <a:avLst/>
          </a:prstGeom>
          <a:noFill/>
          <a:ln/>
        </p:spPr>
        <p:txBody>
          <a:bodyPr wrap="square" lIns="0" tIns="0" rIns="0" bIns="0" rtlCol="0" anchor="ctr"/>
          <a:lstStyle/>
          <a:p>
            <a:pPr indent="0" marL="0">
              <a:lnSpc>
                <a:spcPct val="108000"/>
              </a:lnSpc>
              <a:buNone/>
            </a:pPr>
            <a:r>
              <a:rPr lang="en-US" sz="1050" i="1" dirty="0">
                <a:solidFill>
                  <a:srgbClr val="9AA2AD"/>
                </a:solidFill>
                <a:latin typeface="Calibri" pitchFamily="34" charset="0"/>
                <a:ea typeface="Calibri" pitchFamily="34" charset="-122"/>
                <a:cs typeface="Calibri" pitchFamily="34" charset="-120"/>
              </a:rPr>
              <a:t>What ships, what it proves, and the thing that would show it was the wrong week's work. Name the file, route or dashboard where the answer appears.</a:t>
            </a:r>
            <a:endParaRPr lang="en-US" sz="1050" dirty="0"/>
          </a:p>
        </p:txBody>
      </p:sp>
      <p:sp>
        <p:nvSpPr>
          <p:cNvPr id="23" name="Shape 20"/>
          <p:cNvSpPr/>
          <p:nvPr/>
        </p:nvSpPr>
        <p:spPr>
          <a:xfrm>
            <a:off x="10515600" y="2852928"/>
            <a:ext cx="1005840" cy="237744"/>
          </a:xfrm>
          <a:prstGeom prst="roundRect">
            <a:avLst>
              <a:gd name="adj" fmla="val 11538"/>
            </a:avLst>
          </a:prstGeom>
          <a:solidFill>
            <a:srgbClr val="FFFFFF"/>
          </a:solidFill>
          <a:ln w="9525">
            <a:solidFill>
              <a:srgbClr val="C7CBD2"/>
            </a:solidFill>
            <a:prstDash val="dash"/>
          </a:ln>
        </p:spPr>
      </p:sp>
      <p:sp>
        <p:nvSpPr>
          <p:cNvPr id="24" name="Text 21"/>
          <p:cNvSpPr/>
          <p:nvPr/>
        </p:nvSpPr>
        <p:spPr>
          <a:xfrm>
            <a:off x="10515600" y="2852928"/>
            <a:ext cx="1005840" cy="237744"/>
          </a:xfrm>
          <a:prstGeom prst="rect">
            <a:avLst/>
          </a:prstGeom>
          <a:noFill/>
          <a:ln/>
        </p:spPr>
        <p:txBody>
          <a:bodyPr wrap="square" lIns="0" tIns="0" rIns="0" bIns="0" rtlCol="0" anchor="ctr"/>
          <a:lstStyle/>
          <a:p>
            <a:pPr algn="ctr" indent="0" marL="0">
              <a:buNone/>
            </a:pPr>
            <a:r>
              <a:rPr lang="en-US" sz="750" b="1" spc="60" kern="0" dirty="0">
                <a:solidFill>
                  <a:srgbClr val="68707E"/>
                </a:solidFill>
                <a:latin typeface="Calibri" pitchFamily="34" charset="0"/>
                <a:ea typeface="Calibri" pitchFamily="34" charset="-122"/>
                <a:cs typeface="Calibri" pitchFamily="34" charset="-120"/>
              </a:rPr>
              <a:t>MILESTONE?</a:t>
            </a:r>
            <a:endParaRPr lang="en-US" sz="750" dirty="0"/>
          </a:p>
        </p:txBody>
      </p:sp>
      <p:sp>
        <p:nvSpPr>
          <p:cNvPr id="25" name="Shape 22"/>
          <p:cNvSpPr/>
          <p:nvPr/>
        </p:nvSpPr>
        <p:spPr>
          <a:xfrm>
            <a:off x="566928" y="3547872"/>
            <a:ext cx="11057839" cy="914400"/>
          </a:xfrm>
          <a:prstGeom prst="roundRect">
            <a:avLst>
              <a:gd name="adj" fmla="val 6000"/>
            </a:avLst>
          </a:prstGeom>
          <a:solidFill>
            <a:srgbClr val="FFFFFF"/>
          </a:solidFill>
          <a:ln w="9525">
            <a:solidFill>
              <a:srgbClr val="C7CBD2"/>
            </a:solidFill>
            <a:prstDash val="dash"/>
          </a:ln>
        </p:spPr>
      </p:sp>
      <p:sp>
        <p:nvSpPr>
          <p:cNvPr id="26" name="Text 23"/>
          <p:cNvSpPr/>
          <p:nvPr/>
        </p:nvSpPr>
        <p:spPr>
          <a:xfrm>
            <a:off x="731520" y="3694176"/>
            <a:ext cx="749808" cy="329184"/>
          </a:xfrm>
          <a:prstGeom prst="rect">
            <a:avLst/>
          </a:prstGeom>
          <a:noFill/>
          <a:ln/>
        </p:spPr>
        <p:txBody>
          <a:bodyPr wrap="square" lIns="0" tIns="0" rIns="0" bIns="0" rtlCol="0" anchor="ctr"/>
          <a:lstStyle/>
          <a:p>
            <a:pPr indent="0" marL="0">
              <a:buNone/>
            </a:pPr>
            <a:r>
              <a:rPr lang="en-US" sz="1900" dirty="0">
                <a:solidFill>
                  <a:srgbClr val="C7CBD2"/>
                </a:solidFill>
                <a:latin typeface="Georgia" pitchFamily="34" charset="0"/>
                <a:ea typeface="Georgia" pitchFamily="34" charset="-122"/>
                <a:cs typeface="Georgia" pitchFamily="34" charset="-120"/>
              </a:rPr>
              <a:t>W03</a:t>
            </a:r>
            <a:endParaRPr lang="en-US" sz="1900" dirty="0"/>
          </a:p>
        </p:txBody>
      </p:sp>
      <p:sp>
        <p:nvSpPr>
          <p:cNvPr id="27" name="Text 24"/>
          <p:cNvSpPr/>
          <p:nvPr/>
        </p:nvSpPr>
        <p:spPr>
          <a:xfrm>
            <a:off x="731520" y="4041648"/>
            <a:ext cx="822960" cy="219456"/>
          </a:xfrm>
          <a:prstGeom prst="rect">
            <a:avLst/>
          </a:prstGeom>
          <a:noFill/>
          <a:ln/>
        </p:spPr>
        <p:txBody>
          <a:bodyPr wrap="square" lIns="0" tIns="0" rIns="0" bIns="0" rtlCol="0" anchor="ctr"/>
          <a:lstStyle/>
          <a:p>
            <a:pPr indent="0" marL="0">
              <a:buNone/>
            </a:pPr>
            <a:r>
              <a:rPr lang="en-US" sz="850" dirty="0">
                <a:solidFill>
                  <a:srgbClr val="C7CBD2"/>
                </a:solidFill>
                <a:latin typeface="Calibri" pitchFamily="34" charset="0"/>
                <a:ea typeface="Calibri" pitchFamily="34" charset="-122"/>
                <a:cs typeface="Calibri" pitchFamily="34" charset="-120"/>
              </a:rPr>
              <a:t>[ dates ]</a:t>
            </a:r>
            <a:endParaRPr lang="en-US" sz="850" dirty="0"/>
          </a:p>
        </p:txBody>
      </p:sp>
      <p:sp>
        <p:nvSpPr>
          <p:cNvPr id="28" name="Shape 25"/>
          <p:cNvSpPr/>
          <p:nvPr/>
        </p:nvSpPr>
        <p:spPr>
          <a:xfrm>
            <a:off x="1572768" y="3794760"/>
            <a:ext cx="420624" cy="420624"/>
          </a:xfrm>
          <a:prstGeom prst="roundRect">
            <a:avLst>
              <a:gd name="adj" fmla="val 10870"/>
            </a:avLst>
          </a:prstGeom>
          <a:solidFill>
            <a:srgbClr val="F5F4EF"/>
          </a:solidFill>
          <a:ln w="6350">
            <a:solidFill>
              <a:srgbClr val="F5F4EF"/>
            </a:solidFill>
            <a:prstDash val="solid"/>
          </a:ln>
        </p:spPr>
      </p:sp>
      <p:sp>
        <p:nvSpPr>
          <p:cNvPr id="29" name="Text 26"/>
          <p:cNvSpPr/>
          <p:nvPr/>
        </p:nvSpPr>
        <p:spPr>
          <a:xfrm>
            <a:off x="1572768" y="3794760"/>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M2</a:t>
            </a:r>
            <a:endParaRPr lang="en-US" sz="1150" dirty="0"/>
          </a:p>
        </p:txBody>
      </p:sp>
      <p:sp>
        <p:nvSpPr>
          <p:cNvPr id="30" name="Text 27"/>
          <p:cNvSpPr/>
          <p:nvPr/>
        </p:nvSpPr>
        <p:spPr>
          <a:xfrm>
            <a:off x="2176272" y="3675888"/>
            <a:ext cx="3474720" cy="676656"/>
          </a:xfrm>
          <a:prstGeom prst="rect">
            <a:avLst/>
          </a:prstGeom>
          <a:noFill/>
          <a:ln/>
        </p:spPr>
        <p:txBody>
          <a:bodyPr wrap="square" lIns="0" tIns="0" rIns="0" bIns="0" rtlCol="0" anchor="ctr"/>
          <a:lstStyle/>
          <a:p>
            <a:pPr indent="0" marL="0">
              <a:lnSpc>
                <a:spcPct val="105000"/>
              </a:lnSpc>
              <a:buNone/>
            </a:pPr>
            <a:r>
              <a:rPr lang="en-US" sz="1100" i="1" dirty="0">
                <a:solidFill>
                  <a:srgbClr val="9AA2AD"/>
                </a:solidFill>
                <a:latin typeface="Calibri" pitchFamily="34" charset="0"/>
                <a:ea typeface="Calibri" pitchFamily="34" charset="-122"/>
                <a:cs typeface="Calibri" pitchFamily="34" charset="-120"/>
              </a:rPr>
              <a:t>One line: what this week is for.</a:t>
            </a:r>
            <a:endParaRPr lang="en-US" sz="1100" dirty="0"/>
          </a:p>
        </p:txBody>
      </p:sp>
      <p:sp>
        <p:nvSpPr>
          <p:cNvPr id="31" name="Text 28"/>
          <p:cNvSpPr/>
          <p:nvPr/>
        </p:nvSpPr>
        <p:spPr>
          <a:xfrm>
            <a:off x="5806440" y="3675888"/>
            <a:ext cx="4590288" cy="676656"/>
          </a:xfrm>
          <a:prstGeom prst="rect">
            <a:avLst/>
          </a:prstGeom>
          <a:noFill/>
          <a:ln/>
        </p:spPr>
        <p:txBody>
          <a:bodyPr wrap="square" lIns="0" tIns="0" rIns="0" bIns="0" rtlCol="0" anchor="ctr"/>
          <a:lstStyle/>
          <a:p>
            <a:pPr indent="0" marL="0">
              <a:lnSpc>
                <a:spcPct val="108000"/>
              </a:lnSpc>
              <a:buNone/>
            </a:pPr>
            <a:r>
              <a:rPr lang="en-US" sz="1050" i="1" dirty="0">
                <a:solidFill>
                  <a:srgbClr val="9AA2AD"/>
                </a:solidFill>
                <a:latin typeface="Calibri" pitchFamily="34" charset="0"/>
                <a:ea typeface="Calibri" pitchFamily="34" charset="-122"/>
                <a:cs typeface="Calibri" pitchFamily="34" charset="-120"/>
              </a:rPr>
              <a:t>What ships, what it proves, and the thing that would show it was the wrong week's work. Name the file, route or dashboard where the answer appears.</a:t>
            </a:r>
            <a:endParaRPr lang="en-US" sz="1050" dirty="0"/>
          </a:p>
        </p:txBody>
      </p:sp>
      <p:sp>
        <p:nvSpPr>
          <p:cNvPr id="32" name="Shape 29"/>
          <p:cNvSpPr/>
          <p:nvPr/>
        </p:nvSpPr>
        <p:spPr>
          <a:xfrm>
            <a:off x="10515600" y="3886200"/>
            <a:ext cx="1005840" cy="237744"/>
          </a:xfrm>
          <a:prstGeom prst="roundRect">
            <a:avLst>
              <a:gd name="adj" fmla="val 11538"/>
            </a:avLst>
          </a:prstGeom>
          <a:solidFill>
            <a:srgbClr val="FFFFFF"/>
          </a:solidFill>
          <a:ln w="9525">
            <a:solidFill>
              <a:srgbClr val="C7CBD2"/>
            </a:solidFill>
            <a:prstDash val="dash"/>
          </a:ln>
        </p:spPr>
      </p:sp>
      <p:sp>
        <p:nvSpPr>
          <p:cNvPr id="33" name="Text 30"/>
          <p:cNvSpPr/>
          <p:nvPr/>
        </p:nvSpPr>
        <p:spPr>
          <a:xfrm>
            <a:off x="10515600" y="3886200"/>
            <a:ext cx="1005840" cy="237744"/>
          </a:xfrm>
          <a:prstGeom prst="rect">
            <a:avLst/>
          </a:prstGeom>
          <a:noFill/>
          <a:ln/>
        </p:spPr>
        <p:txBody>
          <a:bodyPr wrap="square" lIns="0" tIns="0" rIns="0" bIns="0" rtlCol="0" anchor="ctr"/>
          <a:lstStyle/>
          <a:p>
            <a:pPr algn="ctr" indent="0" marL="0">
              <a:buNone/>
            </a:pPr>
            <a:r>
              <a:rPr lang="en-US" sz="750" b="1" spc="60" kern="0" dirty="0">
                <a:solidFill>
                  <a:srgbClr val="68707E"/>
                </a:solidFill>
                <a:latin typeface="Calibri" pitchFamily="34" charset="0"/>
                <a:ea typeface="Calibri" pitchFamily="34" charset="-122"/>
                <a:cs typeface="Calibri" pitchFamily="34" charset="-120"/>
              </a:rPr>
              <a:t>MILESTONE?</a:t>
            </a:r>
            <a:endParaRPr lang="en-US" sz="750" dirty="0"/>
          </a:p>
        </p:txBody>
      </p:sp>
      <p:sp>
        <p:nvSpPr>
          <p:cNvPr id="34" name="Shape 31"/>
          <p:cNvSpPr/>
          <p:nvPr/>
        </p:nvSpPr>
        <p:spPr>
          <a:xfrm>
            <a:off x="566928" y="4581144"/>
            <a:ext cx="11057839" cy="914400"/>
          </a:xfrm>
          <a:prstGeom prst="roundRect">
            <a:avLst>
              <a:gd name="adj" fmla="val 6000"/>
            </a:avLst>
          </a:prstGeom>
          <a:solidFill>
            <a:srgbClr val="FFFFFF"/>
          </a:solidFill>
          <a:ln w="9525">
            <a:solidFill>
              <a:srgbClr val="C7CBD2"/>
            </a:solidFill>
            <a:prstDash val="dash"/>
          </a:ln>
        </p:spPr>
      </p:sp>
      <p:sp>
        <p:nvSpPr>
          <p:cNvPr id="35" name="Text 32"/>
          <p:cNvSpPr/>
          <p:nvPr/>
        </p:nvSpPr>
        <p:spPr>
          <a:xfrm>
            <a:off x="731520" y="4727448"/>
            <a:ext cx="749808" cy="329184"/>
          </a:xfrm>
          <a:prstGeom prst="rect">
            <a:avLst/>
          </a:prstGeom>
          <a:noFill/>
          <a:ln/>
        </p:spPr>
        <p:txBody>
          <a:bodyPr wrap="square" lIns="0" tIns="0" rIns="0" bIns="0" rtlCol="0" anchor="ctr"/>
          <a:lstStyle/>
          <a:p>
            <a:pPr indent="0" marL="0">
              <a:buNone/>
            </a:pPr>
            <a:r>
              <a:rPr lang="en-US" sz="1900" dirty="0">
                <a:solidFill>
                  <a:srgbClr val="C7CBD2"/>
                </a:solidFill>
                <a:latin typeface="Georgia" pitchFamily="34" charset="0"/>
                <a:ea typeface="Georgia" pitchFamily="34" charset="-122"/>
                <a:cs typeface="Georgia" pitchFamily="34" charset="-120"/>
              </a:rPr>
              <a:t>W04</a:t>
            </a:r>
            <a:endParaRPr lang="en-US" sz="1900" dirty="0"/>
          </a:p>
        </p:txBody>
      </p:sp>
      <p:sp>
        <p:nvSpPr>
          <p:cNvPr id="36" name="Text 33"/>
          <p:cNvSpPr/>
          <p:nvPr/>
        </p:nvSpPr>
        <p:spPr>
          <a:xfrm>
            <a:off x="731520" y="5074920"/>
            <a:ext cx="822960" cy="219456"/>
          </a:xfrm>
          <a:prstGeom prst="rect">
            <a:avLst/>
          </a:prstGeom>
          <a:noFill/>
          <a:ln/>
        </p:spPr>
        <p:txBody>
          <a:bodyPr wrap="square" lIns="0" tIns="0" rIns="0" bIns="0" rtlCol="0" anchor="ctr"/>
          <a:lstStyle/>
          <a:p>
            <a:pPr indent="0" marL="0">
              <a:buNone/>
            </a:pPr>
            <a:r>
              <a:rPr lang="en-US" sz="850" dirty="0">
                <a:solidFill>
                  <a:srgbClr val="C7CBD2"/>
                </a:solidFill>
                <a:latin typeface="Calibri" pitchFamily="34" charset="0"/>
                <a:ea typeface="Calibri" pitchFamily="34" charset="-122"/>
                <a:cs typeface="Calibri" pitchFamily="34" charset="-120"/>
              </a:rPr>
              <a:t>[ dates ]</a:t>
            </a:r>
            <a:endParaRPr lang="en-US" sz="850" dirty="0"/>
          </a:p>
        </p:txBody>
      </p:sp>
      <p:sp>
        <p:nvSpPr>
          <p:cNvPr id="37" name="Shape 34"/>
          <p:cNvSpPr/>
          <p:nvPr/>
        </p:nvSpPr>
        <p:spPr>
          <a:xfrm>
            <a:off x="1572768" y="4828032"/>
            <a:ext cx="420624" cy="420624"/>
          </a:xfrm>
          <a:prstGeom prst="roundRect">
            <a:avLst>
              <a:gd name="adj" fmla="val 10870"/>
            </a:avLst>
          </a:prstGeom>
          <a:solidFill>
            <a:srgbClr val="F5F4EF"/>
          </a:solidFill>
          <a:ln w="6350">
            <a:solidFill>
              <a:srgbClr val="F5F4EF"/>
            </a:solidFill>
            <a:prstDash val="solid"/>
          </a:ln>
        </p:spPr>
      </p:sp>
      <p:sp>
        <p:nvSpPr>
          <p:cNvPr id="38" name="Text 35"/>
          <p:cNvSpPr/>
          <p:nvPr/>
        </p:nvSpPr>
        <p:spPr>
          <a:xfrm>
            <a:off x="1572768" y="4828032"/>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M2</a:t>
            </a:r>
            <a:endParaRPr lang="en-US" sz="1150" dirty="0"/>
          </a:p>
        </p:txBody>
      </p:sp>
      <p:sp>
        <p:nvSpPr>
          <p:cNvPr id="39" name="Text 36"/>
          <p:cNvSpPr/>
          <p:nvPr/>
        </p:nvSpPr>
        <p:spPr>
          <a:xfrm>
            <a:off x="2176272" y="4709160"/>
            <a:ext cx="3474720" cy="676656"/>
          </a:xfrm>
          <a:prstGeom prst="rect">
            <a:avLst/>
          </a:prstGeom>
          <a:noFill/>
          <a:ln/>
        </p:spPr>
        <p:txBody>
          <a:bodyPr wrap="square" lIns="0" tIns="0" rIns="0" bIns="0" rtlCol="0" anchor="ctr"/>
          <a:lstStyle/>
          <a:p>
            <a:pPr indent="0" marL="0">
              <a:lnSpc>
                <a:spcPct val="105000"/>
              </a:lnSpc>
              <a:buNone/>
            </a:pPr>
            <a:r>
              <a:rPr lang="en-US" sz="1100" i="1" dirty="0">
                <a:solidFill>
                  <a:srgbClr val="9AA2AD"/>
                </a:solidFill>
                <a:latin typeface="Calibri" pitchFamily="34" charset="0"/>
                <a:ea typeface="Calibri" pitchFamily="34" charset="-122"/>
                <a:cs typeface="Calibri" pitchFamily="34" charset="-120"/>
              </a:rPr>
              <a:t>One line: what this week is for.</a:t>
            </a:r>
            <a:endParaRPr lang="en-US" sz="1100" dirty="0"/>
          </a:p>
        </p:txBody>
      </p:sp>
      <p:sp>
        <p:nvSpPr>
          <p:cNvPr id="40" name="Text 37"/>
          <p:cNvSpPr/>
          <p:nvPr/>
        </p:nvSpPr>
        <p:spPr>
          <a:xfrm>
            <a:off x="5806440" y="4709160"/>
            <a:ext cx="4590288" cy="676656"/>
          </a:xfrm>
          <a:prstGeom prst="rect">
            <a:avLst/>
          </a:prstGeom>
          <a:noFill/>
          <a:ln/>
        </p:spPr>
        <p:txBody>
          <a:bodyPr wrap="square" lIns="0" tIns="0" rIns="0" bIns="0" rtlCol="0" anchor="ctr"/>
          <a:lstStyle/>
          <a:p>
            <a:pPr indent="0" marL="0">
              <a:lnSpc>
                <a:spcPct val="108000"/>
              </a:lnSpc>
              <a:buNone/>
            </a:pPr>
            <a:r>
              <a:rPr lang="en-US" sz="1050" i="1" dirty="0">
                <a:solidFill>
                  <a:srgbClr val="9AA2AD"/>
                </a:solidFill>
                <a:latin typeface="Calibri" pitchFamily="34" charset="0"/>
                <a:ea typeface="Calibri" pitchFamily="34" charset="-122"/>
                <a:cs typeface="Calibri" pitchFamily="34" charset="-120"/>
              </a:rPr>
              <a:t>What ships, what it proves, and the thing that would show it was the wrong week's work. Name the file, route or dashboard where the answer appears.</a:t>
            </a:r>
            <a:endParaRPr lang="en-US" sz="1050" dirty="0"/>
          </a:p>
        </p:txBody>
      </p:sp>
      <p:sp>
        <p:nvSpPr>
          <p:cNvPr id="41" name="Shape 38"/>
          <p:cNvSpPr/>
          <p:nvPr/>
        </p:nvSpPr>
        <p:spPr>
          <a:xfrm>
            <a:off x="10515600" y="4919472"/>
            <a:ext cx="1005840" cy="237744"/>
          </a:xfrm>
          <a:prstGeom prst="roundRect">
            <a:avLst>
              <a:gd name="adj" fmla="val 11538"/>
            </a:avLst>
          </a:prstGeom>
          <a:solidFill>
            <a:srgbClr val="FFFFFF"/>
          </a:solidFill>
          <a:ln w="9525">
            <a:solidFill>
              <a:srgbClr val="C7CBD2"/>
            </a:solidFill>
            <a:prstDash val="dash"/>
          </a:ln>
        </p:spPr>
      </p:sp>
      <p:sp>
        <p:nvSpPr>
          <p:cNvPr id="42" name="Text 39"/>
          <p:cNvSpPr/>
          <p:nvPr/>
        </p:nvSpPr>
        <p:spPr>
          <a:xfrm>
            <a:off x="10515600" y="4919472"/>
            <a:ext cx="1005840" cy="237744"/>
          </a:xfrm>
          <a:prstGeom prst="rect">
            <a:avLst/>
          </a:prstGeom>
          <a:noFill/>
          <a:ln/>
        </p:spPr>
        <p:txBody>
          <a:bodyPr wrap="square" lIns="0" tIns="0" rIns="0" bIns="0" rtlCol="0" anchor="ctr"/>
          <a:lstStyle/>
          <a:p>
            <a:pPr algn="ctr" indent="0" marL="0">
              <a:buNone/>
            </a:pPr>
            <a:r>
              <a:rPr lang="en-US" sz="750" b="1" spc="60" kern="0" dirty="0">
                <a:solidFill>
                  <a:srgbClr val="68707E"/>
                </a:solidFill>
                <a:latin typeface="Calibri" pitchFamily="34" charset="0"/>
                <a:ea typeface="Calibri" pitchFamily="34" charset="-122"/>
                <a:cs typeface="Calibri" pitchFamily="34" charset="-120"/>
              </a:rPr>
              <a:t>MILESTONE?</a:t>
            </a:r>
            <a:endParaRPr lang="en-US" sz="750" dirty="0"/>
          </a:p>
        </p:txBody>
      </p:sp>
      <p:sp>
        <p:nvSpPr>
          <p:cNvPr id="43" name="Shape 40"/>
          <p:cNvSpPr/>
          <p:nvPr/>
        </p:nvSpPr>
        <p:spPr>
          <a:xfrm>
            <a:off x="566928" y="5632704"/>
            <a:ext cx="11057839" cy="566928"/>
          </a:xfrm>
          <a:prstGeom prst="roundRect">
            <a:avLst>
              <a:gd name="adj" fmla="val 9677"/>
            </a:avLst>
          </a:prstGeom>
          <a:solidFill>
            <a:srgbClr val="FFFFFF"/>
          </a:solidFill>
          <a:ln w="9525">
            <a:solidFill>
              <a:srgbClr val="C7CBD2"/>
            </a:solidFill>
            <a:prstDash val="dash"/>
          </a:ln>
        </p:spPr>
      </p:sp>
      <p:sp>
        <p:nvSpPr>
          <p:cNvPr id="44" name="Text 41"/>
          <p:cNvSpPr/>
          <p:nvPr/>
        </p:nvSpPr>
        <p:spPr>
          <a:xfrm>
            <a:off x="749808" y="5733288"/>
            <a:ext cx="4572000" cy="201168"/>
          </a:xfrm>
          <a:prstGeom prst="rect">
            <a:avLst/>
          </a:prstGeom>
          <a:noFill/>
          <a:ln/>
        </p:spPr>
        <p:txBody>
          <a:bodyPr wrap="square" lIns="0" tIns="0" rIns="0" bIns="0" rtlCol="0" anchor="ctr"/>
          <a:lstStyle/>
          <a:p>
            <a:pPr indent="0" marL="0">
              <a:buNone/>
            </a:pPr>
            <a:r>
              <a:rPr lang="en-US" sz="950" b="1" spc="130" kern="0" dirty="0">
                <a:solidFill>
                  <a:srgbClr val="C7CBD2"/>
                </a:solidFill>
                <a:latin typeface="Calibri" pitchFamily="34" charset="0"/>
                <a:ea typeface="Calibri" pitchFamily="34" charset="-122"/>
                <a:cs typeface="Calibri" pitchFamily="34" charset="-120"/>
              </a:rPr>
              <a:t>WHAT THIS BLOCK IS JUDGED ON</a:t>
            </a:r>
            <a:endParaRPr lang="en-US" sz="950" dirty="0"/>
          </a:p>
        </p:txBody>
      </p:sp>
      <p:sp>
        <p:nvSpPr>
          <p:cNvPr id="45" name="Text 42"/>
          <p:cNvSpPr/>
          <p:nvPr/>
        </p:nvSpPr>
        <p:spPr>
          <a:xfrm>
            <a:off x="749808" y="5897880"/>
            <a:ext cx="10692079" cy="237744"/>
          </a:xfrm>
          <a:prstGeom prst="rect">
            <a:avLst/>
          </a:prstGeom>
          <a:noFill/>
          <a:ln/>
        </p:spPr>
        <p:txBody>
          <a:bodyPr wrap="square" lIns="0" tIns="0" rIns="0" bIns="0" rtlCol="0" anchor="ctr"/>
          <a:lstStyle/>
          <a:p>
            <a:pPr indent="0" marL="0">
              <a:buNone/>
            </a:pPr>
            <a:r>
              <a:rPr lang="en-US" sz="1050" i="1" dirty="0">
                <a:solidFill>
                  <a:srgbClr val="9AA2AD"/>
                </a:solidFill>
                <a:latin typeface="Calibri" pitchFamily="34" charset="0"/>
                <a:ea typeface="Calibri" pitchFamily="34" charset="-122"/>
                <a:cs typeface="Calibri" pitchFamily="34" charset="-120"/>
              </a:rPr>
              <a:t>One sentence. Not a summary of the four rows — the reason they are in this order.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566928" y="384048"/>
            <a:ext cx="11057839" cy="219456"/>
          </a:xfrm>
          <a:prstGeom prst="rect">
            <a:avLst/>
          </a:prstGeom>
          <a:noFill/>
          <a:ln/>
        </p:spPr>
        <p:txBody>
          <a:bodyPr wrap="square" lIns="0" tIns="0" rIns="0" bIns="0" rtlCol="0" anchor="ctr"/>
          <a:lstStyle/>
          <a:p>
            <a:pPr indent="0" marL="0">
              <a:buNone/>
            </a:pPr>
            <a:r>
              <a:rPr lang="en-US" sz="1000" b="1" spc="150" kern="0" dirty="0">
                <a:solidFill>
                  <a:srgbClr val="B91C1C"/>
                </a:solidFill>
                <a:latin typeface="Calibri" pitchFamily="34" charset="0"/>
                <a:ea typeface="Calibri" pitchFamily="34" charset="-122"/>
                <a:cs typeface="Calibri" pitchFamily="34" charset="-120"/>
              </a:rPr>
              <a:t>M3 [ MILESTONE ]  ·  M4 [ MILESTONE ]</a:t>
            </a:r>
            <a:endParaRPr lang="en-US" sz="1000" dirty="0"/>
          </a:p>
        </p:txBody>
      </p:sp>
      <p:sp>
        <p:nvSpPr>
          <p:cNvPr id="3" name="Text 1"/>
          <p:cNvSpPr/>
          <p:nvPr/>
        </p:nvSpPr>
        <p:spPr>
          <a:xfrm>
            <a:off x="566928" y="621792"/>
            <a:ext cx="11057839" cy="566928"/>
          </a:xfrm>
          <a:prstGeom prst="rect">
            <a:avLst/>
          </a:prstGeom>
          <a:noFill/>
          <a:ln/>
        </p:spPr>
        <p:txBody>
          <a:bodyPr wrap="square" lIns="0" tIns="0" rIns="0" bIns="0" rtlCol="0" anchor="ctr"/>
          <a:lstStyle/>
          <a:p>
            <a:pPr indent="0" marL="0">
              <a:buNone/>
            </a:pPr>
            <a:r>
              <a:rPr lang="en-US" sz="3000" dirty="0">
                <a:solidFill>
                  <a:srgbClr val="1A2433"/>
                </a:solidFill>
                <a:latin typeface="Georgia" pitchFamily="34" charset="0"/>
                <a:ea typeface="Georgia" pitchFamily="34" charset="-122"/>
                <a:cs typeface="Georgia" pitchFamily="34" charset="-120"/>
              </a:rPr>
              <a:t>Weeks 5–8  ·  [ what this block is for ]</a:t>
            </a:r>
            <a:endParaRPr lang="en-US" sz="3000" dirty="0"/>
          </a:p>
        </p:txBody>
      </p:sp>
      <p:pic>
        <p:nvPicPr>
          <p:cNvPr id="4" name="Image 0" descr="preencoded.png">    </p:cNvPr>
          <p:cNvPicPr>
            <a:picLocks noChangeAspect="1"/>
          </p:cNvPicPr>
          <p:nvPr/>
        </p:nvPicPr>
        <p:blipFill>
          <a:blip r:embed="rId1"/>
          <a:stretch>
            <a:fillRect/>
          </a:stretch>
        </p:blipFill>
        <p:spPr>
          <a:xfrm>
            <a:off x="566928" y="6373368"/>
            <a:ext cx="162560" cy="162560"/>
          </a:xfrm>
          <a:prstGeom prst="rect">
            <a:avLst/>
          </a:prstGeom>
        </p:spPr>
      </p:pic>
      <p:sp>
        <p:nvSpPr>
          <p:cNvPr id="5" name="Text 2"/>
          <p:cNvSpPr/>
          <p:nvPr/>
        </p:nvSpPr>
        <p:spPr>
          <a:xfrm>
            <a:off x="793496" y="6345936"/>
            <a:ext cx="2194560" cy="217424"/>
          </a:xfrm>
          <a:prstGeom prst="rect">
            <a:avLst/>
          </a:prstGeom>
          <a:noFill/>
          <a:ln/>
        </p:spPr>
        <p:txBody>
          <a:bodyPr wrap="square" lIns="0" tIns="0" rIns="0" bIns="0" rtlCol="0" anchor="ctr"/>
          <a:lstStyle/>
          <a:p>
            <a:pPr indent="0" marL="0">
              <a:buNone/>
            </a:pPr>
            <a:r>
              <a:rPr lang="en-US" sz="800" b="1" spc="104" kern="0" dirty="0">
                <a:solidFill>
                  <a:srgbClr val="1A2433"/>
                </a:solidFill>
                <a:latin typeface="Calibri" pitchFamily="34" charset="0"/>
                <a:ea typeface="Calibri" pitchFamily="34" charset="-122"/>
                <a:cs typeface="Calibri" pitchFamily="34" charset="-120"/>
              </a:rPr>
              <a:t>COMP</a:t>
            </a:r>
            <a:pPr indent="0" marL="0">
              <a:buNone/>
            </a:pPr>
            <a:r>
              <a:rPr lang="en-US" sz="800" b="1" spc="104" kern="0" dirty="0">
                <a:solidFill>
                  <a:srgbClr val="B91C1C"/>
                </a:solidFill>
                <a:latin typeface="Calibri" pitchFamily="34" charset="0"/>
                <a:ea typeface="Calibri" pitchFamily="34" charset="-122"/>
                <a:cs typeface="Calibri" pitchFamily="34" charset="-120"/>
              </a:rPr>
              <a:t>NINJA</a:t>
            </a:r>
            <a:endParaRPr lang="en-US" sz="800" dirty="0"/>
          </a:p>
        </p:txBody>
      </p:sp>
      <p:sp>
        <p:nvSpPr>
          <p:cNvPr id="6" name="Text 3"/>
          <p:cNvSpPr/>
          <p:nvPr/>
        </p:nvSpPr>
        <p:spPr>
          <a:xfrm>
            <a:off x="10527487" y="6355080"/>
            <a:ext cx="1097280" cy="256032"/>
          </a:xfrm>
          <a:prstGeom prst="rect">
            <a:avLst/>
          </a:prstGeom>
          <a:noFill/>
          <a:ln/>
        </p:spPr>
        <p:txBody>
          <a:bodyPr wrap="square" lIns="0" tIns="0" rIns="0" bIns="0" rtlCol="0" anchor="ctr"/>
          <a:lstStyle/>
          <a:p>
            <a:pPr algn="r" indent="0" marL="0">
              <a:buNone/>
            </a:pPr>
            <a:r>
              <a:rPr lang="en-US" sz="950" dirty="0">
                <a:solidFill>
                  <a:srgbClr val="9AA2AD"/>
                </a:solidFill>
                <a:latin typeface="Calibri" pitchFamily="34" charset="0"/>
                <a:ea typeface="Calibri" pitchFamily="34" charset="-122"/>
                <a:cs typeface="Calibri" pitchFamily="34" charset="-120"/>
              </a:rPr>
              <a:t>6</a:t>
            </a:r>
            <a:endParaRPr lang="en-US" sz="950" dirty="0"/>
          </a:p>
        </p:txBody>
      </p:sp>
      <p:sp>
        <p:nvSpPr>
          <p:cNvPr id="7" name="Shape 4"/>
          <p:cNvSpPr/>
          <p:nvPr/>
        </p:nvSpPr>
        <p:spPr>
          <a:xfrm>
            <a:off x="566928" y="1481328"/>
            <a:ext cx="11057839" cy="914400"/>
          </a:xfrm>
          <a:prstGeom prst="roundRect">
            <a:avLst>
              <a:gd name="adj" fmla="val 6000"/>
            </a:avLst>
          </a:prstGeom>
          <a:solidFill>
            <a:srgbClr val="FFFFFF"/>
          </a:solidFill>
          <a:ln w="9525">
            <a:solidFill>
              <a:srgbClr val="C7CBD2"/>
            </a:solidFill>
            <a:prstDash val="dash"/>
          </a:ln>
        </p:spPr>
      </p:sp>
      <p:sp>
        <p:nvSpPr>
          <p:cNvPr id="8" name="Text 5"/>
          <p:cNvSpPr/>
          <p:nvPr/>
        </p:nvSpPr>
        <p:spPr>
          <a:xfrm>
            <a:off x="731520" y="1627632"/>
            <a:ext cx="749808" cy="329184"/>
          </a:xfrm>
          <a:prstGeom prst="rect">
            <a:avLst/>
          </a:prstGeom>
          <a:noFill/>
          <a:ln/>
        </p:spPr>
        <p:txBody>
          <a:bodyPr wrap="square" lIns="0" tIns="0" rIns="0" bIns="0" rtlCol="0" anchor="ctr"/>
          <a:lstStyle/>
          <a:p>
            <a:pPr indent="0" marL="0">
              <a:buNone/>
            </a:pPr>
            <a:r>
              <a:rPr lang="en-US" sz="1900" dirty="0">
                <a:solidFill>
                  <a:srgbClr val="C7CBD2"/>
                </a:solidFill>
                <a:latin typeface="Georgia" pitchFamily="34" charset="0"/>
                <a:ea typeface="Georgia" pitchFamily="34" charset="-122"/>
                <a:cs typeface="Georgia" pitchFamily="34" charset="-120"/>
              </a:rPr>
              <a:t>W05</a:t>
            </a:r>
            <a:endParaRPr lang="en-US" sz="1900" dirty="0"/>
          </a:p>
        </p:txBody>
      </p:sp>
      <p:sp>
        <p:nvSpPr>
          <p:cNvPr id="9" name="Text 6"/>
          <p:cNvSpPr/>
          <p:nvPr/>
        </p:nvSpPr>
        <p:spPr>
          <a:xfrm>
            <a:off x="731520" y="1975104"/>
            <a:ext cx="822960" cy="219456"/>
          </a:xfrm>
          <a:prstGeom prst="rect">
            <a:avLst/>
          </a:prstGeom>
          <a:noFill/>
          <a:ln/>
        </p:spPr>
        <p:txBody>
          <a:bodyPr wrap="square" lIns="0" tIns="0" rIns="0" bIns="0" rtlCol="0" anchor="ctr"/>
          <a:lstStyle/>
          <a:p>
            <a:pPr indent="0" marL="0">
              <a:buNone/>
            </a:pPr>
            <a:r>
              <a:rPr lang="en-US" sz="850" dirty="0">
                <a:solidFill>
                  <a:srgbClr val="C7CBD2"/>
                </a:solidFill>
                <a:latin typeface="Calibri" pitchFamily="34" charset="0"/>
                <a:ea typeface="Calibri" pitchFamily="34" charset="-122"/>
                <a:cs typeface="Calibri" pitchFamily="34" charset="-120"/>
              </a:rPr>
              <a:t>[ dates ]</a:t>
            </a:r>
            <a:endParaRPr lang="en-US" sz="850" dirty="0"/>
          </a:p>
        </p:txBody>
      </p:sp>
      <p:sp>
        <p:nvSpPr>
          <p:cNvPr id="10" name="Shape 7"/>
          <p:cNvSpPr/>
          <p:nvPr/>
        </p:nvSpPr>
        <p:spPr>
          <a:xfrm>
            <a:off x="1572768" y="1728216"/>
            <a:ext cx="420624" cy="420624"/>
          </a:xfrm>
          <a:prstGeom prst="roundRect">
            <a:avLst>
              <a:gd name="adj" fmla="val 10870"/>
            </a:avLst>
          </a:prstGeom>
          <a:solidFill>
            <a:srgbClr val="F5F4EF"/>
          </a:solidFill>
          <a:ln w="6350">
            <a:solidFill>
              <a:srgbClr val="F5F4EF"/>
            </a:solidFill>
            <a:prstDash val="solid"/>
          </a:ln>
        </p:spPr>
      </p:sp>
      <p:sp>
        <p:nvSpPr>
          <p:cNvPr id="11" name="Text 8"/>
          <p:cNvSpPr/>
          <p:nvPr/>
        </p:nvSpPr>
        <p:spPr>
          <a:xfrm>
            <a:off x="1572768" y="1728216"/>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M3</a:t>
            </a:r>
            <a:endParaRPr lang="en-US" sz="1150" dirty="0"/>
          </a:p>
        </p:txBody>
      </p:sp>
      <p:sp>
        <p:nvSpPr>
          <p:cNvPr id="12" name="Text 9"/>
          <p:cNvSpPr/>
          <p:nvPr/>
        </p:nvSpPr>
        <p:spPr>
          <a:xfrm>
            <a:off x="2176272" y="1609344"/>
            <a:ext cx="3474720" cy="676656"/>
          </a:xfrm>
          <a:prstGeom prst="rect">
            <a:avLst/>
          </a:prstGeom>
          <a:noFill/>
          <a:ln/>
        </p:spPr>
        <p:txBody>
          <a:bodyPr wrap="square" lIns="0" tIns="0" rIns="0" bIns="0" rtlCol="0" anchor="ctr"/>
          <a:lstStyle/>
          <a:p>
            <a:pPr indent="0" marL="0">
              <a:lnSpc>
                <a:spcPct val="105000"/>
              </a:lnSpc>
              <a:buNone/>
            </a:pPr>
            <a:r>
              <a:rPr lang="en-US" sz="1100" i="1" dirty="0">
                <a:solidFill>
                  <a:srgbClr val="9AA2AD"/>
                </a:solidFill>
                <a:latin typeface="Calibri" pitchFamily="34" charset="0"/>
                <a:ea typeface="Calibri" pitchFamily="34" charset="-122"/>
                <a:cs typeface="Calibri" pitchFamily="34" charset="-120"/>
              </a:rPr>
              <a:t>One line: what this week is for.</a:t>
            </a:r>
            <a:endParaRPr lang="en-US" sz="1100" dirty="0"/>
          </a:p>
        </p:txBody>
      </p:sp>
      <p:sp>
        <p:nvSpPr>
          <p:cNvPr id="13" name="Text 10"/>
          <p:cNvSpPr/>
          <p:nvPr/>
        </p:nvSpPr>
        <p:spPr>
          <a:xfrm>
            <a:off x="5806440" y="1609344"/>
            <a:ext cx="4590288" cy="676656"/>
          </a:xfrm>
          <a:prstGeom prst="rect">
            <a:avLst/>
          </a:prstGeom>
          <a:noFill/>
          <a:ln/>
        </p:spPr>
        <p:txBody>
          <a:bodyPr wrap="square" lIns="0" tIns="0" rIns="0" bIns="0" rtlCol="0" anchor="ctr"/>
          <a:lstStyle/>
          <a:p>
            <a:pPr indent="0" marL="0">
              <a:lnSpc>
                <a:spcPct val="108000"/>
              </a:lnSpc>
              <a:buNone/>
            </a:pPr>
            <a:r>
              <a:rPr lang="en-US" sz="1050" i="1" dirty="0">
                <a:solidFill>
                  <a:srgbClr val="9AA2AD"/>
                </a:solidFill>
                <a:latin typeface="Calibri" pitchFamily="34" charset="0"/>
                <a:ea typeface="Calibri" pitchFamily="34" charset="-122"/>
                <a:cs typeface="Calibri" pitchFamily="34" charset="-120"/>
              </a:rPr>
              <a:t>What ships, what it proves, and the thing that would show it was the wrong week's work. Name the file, route or dashboard where the answer appears.</a:t>
            </a:r>
            <a:endParaRPr lang="en-US" sz="1050" dirty="0"/>
          </a:p>
        </p:txBody>
      </p:sp>
      <p:sp>
        <p:nvSpPr>
          <p:cNvPr id="14" name="Shape 11"/>
          <p:cNvSpPr/>
          <p:nvPr/>
        </p:nvSpPr>
        <p:spPr>
          <a:xfrm>
            <a:off x="10515600" y="1819656"/>
            <a:ext cx="1005840" cy="237744"/>
          </a:xfrm>
          <a:prstGeom prst="roundRect">
            <a:avLst>
              <a:gd name="adj" fmla="val 11538"/>
            </a:avLst>
          </a:prstGeom>
          <a:solidFill>
            <a:srgbClr val="FFFFFF"/>
          </a:solidFill>
          <a:ln w="9525">
            <a:solidFill>
              <a:srgbClr val="C7CBD2"/>
            </a:solidFill>
            <a:prstDash val="dash"/>
          </a:ln>
        </p:spPr>
      </p:sp>
      <p:sp>
        <p:nvSpPr>
          <p:cNvPr id="15" name="Text 12"/>
          <p:cNvSpPr/>
          <p:nvPr/>
        </p:nvSpPr>
        <p:spPr>
          <a:xfrm>
            <a:off x="10515600" y="1819656"/>
            <a:ext cx="1005840" cy="237744"/>
          </a:xfrm>
          <a:prstGeom prst="rect">
            <a:avLst/>
          </a:prstGeom>
          <a:noFill/>
          <a:ln/>
        </p:spPr>
        <p:txBody>
          <a:bodyPr wrap="square" lIns="0" tIns="0" rIns="0" bIns="0" rtlCol="0" anchor="ctr"/>
          <a:lstStyle/>
          <a:p>
            <a:pPr algn="ctr" indent="0" marL="0">
              <a:buNone/>
            </a:pPr>
            <a:r>
              <a:rPr lang="en-US" sz="750" b="1" spc="60" kern="0" dirty="0">
                <a:solidFill>
                  <a:srgbClr val="68707E"/>
                </a:solidFill>
                <a:latin typeface="Calibri" pitchFamily="34" charset="0"/>
                <a:ea typeface="Calibri" pitchFamily="34" charset="-122"/>
                <a:cs typeface="Calibri" pitchFamily="34" charset="-120"/>
              </a:rPr>
              <a:t>MILESTONE?</a:t>
            </a:r>
            <a:endParaRPr lang="en-US" sz="750" dirty="0"/>
          </a:p>
        </p:txBody>
      </p:sp>
      <p:sp>
        <p:nvSpPr>
          <p:cNvPr id="16" name="Shape 13"/>
          <p:cNvSpPr/>
          <p:nvPr/>
        </p:nvSpPr>
        <p:spPr>
          <a:xfrm>
            <a:off x="566928" y="2514600"/>
            <a:ext cx="11057839" cy="914400"/>
          </a:xfrm>
          <a:prstGeom prst="roundRect">
            <a:avLst>
              <a:gd name="adj" fmla="val 6000"/>
            </a:avLst>
          </a:prstGeom>
          <a:solidFill>
            <a:srgbClr val="FFFFFF"/>
          </a:solidFill>
          <a:ln w="9525">
            <a:solidFill>
              <a:srgbClr val="C7CBD2"/>
            </a:solidFill>
            <a:prstDash val="dash"/>
          </a:ln>
        </p:spPr>
      </p:sp>
      <p:sp>
        <p:nvSpPr>
          <p:cNvPr id="17" name="Text 14"/>
          <p:cNvSpPr/>
          <p:nvPr/>
        </p:nvSpPr>
        <p:spPr>
          <a:xfrm>
            <a:off x="731520" y="2660904"/>
            <a:ext cx="749808" cy="329184"/>
          </a:xfrm>
          <a:prstGeom prst="rect">
            <a:avLst/>
          </a:prstGeom>
          <a:noFill/>
          <a:ln/>
        </p:spPr>
        <p:txBody>
          <a:bodyPr wrap="square" lIns="0" tIns="0" rIns="0" bIns="0" rtlCol="0" anchor="ctr"/>
          <a:lstStyle/>
          <a:p>
            <a:pPr indent="0" marL="0">
              <a:buNone/>
            </a:pPr>
            <a:r>
              <a:rPr lang="en-US" sz="1900" dirty="0">
                <a:solidFill>
                  <a:srgbClr val="C7CBD2"/>
                </a:solidFill>
                <a:latin typeface="Georgia" pitchFamily="34" charset="0"/>
                <a:ea typeface="Georgia" pitchFamily="34" charset="-122"/>
                <a:cs typeface="Georgia" pitchFamily="34" charset="-120"/>
              </a:rPr>
              <a:t>W06</a:t>
            </a:r>
            <a:endParaRPr lang="en-US" sz="1900" dirty="0"/>
          </a:p>
        </p:txBody>
      </p:sp>
      <p:sp>
        <p:nvSpPr>
          <p:cNvPr id="18" name="Text 15"/>
          <p:cNvSpPr/>
          <p:nvPr/>
        </p:nvSpPr>
        <p:spPr>
          <a:xfrm>
            <a:off x="731520" y="3008376"/>
            <a:ext cx="822960" cy="219456"/>
          </a:xfrm>
          <a:prstGeom prst="rect">
            <a:avLst/>
          </a:prstGeom>
          <a:noFill/>
          <a:ln/>
        </p:spPr>
        <p:txBody>
          <a:bodyPr wrap="square" lIns="0" tIns="0" rIns="0" bIns="0" rtlCol="0" anchor="ctr"/>
          <a:lstStyle/>
          <a:p>
            <a:pPr indent="0" marL="0">
              <a:buNone/>
            </a:pPr>
            <a:r>
              <a:rPr lang="en-US" sz="850" dirty="0">
                <a:solidFill>
                  <a:srgbClr val="C7CBD2"/>
                </a:solidFill>
                <a:latin typeface="Calibri" pitchFamily="34" charset="0"/>
                <a:ea typeface="Calibri" pitchFamily="34" charset="-122"/>
                <a:cs typeface="Calibri" pitchFamily="34" charset="-120"/>
              </a:rPr>
              <a:t>[ dates ]</a:t>
            </a:r>
            <a:endParaRPr lang="en-US" sz="850" dirty="0"/>
          </a:p>
        </p:txBody>
      </p:sp>
      <p:sp>
        <p:nvSpPr>
          <p:cNvPr id="19" name="Shape 16"/>
          <p:cNvSpPr/>
          <p:nvPr/>
        </p:nvSpPr>
        <p:spPr>
          <a:xfrm>
            <a:off x="1572768" y="2761488"/>
            <a:ext cx="420624" cy="420624"/>
          </a:xfrm>
          <a:prstGeom prst="roundRect">
            <a:avLst>
              <a:gd name="adj" fmla="val 10870"/>
            </a:avLst>
          </a:prstGeom>
          <a:solidFill>
            <a:srgbClr val="F5F4EF"/>
          </a:solidFill>
          <a:ln w="6350">
            <a:solidFill>
              <a:srgbClr val="F5F4EF"/>
            </a:solidFill>
            <a:prstDash val="solid"/>
          </a:ln>
        </p:spPr>
      </p:sp>
      <p:sp>
        <p:nvSpPr>
          <p:cNvPr id="20" name="Text 17"/>
          <p:cNvSpPr/>
          <p:nvPr/>
        </p:nvSpPr>
        <p:spPr>
          <a:xfrm>
            <a:off x="1572768" y="2761488"/>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M3</a:t>
            </a:r>
            <a:endParaRPr lang="en-US" sz="1150" dirty="0"/>
          </a:p>
        </p:txBody>
      </p:sp>
      <p:sp>
        <p:nvSpPr>
          <p:cNvPr id="21" name="Text 18"/>
          <p:cNvSpPr/>
          <p:nvPr/>
        </p:nvSpPr>
        <p:spPr>
          <a:xfrm>
            <a:off x="2176272" y="2642616"/>
            <a:ext cx="3474720" cy="676656"/>
          </a:xfrm>
          <a:prstGeom prst="rect">
            <a:avLst/>
          </a:prstGeom>
          <a:noFill/>
          <a:ln/>
        </p:spPr>
        <p:txBody>
          <a:bodyPr wrap="square" lIns="0" tIns="0" rIns="0" bIns="0" rtlCol="0" anchor="ctr"/>
          <a:lstStyle/>
          <a:p>
            <a:pPr indent="0" marL="0">
              <a:lnSpc>
                <a:spcPct val="105000"/>
              </a:lnSpc>
              <a:buNone/>
            </a:pPr>
            <a:r>
              <a:rPr lang="en-US" sz="1100" i="1" dirty="0">
                <a:solidFill>
                  <a:srgbClr val="9AA2AD"/>
                </a:solidFill>
                <a:latin typeface="Calibri" pitchFamily="34" charset="0"/>
                <a:ea typeface="Calibri" pitchFamily="34" charset="-122"/>
                <a:cs typeface="Calibri" pitchFamily="34" charset="-120"/>
              </a:rPr>
              <a:t>One line: what this week is for.</a:t>
            </a:r>
            <a:endParaRPr lang="en-US" sz="1100" dirty="0"/>
          </a:p>
        </p:txBody>
      </p:sp>
      <p:sp>
        <p:nvSpPr>
          <p:cNvPr id="22" name="Text 19"/>
          <p:cNvSpPr/>
          <p:nvPr/>
        </p:nvSpPr>
        <p:spPr>
          <a:xfrm>
            <a:off x="5806440" y="2642616"/>
            <a:ext cx="4590288" cy="676656"/>
          </a:xfrm>
          <a:prstGeom prst="rect">
            <a:avLst/>
          </a:prstGeom>
          <a:noFill/>
          <a:ln/>
        </p:spPr>
        <p:txBody>
          <a:bodyPr wrap="square" lIns="0" tIns="0" rIns="0" bIns="0" rtlCol="0" anchor="ctr"/>
          <a:lstStyle/>
          <a:p>
            <a:pPr indent="0" marL="0">
              <a:lnSpc>
                <a:spcPct val="108000"/>
              </a:lnSpc>
              <a:buNone/>
            </a:pPr>
            <a:r>
              <a:rPr lang="en-US" sz="1050" i="1" dirty="0">
                <a:solidFill>
                  <a:srgbClr val="9AA2AD"/>
                </a:solidFill>
                <a:latin typeface="Calibri" pitchFamily="34" charset="0"/>
                <a:ea typeface="Calibri" pitchFamily="34" charset="-122"/>
                <a:cs typeface="Calibri" pitchFamily="34" charset="-120"/>
              </a:rPr>
              <a:t>What ships, what it proves, and the thing that would show it was the wrong week's work. Name the file, route or dashboard where the answer appears.</a:t>
            </a:r>
            <a:endParaRPr lang="en-US" sz="1050" dirty="0"/>
          </a:p>
        </p:txBody>
      </p:sp>
      <p:sp>
        <p:nvSpPr>
          <p:cNvPr id="23" name="Shape 20"/>
          <p:cNvSpPr/>
          <p:nvPr/>
        </p:nvSpPr>
        <p:spPr>
          <a:xfrm>
            <a:off x="10515600" y="2852928"/>
            <a:ext cx="1005840" cy="237744"/>
          </a:xfrm>
          <a:prstGeom prst="roundRect">
            <a:avLst>
              <a:gd name="adj" fmla="val 11538"/>
            </a:avLst>
          </a:prstGeom>
          <a:solidFill>
            <a:srgbClr val="FFFFFF"/>
          </a:solidFill>
          <a:ln w="9525">
            <a:solidFill>
              <a:srgbClr val="C7CBD2"/>
            </a:solidFill>
            <a:prstDash val="dash"/>
          </a:ln>
        </p:spPr>
      </p:sp>
      <p:sp>
        <p:nvSpPr>
          <p:cNvPr id="24" name="Text 21"/>
          <p:cNvSpPr/>
          <p:nvPr/>
        </p:nvSpPr>
        <p:spPr>
          <a:xfrm>
            <a:off x="10515600" y="2852928"/>
            <a:ext cx="1005840" cy="237744"/>
          </a:xfrm>
          <a:prstGeom prst="rect">
            <a:avLst/>
          </a:prstGeom>
          <a:noFill/>
          <a:ln/>
        </p:spPr>
        <p:txBody>
          <a:bodyPr wrap="square" lIns="0" tIns="0" rIns="0" bIns="0" rtlCol="0" anchor="ctr"/>
          <a:lstStyle/>
          <a:p>
            <a:pPr algn="ctr" indent="0" marL="0">
              <a:buNone/>
            </a:pPr>
            <a:r>
              <a:rPr lang="en-US" sz="750" b="1" spc="60" kern="0" dirty="0">
                <a:solidFill>
                  <a:srgbClr val="68707E"/>
                </a:solidFill>
                <a:latin typeface="Calibri" pitchFamily="34" charset="0"/>
                <a:ea typeface="Calibri" pitchFamily="34" charset="-122"/>
                <a:cs typeface="Calibri" pitchFamily="34" charset="-120"/>
              </a:rPr>
              <a:t>MILESTONE?</a:t>
            </a:r>
            <a:endParaRPr lang="en-US" sz="750" dirty="0"/>
          </a:p>
        </p:txBody>
      </p:sp>
      <p:sp>
        <p:nvSpPr>
          <p:cNvPr id="25" name="Shape 22"/>
          <p:cNvSpPr/>
          <p:nvPr/>
        </p:nvSpPr>
        <p:spPr>
          <a:xfrm>
            <a:off x="566928" y="3547872"/>
            <a:ext cx="11057839" cy="914400"/>
          </a:xfrm>
          <a:prstGeom prst="roundRect">
            <a:avLst>
              <a:gd name="adj" fmla="val 6000"/>
            </a:avLst>
          </a:prstGeom>
          <a:solidFill>
            <a:srgbClr val="FFFFFF"/>
          </a:solidFill>
          <a:ln w="9525">
            <a:solidFill>
              <a:srgbClr val="C7CBD2"/>
            </a:solidFill>
            <a:prstDash val="dash"/>
          </a:ln>
        </p:spPr>
      </p:sp>
      <p:sp>
        <p:nvSpPr>
          <p:cNvPr id="26" name="Text 23"/>
          <p:cNvSpPr/>
          <p:nvPr/>
        </p:nvSpPr>
        <p:spPr>
          <a:xfrm>
            <a:off x="731520" y="3694176"/>
            <a:ext cx="749808" cy="329184"/>
          </a:xfrm>
          <a:prstGeom prst="rect">
            <a:avLst/>
          </a:prstGeom>
          <a:noFill/>
          <a:ln/>
        </p:spPr>
        <p:txBody>
          <a:bodyPr wrap="square" lIns="0" tIns="0" rIns="0" bIns="0" rtlCol="0" anchor="ctr"/>
          <a:lstStyle/>
          <a:p>
            <a:pPr indent="0" marL="0">
              <a:buNone/>
            </a:pPr>
            <a:r>
              <a:rPr lang="en-US" sz="1900" dirty="0">
                <a:solidFill>
                  <a:srgbClr val="C7CBD2"/>
                </a:solidFill>
                <a:latin typeface="Georgia" pitchFamily="34" charset="0"/>
                <a:ea typeface="Georgia" pitchFamily="34" charset="-122"/>
                <a:cs typeface="Georgia" pitchFamily="34" charset="-120"/>
              </a:rPr>
              <a:t>W07</a:t>
            </a:r>
            <a:endParaRPr lang="en-US" sz="1900" dirty="0"/>
          </a:p>
        </p:txBody>
      </p:sp>
      <p:sp>
        <p:nvSpPr>
          <p:cNvPr id="27" name="Text 24"/>
          <p:cNvSpPr/>
          <p:nvPr/>
        </p:nvSpPr>
        <p:spPr>
          <a:xfrm>
            <a:off x="731520" y="4041648"/>
            <a:ext cx="822960" cy="219456"/>
          </a:xfrm>
          <a:prstGeom prst="rect">
            <a:avLst/>
          </a:prstGeom>
          <a:noFill/>
          <a:ln/>
        </p:spPr>
        <p:txBody>
          <a:bodyPr wrap="square" lIns="0" tIns="0" rIns="0" bIns="0" rtlCol="0" anchor="ctr"/>
          <a:lstStyle/>
          <a:p>
            <a:pPr indent="0" marL="0">
              <a:buNone/>
            </a:pPr>
            <a:r>
              <a:rPr lang="en-US" sz="850" dirty="0">
                <a:solidFill>
                  <a:srgbClr val="C7CBD2"/>
                </a:solidFill>
                <a:latin typeface="Calibri" pitchFamily="34" charset="0"/>
                <a:ea typeface="Calibri" pitchFamily="34" charset="-122"/>
                <a:cs typeface="Calibri" pitchFamily="34" charset="-120"/>
              </a:rPr>
              <a:t>[ dates ]</a:t>
            </a:r>
            <a:endParaRPr lang="en-US" sz="850" dirty="0"/>
          </a:p>
        </p:txBody>
      </p:sp>
      <p:sp>
        <p:nvSpPr>
          <p:cNvPr id="28" name="Shape 25"/>
          <p:cNvSpPr/>
          <p:nvPr/>
        </p:nvSpPr>
        <p:spPr>
          <a:xfrm>
            <a:off x="1572768" y="3794760"/>
            <a:ext cx="420624" cy="420624"/>
          </a:xfrm>
          <a:prstGeom prst="roundRect">
            <a:avLst>
              <a:gd name="adj" fmla="val 10870"/>
            </a:avLst>
          </a:prstGeom>
          <a:solidFill>
            <a:srgbClr val="F5F4EF"/>
          </a:solidFill>
          <a:ln w="6350">
            <a:solidFill>
              <a:srgbClr val="F5F4EF"/>
            </a:solidFill>
            <a:prstDash val="solid"/>
          </a:ln>
        </p:spPr>
      </p:sp>
      <p:sp>
        <p:nvSpPr>
          <p:cNvPr id="29" name="Text 26"/>
          <p:cNvSpPr/>
          <p:nvPr/>
        </p:nvSpPr>
        <p:spPr>
          <a:xfrm>
            <a:off x="1572768" y="3794760"/>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M4</a:t>
            </a:r>
            <a:endParaRPr lang="en-US" sz="1150" dirty="0"/>
          </a:p>
        </p:txBody>
      </p:sp>
      <p:sp>
        <p:nvSpPr>
          <p:cNvPr id="30" name="Text 27"/>
          <p:cNvSpPr/>
          <p:nvPr/>
        </p:nvSpPr>
        <p:spPr>
          <a:xfrm>
            <a:off x="2176272" y="3675888"/>
            <a:ext cx="3474720" cy="676656"/>
          </a:xfrm>
          <a:prstGeom prst="rect">
            <a:avLst/>
          </a:prstGeom>
          <a:noFill/>
          <a:ln/>
        </p:spPr>
        <p:txBody>
          <a:bodyPr wrap="square" lIns="0" tIns="0" rIns="0" bIns="0" rtlCol="0" anchor="ctr"/>
          <a:lstStyle/>
          <a:p>
            <a:pPr indent="0" marL="0">
              <a:lnSpc>
                <a:spcPct val="105000"/>
              </a:lnSpc>
              <a:buNone/>
            </a:pPr>
            <a:r>
              <a:rPr lang="en-US" sz="1100" i="1" dirty="0">
                <a:solidFill>
                  <a:srgbClr val="9AA2AD"/>
                </a:solidFill>
                <a:latin typeface="Calibri" pitchFamily="34" charset="0"/>
                <a:ea typeface="Calibri" pitchFamily="34" charset="-122"/>
                <a:cs typeface="Calibri" pitchFamily="34" charset="-120"/>
              </a:rPr>
              <a:t>One line: what this week is for.</a:t>
            </a:r>
            <a:endParaRPr lang="en-US" sz="1100" dirty="0"/>
          </a:p>
        </p:txBody>
      </p:sp>
      <p:sp>
        <p:nvSpPr>
          <p:cNvPr id="31" name="Text 28"/>
          <p:cNvSpPr/>
          <p:nvPr/>
        </p:nvSpPr>
        <p:spPr>
          <a:xfrm>
            <a:off x="5806440" y="3675888"/>
            <a:ext cx="4590288" cy="676656"/>
          </a:xfrm>
          <a:prstGeom prst="rect">
            <a:avLst/>
          </a:prstGeom>
          <a:noFill/>
          <a:ln/>
        </p:spPr>
        <p:txBody>
          <a:bodyPr wrap="square" lIns="0" tIns="0" rIns="0" bIns="0" rtlCol="0" anchor="ctr"/>
          <a:lstStyle/>
          <a:p>
            <a:pPr indent="0" marL="0">
              <a:lnSpc>
                <a:spcPct val="108000"/>
              </a:lnSpc>
              <a:buNone/>
            </a:pPr>
            <a:r>
              <a:rPr lang="en-US" sz="1050" i="1" dirty="0">
                <a:solidFill>
                  <a:srgbClr val="9AA2AD"/>
                </a:solidFill>
                <a:latin typeface="Calibri" pitchFamily="34" charset="0"/>
                <a:ea typeface="Calibri" pitchFamily="34" charset="-122"/>
                <a:cs typeface="Calibri" pitchFamily="34" charset="-120"/>
              </a:rPr>
              <a:t>What ships, what it proves, and the thing that would show it was the wrong week's work. Name the file, route or dashboard where the answer appears.</a:t>
            </a:r>
            <a:endParaRPr lang="en-US" sz="1050" dirty="0"/>
          </a:p>
        </p:txBody>
      </p:sp>
      <p:sp>
        <p:nvSpPr>
          <p:cNvPr id="32" name="Shape 29"/>
          <p:cNvSpPr/>
          <p:nvPr/>
        </p:nvSpPr>
        <p:spPr>
          <a:xfrm>
            <a:off x="10515600" y="3886200"/>
            <a:ext cx="1005840" cy="237744"/>
          </a:xfrm>
          <a:prstGeom prst="roundRect">
            <a:avLst>
              <a:gd name="adj" fmla="val 11538"/>
            </a:avLst>
          </a:prstGeom>
          <a:solidFill>
            <a:srgbClr val="FFFFFF"/>
          </a:solidFill>
          <a:ln w="9525">
            <a:solidFill>
              <a:srgbClr val="C7CBD2"/>
            </a:solidFill>
            <a:prstDash val="dash"/>
          </a:ln>
        </p:spPr>
      </p:sp>
      <p:sp>
        <p:nvSpPr>
          <p:cNvPr id="33" name="Text 30"/>
          <p:cNvSpPr/>
          <p:nvPr/>
        </p:nvSpPr>
        <p:spPr>
          <a:xfrm>
            <a:off x="10515600" y="3886200"/>
            <a:ext cx="1005840" cy="237744"/>
          </a:xfrm>
          <a:prstGeom prst="rect">
            <a:avLst/>
          </a:prstGeom>
          <a:noFill/>
          <a:ln/>
        </p:spPr>
        <p:txBody>
          <a:bodyPr wrap="square" lIns="0" tIns="0" rIns="0" bIns="0" rtlCol="0" anchor="ctr"/>
          <a:lstStyle/>
          <a:p>
            <a:pPr algn="ctr" indent="0" marL="0">
              <a:buNone/>
            </a:pPr>
            <a:r>
              <a:rPr lang="en-US" sz="750" b="1" spc="60" kern="0" dirty="0">
                <a:solidFill>
                  <a:srgbClr val="68707E"/>
                </a:solidFill>
                <a:latin typeface="Calibri" pitchFamily="34" charset="0"/>
                <a:ea typeface="Calibri" pitchFamily="34" charset="-122"/>
                <a:cs typeface="Calibri" pitchFamily="34" charset="-120"/>
              </a:rPr>
              <a:t>MILESTONE?</a:t>
            </a:r>
            <a:endParaRPr lang="en-US" sz="750" dirty="0"/>
          </a:p>
        </p:txBody>
      </p:sp>
      <p:sp>
        <p:nvSpPr>
          <p:cNvPr id="34" name="Shape 31"/>
          <p:cNvSpPr/>
          <p:nvPr/>
        </p:nvSpPr>
        <p:spPr>
          <a:xfrm>
            <a:off x="566928" y="4581144"/>
            <a:ext cx="11057839" cy="914400"/>
          </a:xfrm>
          <a:prstGeom prst="roundRect">
            <a:avLst>
              <a:gd name="adj" fmla="val 6000"/>
            </a:avLst>
          </a:prstGeom>
          <a:solidFill>
            <a:srgbClr val="FFFFFF"/>
          </a:solidFill>
          <a:ln w="9525">
            <a:solidFill>
              <a:srgbClr val="C7CBD2"/>
            </a:solidFill>
            <a:prstDash val="dash"/>
          </a:ln>
        </p:spPr>
      </p:sp>
      <p:sp>
        <p:nvSpPr>
          <p:cNvPr id="35" name="Text 32"/>
          <p:cNvSpPr/>
          <p:nvPr/>
        </p:nvSpPr>
        <p:spPr>
          <a:xfrm>
            <a:off x="731520" y="4727448"/>
            <a:ext cx="749808" cy="329184"/>
          </a:xfrm>
          <a:prstGeom prst="rect">
            <a:avLst/>
          </a:prstGeom>
          <a:noFill/>
          <a:ln/>
        </p:spPr>
        <p:txBody>
          <a:bodyPr wrap="square" lIns="0" tIns="0" rIns="0" bIns="0" rtlCol="0" anchor="ctr"/>
          <a:lstStyle/>
          <a:p>
            <a:pPr indent="0" marL="0">
              <a:buNone/>
            </a:pPr>
            <a:r>
              <a:rPr lang="en-US" sz="1900" dirty="0">
                <a:solidFill>
                  <a:srgbClr val="C7CBD2"/>
                </a:solidFill>
                <a:latin typeface="Georgia" pitchFamily="34" charset="0"/>
                <a:ea typeface="Georgia" pitchFamily="34" charset="-122"/>
                <a:cs typeface="Georgia" pitchFamily="34" charset="-120"/>
              </a:rPr>
              <a:t>W08</a:t>
            </a:r>
            <a:endParaRPr lang="en-US" sz="1900" dirty="0"/>
          </a:p>
        </p:txBody>
      </p:sp>
      <p:sp>
        <p:nvSpPr>
          <p:cNvPr id="36" name="Text 33"/>
          <p:cNvSpPr/>
          <p:nvPr/>
        </p:nvSpPr>
        <p:spPr>
          <a:xfrm>
            <a:off x="731520" y="5074920"/>
            <a:ext cx="822960" cy="219456"/>
          </a:xfrm>
          <a:prstGeom prst="rect">
            <a:avLst/>
          </a:prstGeom>
          <a:noFill/>
          <a:ln/>
        </p:spPr>
        <p:txBody>
          <a:bodyPr wrap="square" lIns="0" tIns="0" rIns="0" bIns="0" rtlCol="0" anchor="ctr"/>
          <a:lstStyle/>
          <a:p>
            <a:pPr indent="0" marL="0">
              <a:buNone/>
            </a:pPr>
            <a:r>
              <a:rPr lang="en-US" sz="850" dirty="0">
                <a:solidFill>
                  <a:srgbClr val="C7CBD2"/>
                </a:solidFill>
                <a:latin typeface="Calibri" pitchFamily="34" charset="0"/>
                <a:ea typeface="Calibri" pitchFamily="34" charset="-122"/>
                <a:cs typeface="Calibri" pitchFamily="34" charset="-120"/>
              </a:rPr>
              <a:t>[ dates ]</a:t>
            </a:r>
            <a:endParaRPr lang="en-US" sz="850" dirty="0"/>
          </a:p>
        </p:txBody>
      </p:sp>
      <p:sp>
        <p:nvSpPr>
          <p:cNvPr id="37" name="Shape 34"/>
          <p:cNvSpPr/>
          <p:nvPr/>
        </p:nvSpPr>
        <p:spPr>
          <a:xfrm>
            <a:off x="1572768" y="4828032"/>
            <a:ext cx="420624" cy="420624"/>
          </a:xfrm>
          <a:prstGeom prst="roundRect">
            <a:avLst>
              <a:gd name="adj" fmla="val 10870"/>
            </a:avLst>
          </a:prstGeom>
          <a:solidFill>
            <a:srgbClr val="F5F4EF"/>
          </a:solidFill>
          <a:ln w="6350">
            <a:solidFill>
              <a:srgbClr val="F5F4EF"/>
            </a:solidFill>
            <a:prstDash val="solid"/>
          </a:ln>
        </p:spPr>
      </p:sp>
      <p:sp>
        <p:nvSpPr>
          <p:cNvPr id="38" name="Text 35"/>
          <p:cNvSpPr/>
          <p:nvPr/>
        </p:nvSpPr>
        <p:spPr>
          <a:xfrm>
            <a:off x="1572768" y="4828032"/>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M4</a:t>
            </a:r>
            <a:endParaRPr lang="en-US" sz="1150" dirty="0"/>
          </a:p>
        </p:txBody>
      </p:sp>
      <p:sp>
        <p:nvSpPr>
          <p:cNvPr id="39" name="Text 36"/>
          <p:cNvSpPr/>
          <p:nvPr/>
        </p:nvSpPr>
        <p:spPr>
          <a:xfrm>
            <a:off x="2176272" y="4709160"/>
            <a:ext cx="3474720" cy="676656"/>
          </a:xfrm>
          <a:prstGeom prst="rect">
            <a:avLst/>
          </a:prstGeom>
          <a:noFill/>
          <a:ln/>
        </p:spPr>
        <p:txBody>
          <a:bodyPr wrap="square" lIns="0" tIns="0" rIns="0" bIns="0" rtlCol="0" anchor="ctr"/>
          <a:lstStyle/>
          <a:p>
            <a:pPr indent="0" marL="0">
              <a:lnSpc>
                <a:spcPct val="105000"/>
              </a:lnSpc>
              <a:buNone/>
            </a:pPr>
            <a:r>
              <a:rPr lang="en-US" sz="1100" i="1" dirty="0">
                <a:solidFill>
                  <a:srgbClr val="9AA2AD"/>
                </a:solidFill>
                <a:latin typeface="Calibri" pitchFamily="34" charset="0"/>
                <a:ea typeface="Calibri" pitchFamily="34" charset="-122"/>
                <a:cs typeface="Calibri" pitchFamily="34" charset="-120"/>
              </a:rPr>
              <a:t>One line: what this week is for.</a:t>
            </a:r>
            <a:endParaRPr lang="en-US" sz="1100" dirty="0"/>
          </a:p>
        </p:txBody>
      </p:sp>
      <p:sp>
        <p:nvSpPr>
          <p:cNvPr id="40" name="Text 37"/>
          <p:cNvSpPr/>
          <p:nvPr/>
        </p:nvSpPr>
        <p:spPr>
          <a:xfrm>
            <a:off x="5806440" y="4709160"/>
            <a:ext cx="4590288" cy="676656"/>
          </a:xfrm>
          <a:prstGeom prst="rect">
            <a:avLst/>
          </a:prstGeom>
          <a:noFill/>
          <a:ln/>
        </p:spPr>
        <p:txBody>
          <a:bodyPr wrap="square" lIns="0" tIns="0" rIns="0" bIns="0" rtlCol="0" anchor="ctr"/>
          <a:lstStyle/>
          <a:p>
            <a:pPr indent="0" marL="0">
              <a:lnSpc>
                <a:spcPct val="108000"/>
              </a:lnSpc>
              <a:buNone/>
            </a:pPr>
            <a:r>
              <a:rPr lang="en-US" sz="1050" i="1" dirty="0">
                <a:solidFill>
                  <a:srgbClr val="9AA2AD"/>
                </a:solidFill>
                <a:latin typeface="Calibri" pitchFamily="34" charset="0"/>
                <a:ea typeface="Calibri" pitchFamily="34" charset="-122"/>
                <a:cs typeface="Calibri" pitchFamily="34" charset="-120"/>
              </a:rPr>
              <a:t>What ships, what it proves, and the thing that would show it was the wrong week's work. Name the file, route or dashboard where the answer appears.</a:t>
            </a:r>
            <a:endParaRPr lang="en-US" sz="1050" dirty="0"/>
          </a:p>
        </p:txBody>
      </p:sp>
      <p:sp>
        <p:nvSpPr>
          <p:cNvPr id="41" name="Shape 38"/>
          <p:cNvSpPr/>
          <p:nvPr/>
        </p:nvSpPr>
        <p:spPr>
          <a:xfrm>
            <a:off x="10515600" y="4919472"/>
            <a:ext cx="1005840" cy="237744"/>
          </a:xfrm>
          <a:prstGeom prst="roundRect">
            <a:avLst>
              <a:gd name="adj" fmla="val 11538"/>
            </a:avLst>
          </a:prstGeom>
          <a:solidFill>
            <a:srgbClr val="FFFFFF"/>
          </a:solidFill>
          <a:ln w="9525">
            <a:solidFill>
              <a:srgbClr val="C7CBD2"/>
            </a:solidFill>
            <a:prstDash val="dash"/>
          </a:ln>
        </p:spPr>
      </p:sp>
      <p:sp>
        <p:nvSpPr>
          <p:cNvPr id="42" name="Text 39"/>
          <p:cNvSpPr/>
          <p:nvPr/>
        </p:nvSpPr>
        <p:spPr>
          <a:xfrm>
            <a:off x="10515600" y="4919472"/>
            <a:ext cx="1005840" cy="237744"/>
          </a:xfrm>
          <a:prstGeom prst="rect">
            <a:avLst/>
          </a:prstGeom>
          <a:noFill/>
          <a:ln/>
        </p:spPr>
        <p:txBody>
          <a:bodyPr wrap="square" lIns="0" tIns="0" rIns="0" bIns="0" rtlCol="0" anchor="ctr"/>
          <a:lstStyle/>
          <a:p>
            <a:pPr algn="ctr" indent="0" marL="0">
              <a:buNone/>
            </a:pPr>
            <a:r>
              <a:rPr lang="en-US" sz="750" b="1" spc="60" kern="0" dirty="0">
                <a:solidFill>
                  <a:srgbClr val="68707E"/>
                </a:solidFill>
                <a:latin typeface="Calibri" pitchFamily="34" charset="0"/>
                <a:ea typeface="Calibri" pitchFamily="34" charset="-122"/>
                <a:cs typeface="Calibri" pitchFamily="34" charset="-120"/>
              </a:rPr>
              <a:t>MILESTONE?</a:t>
            </a:r>
            <a:endParaRPr lang="en-US" sz="750" dirty="0"/>
          </a:p>
        </p:txBody>
      </p:sp>
      <p:sp>
        <p:nvSpPr>
          <p:cNvPr id="43" name="Shape 40"/>
          <p:cNvSpPr/>
          <p:nvPr/>
        </p:nvSpPr>
        <p:spPr>
          <a:xfrm>
            <a:off x="566928" y="5632704"/>
            <a:ext cx="11057839" cy="566928"/>
          </a:xfrm>
          <a:prstGeom prst="roundRect">
            <a:avLst>
              <a:gd name="adj" fmla="val 9677"/>
            </a:avLst>
          </a:prstGeom>
          <a:solidFill>
            <a:srgbClr val="FFFFFF"/>
          </a:solidFill>
          <a:ln w="9525">
            <a:solidFill>
              <a:srgbClr val="C7CBD2"/>
            </a:solidFill>
            <a:prstDash val="dash"/>
          </a:ln>
        </p:spPr>
      </p:sp>
      <p:sp>
        <p:nvSpPr>
          <p:cNvPr id="44" name="Text 41"/>
          <p:cNvSpPr/>
          <p:nvPr/>
        </p:nvSpPr>
        <p:spPr>
          <a:xfrm>
            <a:off x="749808" y="5733288"/>
            <a:ext cx="4572000" cy="201168"/>
          </a:xfrm>
          <a:prstGeom prst="rect">
            <a:avLst/>
          </a:prstGeom>
          <a:noFill/>
          <a:ln/>
        </p:spPr>
        <p:txBody>
          <a:bodyPr wrap="square" lIns="0" tIns="0" rIns="0" bIns="0" rtlCol="0" anchor="ctr"/>
          <a:lstStyle/>
          <a:p>
            <a:pPr indent="0" marL="0">
              <a:buNone/>
            </a:pPr>
            <a:r>
              <a:rPr lang="en-US" sz="950" b="1" spc="130" kern="0" dirty="0">
                <a:solidFill>
                  <a:srgbClr val="C7CBD2"/>
                </a:solidFill>
                <a:latin typeface="Calibri" pitchFamily="34" charset="0"/>
                <a:ea typeface="Calibri" pitchFamily="34" charset="-122"/>
                <a:cs typeface="Calibri" pitchFamily="34" charset="-120"/>
              </a:rPr>
              <a:t>WHAT THIS BLOCK IS JUDGED ON</a:t>
            </a:r>
            <a:endParaRPr lang="en-US" sz="950" dirty="0"/>
          </a:p>
        </p:txBody>
      </p:sp>
      <p:sp>
        <p:nvSpPr>
          <p:cNvPr id="45" name="Text 42"/>
          <p:cNvSpPr/>
          <p:nvPr/>
        </p:nvSpPr>
        <p:spPr>
          <a:xfrm>
            <a:off x="749808" y="5897880"/>
            <a:ext cx="10692079" cy="237744"/>
          </a:xfrm>
          <a:prstGeom prst="rect">
            <a:avLst/>
          </a:prstGeom>
          <a:noFill/>
          <a:ln/>
        </p:spPr>
        <p:txBody>
          <a:bodyPr wrap="square" lIns="0" tIns="0" rIns="0" bIns="0" rtlCol="0" anchor="ctr"/>
          <a:lstStyle/>
          <a:p>
            <a:pPr indent="0" marL="0">
              <a:buNone/>
            </a:pPr>
            <a:r>
              <a:rPr lang="en-US" sz="1050" i="1" dirty="0">
                <a:solidFill>
                  <a:srgbClr val="9AA2AD"/>
                </a:solidFill>
                <a:latin typeface="Calibri" pitchFamily="34" charset="0"/>
                <a:ea typeface="Calibri" pitchFamily="34" charset="-122"/>
                <a:cs typeface="Calibri" pitchFamily="34" charset="-120"/>
              </a:rPr>
              <a:t>One sentence. Not a summary of the four rows — the reason they are in this order.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566928" y="384048"/>
            <a:ext cx="11057839" cy="219456"/>
          </a:xfrm>
          <a:prstGeom prst="rect">
            <a:avLst/>
          </a:prstGeom>
          <a:noFill/>
          <a:ln/>
        </p:spPr>
        <p:txBody>
          <a:bodyPr wrap="square" lIns="0" tIns="0" rIns="0" bIns="0" rtlCol="0" anchor="ctr"/>
          <a:lstStyle/>
          <a:p>
            <a:pPr indent="0" marL="0">
              <a:buNone/>
            </a:pPr>
            <a:r>
              <a:rPr lang="en-US" sz="1000" b="1" spc="150" kern="0" dirty="0">
                <a:solidFill>
                  <a:srgbClr val="B91C1C"/>
                </a:solidFill>
                <a:latin typeface="Calibri" pitchFamily="34" charset="0"/>
                <a:ea typeface="Calibri" pitchFamily="34" charset="-122"/>
                <a:cs typeface="Calibri" pitchFamily="34" charset="-120"/>
              </a:rPr>
              <a:t>M5 [ MILESTONE ]  ·  M6 [ MILESTONE ]</a:t>
            </a:r>
            <a:endParaRPr lang="en-US" sz="1000" dirty="0"/>
          </a:p>
        </p:txBody>
      </p:sp>
      <p:sp>
        <p:nvSpPr>
          <p:cNvPr id="3" name="Text 1"/>
          <p:cNvSpPr/>
          <p:nvPr/>
        </p:nvSpPr>
        <p:spPr>
          <a:xfrm>
            <a:off x="566928" y="621792"/>
            <a:ext cx="11057839" cy="566928"/>
          </a:xfrm>
          <a:prstGeom prst="rect">
            <a:avLst/>
          </a:prstGeom>
          <a:noFill/>
          <a:ln/>
        </p:spPr>
        <p:txBody>
          <a:bodyPr wrap="square" lIns="0" tIns="0" rIns="0" bIns="0" rtlCol="0" anchor="ctr"/>
          <a:lstStyle/>
          <a:p>
            <a:pPr indent="0" marL="0">
              <a:buNone/>
            </a:pPr>
            <a:r>
              <a:rPr lang="en-US" sz="3000" dirty="0">
                <a:solidFill>
                  <a:srgbClr val="1A2433"/>
                </a:solidFill>
                <a:latin typeface="Georgia" pitchFamily="34" charset="0"/>
                <a:ea typeface="Georgia" pitchFamily="34" charset="-122"/>
                <a:cs typeface="Georgia" pitchFamily="34" charset="-120"/>
              </a:rPr>
              <a:t>Weeks 9–12  ·  [ what this block is for ]</a:t>
            </a:r>
            <a:endParaRPr lang="en-US" sz="3000" dirty="0"/>
          </a:p>
        </p:txBody>
      </p:sp>
      <p:pic>
        <p:nvPicPr>
          <p:cNvPr id="4" name="Image 0" descr="preencoded.png">    </p:cNvPr>
          <p:cNvPicPr>
            <a:picLocks noChangeAspect="1"/>
          </p:cNvPicPr>
          <p:nvPr/>
        </p:nvPicPr>
        <p:blipFill>
          <a:blip r:embed="rId1"/>
          <a:stretch>
            <a:fillRect/>
          </a:stretch>
        </p:blipFill>
        <p:spPr>
          <a:xfrm>
            <a:off x="566928" y="6373368"/>
            <a:ext cx="162560" cy="162560"/>
          </a:xfrm>
          <a:prstGeom prst="rect">
            <a:avLst/>
          </a:prstGeom>
        </p:spPr>
      </p:pic>
      <p:sp>
        <p:nvSpPr>
          <p:cNvPr id="5" name="Text 2"/>
          <p:cNvSpPr/>
          <p:nvPr/>
        </p:nvSpPr>
        <p:spPr>
          <a:xfrm>
            <a:off x="793496" y="6345936"/>
            <a:ext cx="2194560" cy="217424"/>
          </a:xfrm>
          <a:prstGeom prst="rect">
            <a:avLst/>
          </a:prstGeom>
          <a:noFill/>
          <a:ln/>
        </p:spPr>
        <p:txBody>
          <a:bodyPr wrap="square" lIns="0" tIns="0" rIns="0" bIns="0" rtlCol="0" anchor="ctr"/>
          <a:lstStyle/>
          <a:p>
            <a:pPr indent="0" marL="0">
              <a:buNone/>
            </a:pPr>
            <a:r>
              <a:rPr lang="en-US" sz="800" b="1" spc="104" kern="0" dirty="0">
                <a:solidFill>
                  <a:srgbClr val="1A2433"/>
                </a:solidFill>
                <a:latin typeface="Calibri" pitchFamily="34" charset="0"/>
                <a:ea typeface="Calibri" pitchFamily="34" charset="-122"/>
                <a:cs typeface="Calibri" pitchFamily="34" charset="-120"/>
              </a:rPr>
              <a:t>COMP</a:t>
            </a:r>
            <a:pPr indent="0" marL="0">
              <a:buNone/>
            </a:pPr>
            <a:r>
              <a:rPr lang="en-US" sz="800" b="1" spc="104" kern="0" dirty="0">
                <a:solidFill>
                  <a:srgbClr val="B91C1C"/>
                </a:solidFill>
                <a:latin typeface="Calibri" pitchFamily="34" charset="0"/>
                <a:ea typeface="Calibri" pitchFamily="34" charset="-122"/>
                <a:cs typeface="Calibri" pitchFamily="34" charset="-120"/>
              </a:rPr>
              <a:t>NINJA</a:t>
            </a:r>
            <a:endParaRPr lang="en-US" sz="800" dirty="0"/>
          </a:p>
        </p:txBody>
      </p:sp>
      <p:sp>
        <p:nvSpPr>
          <p:cNvPr id="6" name="Text 3"/>
          <p:cNvSpPr/>
          <p:nvPr/>
        </p:nvSpPr>
        <p:spPr>
          <a:xfrm>
            <a:off x="10527487" y="6355080"/>
            <a:ext cx="1097280" cy="256032"/>
          </a:xfrm>
          <a:prstGeom prst="rect">
            <a:avLst/>
          </a:prstGeom>
          <a:noFill/>
          <a:ln/>
        </p:spPr>
        <p:txBody>
          <a:bodyPr wrap="square" lIns="0" tIns="0" rIns="0" bIns="0" rtlCol="0" anchor="ctr"/>
          <a:lstStyle/>
          <a:p>
            <a:pPr algn="r" indent="0" marL="0">
              <a:buNone/>
            </a:pPr>
            <a:r>
              <a:rPr lang="en-US" sz="950" dirty="0">
                <a:solidFill>
                  <a:srgbClr val="9AA2AD"/>
                </a:solidFill>
                <a:latin typeface="Calibri" pitchFamily="34" charset="0"/>
                <a:ea typeface="Calibri" pitchFamily="34" charset="-122"/>
                <a:cs typeface="Calibri" pitchFamily="34" charset="-120"/>
              </a:rPr>
              <a:t>7</a:t>
            </a:r>
            <a:endParaRPr lang="en-US" sz="950" dirty="0"/>
          </a:p>
        </p:txBody>
      </p:sp>
      <p:sp>
        <p:nvSpPr>
          <p:cNvPr id="7" name="Shape 4"/>
          <p:cNvSpPr/>
          <p:nvPr/>
        </p:nvSpPr>
        <p:spPr>
          <a:xfrm>
            <a:off x="566928" y="1481328"/>
            <a:ext cx="11057839" cy="914400"/>
          </a:xfrm>
          <a:prstGeom prst="roundRect">
            <a:avLst>
              <a:gd name="adj" fmla="val 6000"/>
            </a:avLst>
          </a:prstGeom>
          <a:solidFill>
            <a:srgbClr val="FFFFFF"/>
          </a:solidFill>
          <a:ln w="9525">
            <a:solidFill>
              <a:srgbClr val="C7CBD2"/>
            </a:solidFill>
            <a:prstDash val="dash"/>
          </a:ln>
        </p:spPr>
      </p:sp>
      <p:sp>
        <p:nvSpPr>
          <p:cNvPr id="8" name="Text 5"/>
          <p:cNvSpPr/>
          <p:nvPr/>
        </p:nvSpPr>
        <p:spPr>
          <a:xfrm>
            <a:off x="731520" y="1627632"/>
            <a:ext cx="749808" cy="329184"/>
          </a:xfrm>
          <a:prstGeom prst="rect">
            <a:avLst/>
          </a:prstGeom>
          <a:noFill/>
          <a:ln/>
        </p:spPr>
        <p:txBody>
          <a:bodyPr wrap="square" lIns="0" tIns="0" rIns="0" bIns="0" rtlCol="0" anchor="ctr"/>
          <a:lstStyle/>
          <a:p>
            <a:pPr indent="0" marL="0">
              <a:buNone/>
            </a:pPr>
            <a:r>
              <a:rPr lang="en-US" sz="1900" dirty="0">
                <a:solidFill>
                  <a:srgbClr val="C7CBD2"/>
                </a:solidFill>
                <a:latin typeface="Georgia" pitchFamily="34" charset="0"/>
                <a:ea typeface="Georgia" pitchFamily="34" charset="-122"/>
                <a:cs typeface="Georgia" pitchFamily="34" charset="-120"/>
              </a:rPr>
              <a:t>W09</a:t>
            </a:r>
            <a:endParaRPr lang="en-US" sz="1900" dirty="0"/>
          </a:p>
        </p:txBody>
      </p:sp>
      <p:sp>
        <p:nvSpPr>
          <p:cNvPr id="9" name="Text 6"/>
          <p:cNvSpPr/>
          <p:nvPr/>
        </p:nvSpPr>
        <p:spPr>
          <a:xfrm>
            <a:off x="731520" y="1975104"/>
            <a:ext cx="822960" cy="219456"/>
          </a:xfrm>
          <a:prstGeom prst="rect">
            <a:avLst/>
          </a:prstGeom>
          <a:noFill/>
          <a:ln/>
        </p:spPr>
        <p:txBody>
          <a:bodyPr wrap="square" lIns="0" tIns="0" rIns="0" bIns="0" rtlCol="0" anchor="ctr"/>
          <a:lstStyle/>
          <a:p>
            <a:pPr indent="0" marL="0">
              <a:buNone/>
            </a:pPr>
            <a:r>
              <a:rPr lang="en-US" sz="850" dirty="0">
                <a:solidFill>
                  <a:srgbClr val="C7CBD2"/>
                </a:solidFill>
                <a:latin typeface="Calibri" pitchFamily="34" charset="0"/>
                <a:ea typeface="Calibri" pitchFamily="34" charset="-122"/>
                <a:cs typeface="Calibri" pitchFamily="34" charset="-120"/>
              </a:rPr>
              <a:t>[ dates ]</a:t>
            </a:r>
            <a:endParaRPr lang="en-US" sz="850" dirty="0"/>
          </a:p>
        </p:txBody>
      </p:sp>
      <p:sp>
        <p:nvSpPr>
          <p:cNvPr id="10" name="Shape 7"/>
          <p:cNvSpPr/>
          <p:nvPr/>
        </p:nvSpPr>
        <p:spPr>
          <a:xfrm>
            <a:off x="1572768" y="1728216"/>
            <a:ext cx="420624" cy="420624"/>
          </a:xfrm>
          <a:prstGeom prst="roundRect">
            <a:avLst>
              <a:gd name="adj" fmla="val 10870"/>
            </a:avLst>
          </a:prstGeom>
          <a:solidFill>
            <a:srgbClr val="F5F4EF"/>
          </a:solidFill>
          <a:ln w="6350">
            <a:solidFill>
              <a:srgbClr val="F5F4EF"/>
            </a:solidFill>
            <a:prstDash val="solid"/>
          </a:ln>
        </p:spPr>
      </p:sp>
      <p:sp>
        <p:nvSpPr>
          <p:cNvPr id="11" name="Text 8"/>
          <p:cNvSpPr/>
          <p:nvPr/>
        </p:nvSpPr>
        <p:spPr>
          <a:xfrm>
            <a:off x="1572768" y="1728216"/>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M5</a:t>
            </a:r>
            <a:endParaRPr lang="en-US" sz="1150" dirty="0"/>
          </a:p>
        </p:txBody>
      </p:sp>
      <p:sp>
        <p:nvSpPr>
          <p:cNvPr id="12" name="Text 9"/>
          <p:cNvSpPr/>
          <p:nvPr/>
        </p:nvSpPr>
        <p:spPr>
          <a:xfrm>
            <a:off x="2176272" y="1609344"/>
            <a:ext cx="3474720" cy="676656"/>
          </a:xfrm>
          <a:prstGeom prst="rect">
            <a:avLst/>
          </a:prstGeom>
          <a:noFill/>
          <a:ln/>
        </p:spPr>
        <p:txBody>
          <a:bodyPr wrap="square" lIns="0" tIns="0" rIns="0" bIns="0" rtlCol="0" anchor="ctr"/>
          <a:lstStyle/>
          <a:p>
            <a:pPr indent="0" marL="0">
              <a:lnSpc>
                <a:spcPct val="105000"/>
              </a:lnSpc>
              <a:buNone/>
            </a:pPr>
            <a:r>
              <a:rPr lang="en-US" sz="1100" i="1" dirty="0">
                <a:solidFill>
                  <a:srgbClr val="9AA2AD"/>
                </a:solidFill>
                <a:latin typeface="Calibri" pitchFamily="34" charset="0"/>
                <a:ea typeface="Calibri" pitchFamily="34" charset="-122"/>
                <a:cs typeface="Calibri" pitchFamily="34" charset="-120"/>
              </a:rPr>
              <a:t>One line: what this week is for.</a:t>
            </a:r>
            <a:endParaRPr lang="en-US" sz="1100" dirty="0"/>
          </a:p>
        </p:txBody>
      </p:sp>
      <p:sp>
        <p:nvSpPr>
          <p:cNvPr id="13" name="Text 10"/>
          <p:cNvSpPr/>
          <p:nvPr/>
        </p:nvSpPr>
        <p:spPr>
          <a:xfrm>
            <a:off x="5806440" y="1609344"/>
            <a:ext cx="4590288" cy="676656"/>
          </a:xfrm>
          <a:prstGeom prst="rect">
            <a:avLst/>
          </a:prstGeom>
          <a:noFill/>
          <a:ln/>
        </p:spPr>
        <p:txBody>
          <a:bodyPr wrap="square" lIns="0" tIns="0" rIns="0" bIns="0" rtlCol="0" anchor="ctr"/>
          <a:lstStyle/>
          <a:p>
            <a:pPr indent="0" marL="0">
              <a:lnSpc>
                <a:spcPct val="108000"/>
              </a:lnSpc>
              <a:buNone/>
            </a:pPr>
            <a:r>
              <a:rPr lang="en-US" sz="1050" i="1" dirty="0">
                <a:solidFill>
                  <a:srgbClr val="9AA2AD"/>
                </a:solidFill>
                <a:latin typeface="Calibri" pitchFamily="34" charset="0"/>
                <a:ea typeface="Calibri" pitchFamily="34" charset="-122"/>
                <a:cs typeface="Calibri" pitchFamily="34" charset="-120"/>
              </a:rPr>
              <a:t>What ships, what it proves, and the thing that would show it was the wrong week's work. Name the file, route or dashboard where the answer appears.</a:t>
            </a:r>
            <a:endParaRPr lang="en-US" sz="1050" dirty="0"/>
          </a:p>
        </p:txBody>
      </p:sp>
      <p:sp>
        <p:nvSpPr>
          <p:cNvPr id="14" name="Shape 11"/>
          <p:cNvSpPr/>
          <p:nvPr/>
        </p:nvSpPr>
        <p:spPr>
          <a:xfrm>
            <a:off x="10515600" y="1819656"/>
            <a:ext cx="1005840" cy="237744"/>
          </a:xfrm>
          <a:prstGeom prst="roundRect">
            <a:avLst>
              <a:gd name="adj" fmla="val 11538"/>
            </a:avLst>
          </a:prstGeom>
          <a:solidFill>
            <a:srgbClr val="FFFFFF"/>
          </a:solidFill>
          <a:ln w="9525">
            <a:solidFill>
              <a:srgbClr val="C7CBD2"/>
            </a:solidFill>
            <a:prstDash val="dash"/>
          </a:ln>
        </p:spPr>
      </p:sp>
      <p:sp>
        <p:nvSpPr>
          <p:cNvPr id="15" name="Text 12"/>
          <p:cNvSpPr/>
          <p:nvPr/>
        </p:nvSpPr>
        <p:spPr>
          <a:xfrm>
            <a:off x="10515600" y="1819656"/>
            <a:ext cx="1005840" cy="237744"/>
          </a:xfrm>
          <a:prstGeom prst="rect">
            <a:avLst/>
          </a:prstGeom>
          <a:noFill/>
          <a:ln/>
        </p:spPr>
        <p:txBody>
          <a:bodyPr wrap="square" lIns="0" tIns="0" rIns="0" bIns="0" rtlCol="0" anchor="ctr"/>
          <a:lstStyle/>
          <a:p>
            <a:pPr algn="ctr" indent="0" marL="0">
              <a:buNone/>
            </a:pPr>
            <a:r>
              <a:rPr lang="en-US" sz="750" b="1" spc="60" kern="0" dirty="0">
                <a:solidFill>
                  <a:srgbClr val="68707E"/>
                </a:solidFill>
                <a:latin typeface="Calibri" pitchFamily="34" charset="0"/>
                <a:ea typeface="Calibri" pitchFamily="34" charset="-122"/>
                <a:cs typeface="Calibri" pitchFamily="34" charset="-120"/>
              </a:rPr>
              <a:t>MILESTONE?</a:t>
            </a:r>
            <a:endParaRPr lang="en-US" sz="750" dirty="0"/>
          </a:p>
        </p:txBody>
      </p:sp>
      <p:sp>
        <p:nvSpPr>
          <p:cNvPr id="16" name="Shape 13"/>
          <p:cNvSpPr/>
          <p:nvPr/>
        </p:nvSpPr>
        <p:spPr>
          <a:xfrm>
            <a:off x="566928" y="2514600"/>
            <a:ext cx="11057839" cy="914400"/>
          </a:xfrm>
          <a:prstGeom prst="roundRect">
            <a:avLst>
              <a:gd name="adj" fmla="val 6000"/>
            </a:avLst>
          </a:prstGeom>
          <a:solidFill>
            <a:srgbClr val="FFFFFF"/>
          </a:solidFill>
          <a:ln w="9525">
            <a:solidFill>
              <a:srgbClr val="C7CBD2"/>
            </a:solidFill>
            <a:prstDash val="dash"/>
          </a:ln>
        </p:spPr>
      </p:sp>
      <p:sp>
        <p:nvSpPr>
          <p:cNvPr id="17" name="Text 14"/>
          <p:cNvSpPr/>
          <p:nvPr/>
        </p:nvSpPr>
        <p:spPr>
          <a:xfrm>
            <a:off x="731520" y="2660904"/>
            <a:ext cx="749808" cy="329184"/>
          </a:xfrm>
          <a:prstGeom prst="rect">
            <a:avLst/>
          </a:prstGeom>
          <a:noFill/>
          <a:ln/>
        </p:spPr>
        <p:txBody>
          <a:bodyPr wrap="square" lIns="0" tIns="0" rIns="0" bIns="0" rtlCol="0" anchor="ctr"/>
          <a:lstStyle/>
          <a:p>
            <a:pPr indent="0" marL="0">
              <a:buNone/>
            </a:pPr>
            <a:r>
              <a:rPr lang="en-US" sz="1900" dirty="0">
                <a:solidFill>
                  <a:srgbClr val="C7CBD2"/>
                </a:solidFill>
                <a:latin typeface="Georgia" pitchFamily="34" charset="0"/>
                <a:ea typeface="Georgia" pitchFamily="34" charset="-122"/>
                <a:cs typeface="Georgia" pitchFamily="34" charset="-120"/>
              </a:rPr>
              <a:t>W10</a:t>
            </a:r>
            <a:endParaRPr lang="en-US" sz="1900" dirty="0"/>
          </a:p>
        </p:txBody>
      </p:sp>
      <p:sp>
        <p:nvSpPr>
          <p:cNvPr id="18" name="Text 15"/>
          <p:cNvSpPr/>
          <p:nvPr/>
        </p:nvSpPr>
        <p:spPr>
          <a:xfrm>
            <a:off x="731520" y="3008376"/>
            <a:ext cx="822960" cy="219456"/>
          </a:xfrm>
          <a:prstGeom prst="rect">
            <a:avLst/>
          </a:prstGeom>
          <a:noFill/>
          <a:ln/>
        </p:spPr>
        <p:txBody>
          <a:bodyPr wrap="square" lIns="0" tIns="0" rIns="0" bIns="0" rtlCol="0" anchor="ctr"/>
          <a:lstStyle/>
          <a:p>
            <a:pPr indent="0" marL="0">
              <a:buNone/>
            </a:pPr>
            <a:r>
              <a:rPr lang="en-US" sz="850" dirty="0">
                <a:solidFill>
                  <a:srgbClr val="C7CBD2"/>
                </a:solidFill>
                <a:latin typeface="Calibri" pitchFamily="34" charset="0"/>
                <a:ea typeface="Calibri" pitchFamily="34" charset="-122"/>
                <a:cs typeface="Calibri" pitchFamily="34" charset="-120"/>
              </a:rPr>
              <a:t>[ dates ]</a:t>
            </a:r>
            <a:endParaRPr lang="en-US" sz="850" dirty="0"/>
          </a:p>
        </p:txBody>
      </p:sp>
      <p:sp>
        <p:nvSpPr>
          <p:cNvPr id="19" name="Shape 16"/>
          <p:cNvSpPr/>
          <p:nvPr/>
        </p:nvSpPr>
        <p:spPr>
          <a:xfrm>
            <a:off x="1572768" y="2761488"/>
            <a:ext cx="420624" cy="420624"/>
          </a:xfrm>
          <a:prstGeom prst="roundRect">
            <a:avLst>
              <a:gd name="adj" fmla="val 10870"/>
            </a:avLst>
          </a:prstGeom>
          <a:solidFill>
            <a:srgbClr val="F5F4EF"/>
          </a:solidFill>
          <a:ln w="6350">
            <a:solidFill>
              <a:srgbClr val="F5F4EF"/>
            </a:solidFill>
            <a:prstDash val="solid"/>
          </a:ln>
        </p:spPr>
      </p:sp>
      <p:sp>
        <p:nvSpPr>
          <p:cNvPr id="20" name="Text 17"/>
          <p:cNvSpPr/>
          <p:nvPr/>
        </p:nvSpPr>
        <p:spPr>
          <a:xfrm>
            <a:off x="1572768" y="2761488"/>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M5</a:t>
            </a:r>
            <a:endParaRPr lang="en-US" sz="1150" dirty="0"/>
          </a:p>
        </p:txBody>
      </p:sp>
      <p:sp>
        <p:nvSpPr>
          <p:cNvPr id="21" name="Text 18"/>
          <p:cNvSpPr/>
          <p:nvPr/>
        </p:nvSpPr>
        <p:spPr>
          <a:xfrm>
            <a:off x="2176272" y="2642616"/>
            <a:ext cx="3474720" cy="676656"/>
          </a:xfrm>
          <a:prstGeom prst="rect">
            <a:avLst/>
          </a:prstGeom>
          <a:noFill/>
          <a:ln/>
        </p:spPr>
        <p:txBody>
          <a:bodyPr wrap="square" lIns="0" tIns="0" rIns="0" bIns="0" rtlCol="0" anchor="ctr"/>
          <a:lstStyle/>
          <a:p>
            <a:pPr indent="0" marL="0">
              <a:lnSpc>
                <a:spcPct val="105000"/>
              </a:lnSpc>
              <a:buNone/>
            </a:pPr>
            <a:r>
              <a:rPr lang="en-US" sz="1100" i="1" dirty="0">
                <a:solidFill>
                  <a:srgbClr val="9AA2AD"/>
                </a:solidFill>
                <a:latin typeface="Calibri" pitchFamily="34" charset="0"/>
                <a:ea typeface="Calibri" pitchFamily="34" charset="-122"/>
                <a:cs typeface="Calibri" pitchFamily="34" charset="-120"/>
              </a:rPr>
              <a:t>One line: what this week is for.</a:t>
            </a:r>
            <a:endParaRPr lang="en-US" sz="1100" dirty="0"/>
          </a:p>
        </p:txBody>
      </p:sp>
      <p:sp>
        <p:nvSpPr>
          <p:cNvPr id="22" name="Text 19"/>
          <p:cNvSpPr/>
          <p:nvPr/>
        </p:nvSpPr>
        <p:spPr>
          <a:xfrm>
            <a:off x="5806440" y="2642616"/>
            <a:ext cx="4590288" cy="676656"/>
          </a:xfrm>
          <a:prstGeom prst="rect">
            <a:avLst/>
          </a:prstGeom>
          <a:noFill/>
          <a:ln/>
        </p:spPr>
        <p:txBody>
          <a:bodyPr wrap="square" lIns="0" tIns="0" rIns="0" bIns="0" rtlCol="0" anchor="ctr"/>
          <a:lstStyle/>
          <a:p>
            <a:pPr indent="0" marL="0">
              <a:lnSpc>
                <a:spcPct val="108000"/>
              </a:lnSpc>
              <a:buNone/>
            </a:pPr>
            <a:r>
              <a:rPr lang="en-US" sz="1050" i="1" dirty="0">
                <a:solidFill>
                  <a:srgbClr val="9AA2AD"/>
                </a:solidFill>
                <a:latin typeface="Calibri" pitchFamily="34" charset="0"/>
                <a:ea typeface="Calibri" pitchFamily="34" charset="-122"/>
                <a:cs typeface="Calibri" pitchFamily="34" charset="-120"/>
              </a:rPr>
              <a:t>What ships, what it proves, and the thing that would show it was the wrong week's work. Name the file, route or dashboard where the answer appears.</a:t>
            </a:r>
            <a:endParaRPr lang="en-US" sz="1050" dirty="0"/>
          </a:p>
        </p:txBody>
      </p:sp>
      <p:sp>
        <p:nvSpPr>
          <p:cNvPr id="23" name="Shape 20"/>
          <p:cNvSpPr/>
          <p:nvPr/>
        </p:nvSpPr>
        <p:spPr>
          <a:xfrm>
            <a:off x="10515600" y="2852928"/>
            <a:ext cx="1005840" cy="237744"/>
          </a:xfrm>
          <a:prstGeom prst="roundRect">
            <a:avLst>
              <a:gd name="adj" fmla="val 11538"/>
            </a:avLst>
          </a:prstGeom>
          <a:solidFill>
            <a:srgbClr val="FFFFFF"/>
          </a:solidFill>
          <a:ln w="9525">
            <a:solidFill>
              <a:srgbClr val="C7CBD2"/>
            </a:solidFill>
            <a:prstDash val="dash"/>
          </a:ln>
        </p:spPr>
      </p:sp>
      <p:sp>
        <p:nvSpPr>
          <p:cNvPr id="24" name="Text 21"/>
          <p:cNvSpPr/>
          <p:nvPr/>
        </p:nvSpPr>
        <p:spPr>
          <a:xfrm>
            <a:off x="10515600" y="2852928"/>
            <a:ext cx="1005840" cy="237744"/>
          </a:xfrm>
          <a:prstGeom prst="rect">
            <a:avLst/>
          </a:prstGeom>
          <a:noFill/>
          <a:ln/>
        </p:spPr>
        <p:txBody>
          <a:bodyPr wrap="square" lIns="0" tIns="0" rIns="0" bIns="0" rtlCol="0" anchor="ctr"/>
          <a:lstStyle/>
          <a:p>
            <a:pPr algn="ctr" indent="0" marL="0">
              <a:buNone/>
            </a:pPr>
            <a:r>
              <a:rPr lang="en-US" sz="750" b="1" spc="60" kern="0" dirty="0">
                <a:solidFill>
                  <a:srgbClr val="68707E"/>
                </a:solidFill>
                <a:latin typeface="Calibri" pitchFamily="34" charset="0"/>
                <a:ea typeface="Calibri" pitchFamily="34" charset="-122"/>
                <a:cs typeface="Calibri" pitchFamily="34" charset="-120"/>
              </a:rPr>
              <a:t>MILESTONE?</a:t>
            </a:r>
            <a:endParaRPr lang="en-US" sz="750" dirty="0"/>
          </a:p>
        </p:txBody>
      </p:sp>
      <p:sp>
        <p:nvSpPr>
          <p:cNvPr id="25" name="Shape 22"/>
          <p:cNvSpPr/>
          <p:nvPr/>
        </p:nvSpPr>
        <p:spPr>
          <a:xfrm>
            <a:off x="566928" y="3547872"/>
            <a:ext cx="11057839" cy="914400"/>
          </a:xfrm>
          <a:prstGeom prst="roundRect">
            <a:avLst>
              <a:gd name="adj" fmla="val 6000"/>
            </a:avLst>
          </a:prstGeom>
          <a:solidFill>
            <a:srgbClr val="FFFFFF"/>
          </a:solidFill>
          <a:ln w="9525">
            <a:solidFill>
              <a:srgbClr val="C7CBD2"/>
            </a:solidFill>
            <a:prstDash val="dash"/>
          </a:ln>
        </p:spPr>
      </p:sp>
      <p:sp>
        <p:nvSpPr>
          <p:cNvPr id="26" name="Text 23"/>
          <p:cNvSpPr/>
          <p:nvPr/>
        </p:nvSpPr>
        <p:spPr>
          <a:xfrm>
            <a:off x="731520" y="3694176"/>
            <a:ext cx="749808" cy="329184"/>
          </a:xfrm>
          <a:prstGeom prst="rect">
            <a:avLst/>
          </a:prstGeom>
          <a:noFill/>
          <a:ln/>
        </p:spPr>
        <p:txBody>
          <a:bodyPr wrap="square" lIns="0" tIns="0" rIns="0" bIns="0" rtlCol="0" anchor="ctr"/>
          <a:lstStyle/>
          <a:p>
            <a:pPr indent="0" marL="0">
              <a:buNone/>
            </a:pPr>
            <a:r>
              <a:rPr lang="en-US" sz="1900" dirty="0">
                <a:solidFill>
                  <a:srgbClr val="C7CBD2"/>
                </a:solidFill>
                <a:latin typeface="Georgia" pitchFamily="34" charset="0"/>
                <a:ea typeface="Georgia" pitchFamily="34" charset="-122"/>
                <a:cs typeface="Georgia" pitchFamily="34" charset="-120"/>
              </a:rPr>
              <a:t>W11</a:t>
            </a:r>
            <a:endParaRPr lang="en-US" sz="1900" dirty="0"/>
          </a:p>
        </p:txBody>
      </p:sp>
      <p:sp>
        <p:nvSpPr>
          <p:cNvPr id="27" name="Text 24"/>
          <p:cNvSpPr/>
          <p:nvPr/>
        </p:nvSpPr>
        <p:spPr>
          <a:xfrm>
            <a:off x="731520" y="4041648"/>
            <a:ext cx="822960" cy="219456"/>
          </a:xfrm>
          <a:prstGeom prst="rect">
            <a:avLst/>
          </a:prstGeom>
          <a:noFill/>
          <a:ln/>
        </p:spPr>
        <p:txBody>
          <a:bodyPr wrap="square" lIns="0" tIns="0" rIns="0" bIns="0" rtlCol="0" anchor="ctr"/>
          <a:lstStyle/>
          <a:p>
            <a:pPr indent="0" marL="0">
              <a:buNone/>
            </a:pPr>
            <a:r>
              <a:rPr lang="en-US" sz="850" dirty="0">
                <a:solidFill>
                  <a:srgbClr val="C7CBD2"/>
                </a:solidFill>
                <a:latin typeface="Calibri" pitchFamily="34" charset="0"/>
                <a:ea typeface="Calibri" pitchFamily="34" charset="-122"/>
                <a:cs typeface="Calibri" pitchFamily="34" charset="-120"/>
              </a:rPr>
              <a:t>[ dates ]</a:t>
            </a:r>
            <a:endParaRPr lang="en-US" sz="850" dirty="0"/>
          </a:p>
        </p:txBody>
      </p:sp>
      <p:sp>
        <p:nvSpPr>
          <p:cNvPr id="28" name="Shape 25"/>
          <p:cNvSpPr/>
          <p:nvPr/>
        </p:nvSpPr>
        <p:spPr>
          <a:xfrm>
            <a:off x="1572768" y="3794760"/>
            <a:ext cx="420624" cy="420624"/>
          </a:xfrm>
          <a:prstGeom prst="roundRect">
            <a:avLst>
              <a:gd name="adj" fmla="val 10870"/>
            </a:avLst>
          </a:prstGeom>
          <a:solidFill>
            <a:srgbClr val="F5F4EF"/>
          </a:solidFill>
          <a:ln w="6350">
            <a:solidFill>
              <a:srgbClr val="F5F4EF"/>
            </a:solidFill>
            <a:prstDash val="solid"/>
          </a:ln>
        </p:spPr>
      </p:sp>
      <p:sp>
        <p:nvSpPr>
          <p:cNvPr id="29" name="Text 26"/>
          <p:cNvSpPr/>
          <p:nvPr/>
        </p:nvSpPr>
        <p:spPr>
          <a:xfrm>
            <a:off x="1572768" y="3794760"/>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M6</a:t>
            </a:r>
            <a:endParaRPr lang="en-US" sz="1150" dirty="0"/>
          </a:p>
        </p:txBody>
      </p:sp>
      <p:sp>
        <p:nvSpPr>
          <p:cNvPr id="30" name="Text 27"/>
          <p:cNvSpPr/>
          <p:nvPr/>
        </p:nvSpPr>
        <p:spPr>
          <a:xfrm>
            <a:off x="2176272" y="3675888"/>
            <a:ext cx="3474720" cy="676656"/>
          </a:xfrm>
          <a:prstGeom prst="rect">
            <a:avLst/>
          </a:prstGeom>
          <a:noFill/>
          <a:ln/>
        </p:spPr>
        <p:txBody>
          <a:bodyPr wrap="square" lIns="0" tIns="0" rIns="0" bIns="0" rtlCol="0" anchor="ctr"/>
          <a:lstStyle/>
          <a:p>
            <a:pPr indent="0" marL="0">
              <a:lnSpc>
                <a:spcPct val="105000"/>
              </a:lnSpc>
              <a:buNone/>
            </a:pPr>
            <a:r>
              <a:rPr lang="en-US" sz="1100" i="1" dirty="0">
                <a:solidFill>
                  <a:srgbClr val="9AA2AD"/>
                </a:solidFill>
                <a:latin typeface="Calibri" pitchFamily="34" charset="0"/>
                <a:ea typeface="Calibri" pitchFamily="34" charset="-122"/>
                <a:cs typeface="Calibri" pitchFamily="34" charset="-120"/>
              </a:rPr>
              <a:t>One line: what this week is for.</a:t>
            </a:r>
            <a:endParaRPr lang="en-US" sz="1100" dirty="0"/>
          </a:p>
        </p:txBody>
      </p:sp>
      <p:sp>
        <p:nvSpPr>
          <p:cNvPr id="31" name="Text 28"/>
          <p:cNvSpPr/>
          <p:nvPr/>
        </p:nvSpPr>
        <p:spPr>
          <a:xfrm>
            <a:off x="5806440" y="3675888"/>
            <a:ext cx="4590288" cy="676656"/>
          </a:xfrm>
          <a:prstGeom prst="rect">
            <a:avLst/>
          </a:prstGeom>
          <a:noFill/>
          <a:ln/>
        </p:spPr>
        <p:txBody>
          <a:bodyPr wrap="square" lIns="0" tIns="0" rIns="0" bIns="0" rtlCol="0" anchor="ctr"/>
          <a:lstStyle/>
          <a:p>
            <a:pPr indent="0" marL="0">
              <a:lnSpc>
                <a:spcPct val="108000"/>
              </a:lnSpc>
              <a:buNone/>
            </a:pPr>
            <a:r>
              <a:rPr lang="en-US" sz="1050" i="1" dirty="0">
                <a:solidFill>
                  <a:srgbClr val="9AA2AD"/>
                </a:solidFill>
                <a:latin typeface="Calibri" pitchFamily="34" charset="0"/>
                <a:ea typeface="Calibri" pitchFamily="34" charset="-122"/>
                <a:cs typeface="Calibri" pitchFamily="34" charset="-120"/>
              </a:rPr>
              <a:t>What ships, what it proves, and the thing that would show it was the wrong week's work. Name the file, route or dashboard where the answer appears.</a:t>
            </a:r>
            <a:endParaRPr lang="en-US" sz="1050" dirty="0"/>
          </a:p>
        </p:txBody>
      </p:sp>
      <p:sp>
        <p:nvSpPr>
          <p:cNvPr id="32" name="Shape 29"/>
          <p:cNvSpPr/>
          <p:nvPr/>
        </p:nvSpPr>
        <p:spPr>
          <a:xfrm>
            <a:off x="10515600" y="3886200"/>
            <a:ext cx="1005840" cy="237744"/>
          </a:xfrm>
          <a:prstGeom prst="roundRect">
            <a:avLst>
              <a:gd name="adj" fmla="val 11538"/>
            </a:avLst>
          </a:prstGeom>
          <a:solidFill>
            <a:srgbClr val="FFFFFF"/>
          </a:solidFill>
          <a:ln w="9525">
            <a:solidFill>
              <a:srgbClr val="C7CBD2"/>
            </a:solidFill>
            <a:prstDash val="dash"/>
          </a:ln>
        </p:spPr>
      </p:sp>
      <p:sp>
        <p:nvSpPr>
          <p:cNvPr id="33" name="Text 30"/>
          <p:cNvSpPr/>
          <p:nvPr/>
        </p:nvSpPr>
        <p:spPr>
          <a:xfrm>
            <a:off x="10515600" y="3886200"/>
            <a:ext cx="1005840" cy="237744"/>
          </a:xfrm>
          <a:prstGeom prst="rect">
            <a:avLst/>
          </a:prstGeom>
          <a:noFill/>
          <a:ln/>
        </p:spPr>
        <p:txBody>
          <a:bodyPr wrap="square" lIns="0" tIns="0" rIns="0" bIns="0" rtlCol="0" anchor="ctr"/>
          <a:lstStyle/>
          <a:p>
            <a:pPr algn="ctr" indent="0" marL="0">
              <a:buNone/>
            </a:pPr>
            <a:r>
              <a:rPr lang="en-US" sz="750" b="1" spc="60" kern="0" dirty="0">
                <a:solidFill>
                  <a:srgbClr val="68707E"/>
                </a:solidFill>
                <a:latin typeface="Calibri" pitchFamily="34" charset="0"/>
                <a:ea typeface="Calibri" pitchFamily="34" charset="-122"/>
                <a:cs typeface="Calibri" pitchFamily="34" charset="-120"/>
              </a:rPr>
              <a:t>MILESTONE?</a:t>
            </a:r>
            <a:endParaRPr lang="en-US" sz="750" dirty="0"/>
          </a:p>
        </p:txBody>
      </p:sp>
      <p:sp>
        <p:nvSpPr>
          <p:cNvPr id="34" name="Shape 31"/>
          <p:cNvSpPr/>
          <p:nvPr/>
        </p:nvSpPr>
        <p:spPr>
          <a:xfrm>
            <a:off x="566928" y="4581144"/>
            <a:ext cx="11057839" cy="914400"/>
          </a:xfrm>
          <a:prstGeom prst="roundRect">
            <a:avLst>
              <a:gd name="adj" fmla="val 6000"/>
            </a:avLst>
          </a:prstGeom>
          <a:solidFill>
            <a:srgbClr val="FFFFFF"/>
          </a:solidFill>
          <a:ln w="9525">
            <a:solidFill>
              <a:srgbClr val="C7CBD2"/>
            </a:solidFill>
            <a:prstDash val="dash"/>
          </a:ln>
        </p:spPr>
      </p:sp>
      <p:sp>
        <p:nvSpPr>
          <p:cNvPr id="35" name="Text 32"/>
          <p:cNvSpPr/>
          <p:nvPr/>
        </p:nvSpPr>
        <p:spPr>
          <a:xfrm>
            <a:off x="731520" y="4727448"/>
            <a:ext cx="749808" cy="329184"/>
          </a:xfrm>
          <a:prstGeom prst="rect">
            <a:avLst/>
          </a:prstGeom>
          <a:noFill/>
          <a:ln/>
        </p:spPr>
        <p:txBody>
          <a:bodyPr wrap="square" lIns="0" tIns="0" rIns="0" bIns="0" rtlCol="0" anchor="ctr"/>
          <a:lstStyle/>
          <a:p>
            <a:pPr indent="0" marL="0">
              <a:buNone/>
            </a:pPr>
            <a:r>
              <a:rPr lang="en-US" sz="1900" dirty="0">
                <a:solidFill>
                  <a:srgbClr val="C7CBD2"/>
                </a:solidFill>
                <a:latin typeface="Georgia" pitchFamily="34" charset="0"/>
                <a:ea typeface="Georgia" pitchFamily="34" charset="-122"/>
                <a:cs typeface="Georgia" pitchFamily="34" charset="-120"/>
              </a:rPr>
              <a:t>W12</a:t>
            </a:r>
            <a:endParaRPr lang="en-US" sz="1900" dirty="0"/>
          </a:p>
        </p:txBody>
      </p:sp>
      <p:sp>
        <p:nvSpPr>
          <p:cNvPr id="36" name="Text 33"/>
          <p:cNvSpPr/>
          <p:nvPr/>
        </p:nvSpPr>
        <p:spPr>
          <a:xfrm>
            <a:off x="731520" y="5074920"/>
            <a:ext cx="822960" cy="219456"/>
          </a:xfrm>
          <a:prstGeom prst="rect">
            <a:avLst/>
          </a:prstGeom>
          <a:noFill/>
          <a:ln/>
        </p:spPr>
        <p:txBody>
          <a:bodyPr wrap="square" lIns="0" tIns="0" rIns="0" bIns="0" rtlCol="0" anchor="ctr"/>
          <a:lstStyle/>
          <a:p>
            <a:pPr indent="0" marL="0">
              <a:buNone/>
            </a:pPr>
            <a:r>
              <a:rPr lang="en-US" sz="850" dirty="0">
                <a:solidFill>
                  <a:srgbClr val="C7CBD2"/>
                </a:solidFill>
                <a:latin typeface="Calibri" pitchFamily="34" charset="0"/>
                <a:ea typeface="Calibri" pitchFamily="34" charset="-122"/>
                <a:cs typeface="Calibri" pitchFamily="34" charset="-120"/>
              </a:rPr>
              <a:t>[ dates ]</a:t>
            </a:r>
            <a:endParaRPr lang="en-US" sz="850" dirty="0"/>
          </a:p>
        </p:txBody>
      </p:sp>
      <p:sp>
        <p:nvSpPr>
          <p:cNvPr id="37" name="Shape 34"/>
          <p:cNvSpPr/>
          <p:nvPr/>
        </p:nvSpPr>
        <p:spPr>
          <a:xfrm>
            <a:off x="1572768" y="4828032"/>
            <a:ext cx="420624" cy="420624"/>
          </a:xfrm>
          <a:prstGeom prst="roundRect">
            <a:avLst>
              <a:gd name="adj" fmla="val 10870"/>
            </a:avLst>
          </a:prstGeom>
          <a:solidFill>
            <a:srgbClr val="F5F4EF"/>
          </a:solidFill>
          <a:ln w="6350">
            <a:solidFill>
              <a:srgbClr val="F5F4EF"/>
            </a:solidFill>
            <a:prstDash val="solid"/>
          </a:ln>
        </p:spPr>
      </p:sp>
      <p:sp>
        <p:nvSpPr>
          <p:cNvPr id="38" name="Text 35"/>
          <p:cNvSpPr/>
          <p:nvPr/>
        </p:nvSpPr>
        <p:spPr>
          <a:xfrm>
            <a:off x="1572768" y="4828032"/>
            <a:ext cx="420624" cy="420624"/>
          </a:xfrm>
          <a:prstGeom prst="rect">
            <a:avLst/>
          </a:prstGeom>
          <a:noFill/>
          <a:ln/>
        </p:spPr>
        <p:txBody>
          <a:bodyPr wrap="square" lIns="0" tIns="0" rIns="0" bIns="0" rtlCol="0" anchor="ctr"/>
          <a:lstStyle/>
          <a:p>
            <a:pPr algn="ctr" indent="0" marL="0">
              <a:buNone/>
            </a:pPr>
            <a:r>
              <a:rPr lang="en-US" sz="1150" b="1" dirty="0">
                <a:solidFill>
                  <a:srgbClr val="4C5665"/>
                </a:solidFill>
                <a:latin typeface="Calibri" pitchFamily="34" charset="0"/>
                <a:ea typeface="Calibri" pitchFamily="34" charset="-122"/>
                <a:cs typeface="Calibri" pitchFamily="34" charset="-120"/>
              </a:rPr>
              <a:t>M6</a:t>
            </a:r>
            <a:endParaRPr lang="en-US" sz="1150" dirty="0"/>
          </a:p>
        </p:txBody>
      </p:sp>
      <p:sp>
        <p:nvSpPr>
          <p:cNvPr id="39" name="Text 36"/>
          <p:cNvSpPr/>
          <p:nvPr/>
        </p:nvSpPr>
        <p:spPr>
          <a:xfrm>
            <a:off x="2176272" y="4709160"/>
            <a:ext cx="3474720" cy="676656"/>
          </a:xfrm>
          <a:prstGeom prst="rect">
            <a:avLst/>
          </a:prstGeom>
          <a:noFill/>
          <a:ln/>
        </p:spPr>
        <p:txBody>
          <a:bodyPr wrap="square" lIns="0" tIns="0" rIns="0" bIns="0" rtlCol="0" anchor="ctr"/>
          <a:lstStyle/>
          <a:p>
            <a:pPr indent="0" marL="0">
              <a:lnSpc>
                <a:spcPct val="105000"/>
              </a:lnSpc>
              <a:buNone/>
            </a:pPr>
            <a:r>
              <a:rPr lang="en-US" sz="1100" i="1" dirty="0">
                <a:solidFill>
                  <a:srgbClr val="9AA2AD"/>
                </a:solidFill>
                <a:latin typeface="Calibri" pitchFamily="34" charset="0"/>
                <a:ea typeface="Calibri" pitchFamily="34" charset="-122"/>
                <a:cs typeface="Calibri" pitchFamily="34" charset="-120"/>
              </a:rPr>
              <a:t>One line: what this week is for.</a:t>
            </a:r>
            <a:endParaRPr lang="en-US" sz="1100" dirty="0"/>
          </a:p>
        </p:txBody>
      </p:sp>
      <p:sp>
        <p:nvSpPr>
          <p:cNvPr id="40" name="Text 37"/>
          <p:cNvSpPr/>
          <p:nvPr/>
        </p:nvSpPr>
        <p:spPr>
          <a:xfrm>
            <a:off x="5806440" y="4709160"/>
            <a:ext cx="4590288" cy="676656"/>
          </a:xfrm>
          <a:prstGeom prst="rect">
            <a:avLst/>
          </a:prstGeom>
          <a:noFill/>
          <a:ln/>
        </p:spPr>
        <p:txBody>
          <a:bodyPr wrap="square" lIns="0" tIns="0" rIns="0" bIns="0" rtlCol="0" anchor="ctr"/>
          <a:lstStyle/>
          <a:p>
            <a:pPr indent="0" marL="0">
              <a:lnSpc>
                <a:spcPct val="108000"/>
              </a:lnSpc>
              <a:buNone/>
            </a:pPr>
            <a:r>
              <a:rPr lang="en-US" sz="1050" i="1" dirty="0">
                <a:solidFill>
                  <a:srgbClr val="9AA2AD"/>
                </a:solidFill>
                <a:latin typeface="Calibri" pitchFamily="34" charset="0"/>
                <a:ea typeface="Calibri" pitchFamily="34" charset="-122"/>
                <a:cs typeface="Calibri" pitchFamily="34" charset="-120"/>
              </a:rPr>
              <a:t>What ships, what it proves, and the thing that would show it was the wrong week's work. Name the file, route or dashboard where the answer appears.</a:t>
            </a:r>
            <a:endParaRPr lang="en-US" sz="1050" dirty="0"/>
          </a:p>
        </p:txBody>
      </p:sp>
      <p:sp>
        <p:nvSpPr>
          <p:cNvPr id="41" name="Shape 38"/>
          <p:cNvSpPr/>
          <p:nvPr/>
        </p:nvSpPr>
        <p:spPr>
          <a:xfrm>
            <a:off x="10515600" y="4919472"/>
            <a:ext cx="1005840" cy="237744"/>
          </a:xfrm>
          <a:prstGeom prst="roundRect">
            <a:avLst>
              <a:gd name="adj" fmla="val 11538"/>
            </a:avLst>
          </a:prstGeom>
          <a:solidFill>
            <a:srgbClr val="FFFFFF"/>
          </a:solidFill>
          <a:ln w="9525">
            <a:solidFill>
              <a:srgbClr val="C7CBD2"/>
            </a:solidFill>
            <a:prstDash val="dash"/>
          </a:ln>
        </p:spPr>
      </p:sp>
      <p:sp>
        <p:nvSpPr>
          <p:cNvPr id="42" name="Text 39"/>
          <p:cNvSpPr/>
          <p:nvPr/>
        </p:nvSpPr>
        <p:spPr>
          <a:xfrm>
            <a:off x="10515600" y="4919472"/>
            <a:ext cx="1005840" cy="237744"/>
          </a:xfrm>
          <a:prstGeom prst="rect">
            <a:avLst/>
          </a:prstGeom>
          <a:noFill/>
          <a:ln/>
        </p:spPr>
        <p:txBody>
          <a:bodyPr wrap="square" lIns="0" tIns="0" rIns="0" bIns="0" rtlCol="0" anchor="ctr"/>
          <a:lstStyle/>
          <a:p>
            <a:pPr algn="ctr" indent="0" marL="0">
              <a:buNone/>
            </a:pPr>
            <a:r>
              <a:rPr lang="en-US" sz="750" b="1" spc="60" kern="0" dirty="0">
                <a:solidFill>
                  <a:srgbClr val="68707E"/>
                </a:solidFill>
                <a:latin typeface="Calibri" pitchFamily="34" charset="0"/>
                <a:ea typeface="Calibri" pitchFamily="34" charset="-122"/>
                <a:cs typeface="Calibri" pitchFamily="34" charset="-120"/>
              </a:rPr>
              <a:t>MILESTONE?</a:t>
            </a:r>
            <a:endParaRPr lang="en-US" sz="750" dirty="0"/>
          </a:p>
        </p:txBody>
      </p:sp>
      <p:sp>
        <p:nvSpPr>
          <p:cNvPr id="43" name="Shape 40"/>
          <p:cNvSpPr/>
          <p:nvPr/>
        </p:nvSpPr>
        <p:spPr>
          <a:xfrm>
            <a:off x="566928" y="5632704"/>
            <a:ext cx="11057839" cy="566928"/>
          </a:xfrm>
          <a:prstGeom prst="roundRect">
            <a:avLst>
              <a:gd name="adj" fmla="val 9677"/>
            </a:avLst>
          </a:prstGeom>
          <a:solidFill>
            <a:srgbClr val="FFFFFF"/>
          </a:solidFill>
          <a:ln w="9525">
            <a:solidFill>
              <a:srgbClr val="C7CBD2"/>
            </a:solidFill>
            <a:prstDash val="dash"/>
          </a:ln>
        </p:spPr>
      </p:sp>
      <p:sp>
        <p:nvSpPr>
          <p:cNvPr id="44" name="Text 41"/>
          <p:cNvSpPr/>
          <p:nvPr/>
        </p:nvSpPr>
        <p:spPr>
          <a:xfrm>
            <a:off x="749808" y="5733288"/>
            <a:ext cx="4572000" cy="201168"/>
          </a:xfrm>
          <a:prstGeom prst="rect">
            <a:avLst/>
          </a:prstGeom>
          <a:noFill/>
          <a:ln/>
        </p:spPr>
        <p:txBody>
          <a:bodyPr wrap="square" lIns="0" tIns="0" rIns="0" bIns="0" rtlCol="0" anchor="ctr"/>
          <a:lstStyle/>
          <a:p>
            <a:pPr indent="0" marL="0">
              <a:buNone/>
            </a:pPr>
            <a:r>
              <a:rPr lang="en-US" sz="950" b="1" spc="130" kern="0" dirty="0">
                <a:solidFill>
                  <a:srgbClr val="C7CBD2"/>
                </a:solidFill>
                <a:latin typeface="Calibri" pitchFamily="34" charset="0"/>
                <a:ea typeface="Calibri" pitchFamily="34" charset="-122"/>
                <a:cs typeface="Calibri" pitchFamily="34" charset="-120"/>
              </a:rPr>
              <a:t>WHAT THIS BLOCK IS JUDGED ON</a:t>
            </a:r>
            <a:endParaRPr lang="en-US" sz="950" dirty="0"/>
          </a:p>
        </p:txBody>
      </p:sp>
      <p:sp>
        <p:nvSpPr>
          <p:cNvPr id="45" name="Text 42"/>
          <p:cNvSpPr/>
          <p:nvPr/>
        </p:nvSpPr>
        <p:spPr>
          <a:xfrm>
            <a:off x="749808" y="5897880"/>
            <a:ext cx="10692079" cy="237744"/>
          </a:xfrm>
          <a:prstGeom prst="rect">
            <a:avLst/>
          </a:prstGeom>
          <a:noFill/>
          <a:ln/>
        </p:spPr>
        <p:txBody>
          <a:bodyPr wrap="square" lIns="0" tIns="0" rIns="0" bIns="0" rtlCol="0" anchor="ctr"/>
          <a:lstStyle/>
          <a:p>
            <a:pPr indent="0" marL="0">
              <a:buNone/>
            </a:pPr>
            <a:r>
              <a:rPr lang="en-US" sz="1050" i="1" dirty="0">
                <a:solidFill>
                  <a:srgbClr val="9AA2AD"/>
                </a:solidFill>
                <a:latin typeface="Calibri" pitchFamily="34" charset="0"/>
                <a:ea typeface="Calibri" pitchFamily="34" charset="-122"/>
                <a:cs typeface="Calibri" pitchFamily="34" charset="-120"/>
              </a:rPr>
              <a:t>One sentence. Not a summary of the four rows — the reason they are in this order.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566928" y="384048"/>
            <a:ext cx="11057839" cy="219456"/>
          </a:xfrm>
          <a:prstGeom prst="rect">
            <a:avLst/>
          </a:prstGeom>
          <a:noFill/>
          <a:ln/>
        </p:spPr>
        <p:txBody>
          <a:bodyPr wrap="square" lIns="0" tIns="0" rIns="0" bIns="0" rtlCol="0" anchor="ctr"/>
          <a:lstStyle/>
          <a:p>
            <a:pPr indent="0" marL="0">
              <a:buNone/>
            </a:pPr>
            <a:r>
              <a:rPr lang="en-US" sz="1000" b="1" spc="150" kern="0" dirty="0">
                <a:solidFill>
                  <a:srgbClr val="B91C1C"/>
                </a:solidFill>
                <a:latin typeface="Calibri" pitchFamily="34" charset="0"/>
                <a:ea typeface="Calibri" pitchFamily="34" charset="-122"/>
                <a:cs typeface="Calibri" pitchFamily="34" charset="-120"/>
              </a:rPr>
              <a:t>THE HONEST INVENTORY</a:t>
            </a:r>
            <a:endParaRPr lang="en-US" sz="1000" dirty="0"/>
          </a:p>
        </p:txBody>
      </p:sp>
      <p:sp>
        <p:nvSpPr>
          <p:cNvPr id="3" name="Text 1"/>
          <p:cNvSpPr/>
          <p:nvPr/>
        </p:nvSpPr>
        <p:spPr>
          <a:xfrm>
            <a:off x="566928" y="621792"/>
            <a:ext cx="11057839" cy="566928"/>
          </a:xfrm>
          <a:prstGeom prst="rect">
            <a:avLst/>
          </a:prstGeom>
          <a:noFill/>
          <a:ln/>
        </p:spPr>
        <p:txBody>
          <a:bodyPr wrap="square" lIns="0" tIns="0" rIns="0" bIns="0" rtlCol="0" anchor="ctr"/>
          <a:lstStyle/>
          <a:p>
            <a:pPr indent="0" marL="0">
              <a:buNone/>
            </a:pPr>
            <a:r>
              <a:rPr lang="en-US" sz="3000" dirty="0">
                <a:solidFill>
                  <a:srgbClr val="1A2433"/>
                </a:solidFill>
                <a:latin typeface="Georgia" pitchFamily="34" charset="0"/>
                <a:ea typeface="Georgia" pitchFamily="34" charset="-122"/>
                <a:cs typeface="Georgia" pitchFamily="34" charset="-120"/>
              </a:rPr>
              <a:t>[ What is finished and switched off? ]</a:t>
            </a:r>
            <a:endParaRPr lang="en-US" sz="3000" dirty="0"/>
          </a:p>
        </p:txBody>
      </p:sp>
      <p:pic>
        <p:nvPicPr>
          <p:cNvPr id="4" name="Image 0" descr="preencoded.png">    </p:cNvPr>
          <p:cNvPicPr>
            <a:picLocks noChangeAspect="1"/>
          </p:cNvPicPr>
          <p:nvPr/>
        </p:nvPicPr>
        <p:blipFill>
          <a:blip r:embed="rId1"/>
          <a:stretch>
            <a:fillRect/>
          </a:stretch>
        </p:blipFill>
        <p:spPr>
          <a:xfrm>
            <a:off x="566928" y="6373368"/>
            <a:ext cx="162560" cy="162560"/>
          </a:xfrm>
          <a:prstGeom prst="rect">
            <a:avLst/>
          </a:prstGeom>
        </p:spPr>
      </p:pic>
      <p:sp>
        <p:nvSpPr>
          <p:cNvPr id="5" name="Text 2"/>
          <p:cNvSpPr/>
          <p:nvPr/>
        </p:nvSpPr>
        <p:spPr>
          <a:xfrm>
            <a:off x="793496" y="6345936"/>
            <a:ext cx="2194560" cy="217424"/>
          </a:xfrm>
          <a:prstGeom prst="rect">
            <a:avLst/>
          </a:prstGeom>
          <a:noFill/>
          <a:ln/>
        </p:spPr>
        <p:txBody>
          <a:bodyPr wrap="square" lIns="0" tIns="0" rIns="0" bIns="0" rtlCol="0" anchor="ctr"/>
          <a:lstStyle/>
          <a:p>
            <a:pPr indent="0" marL="0">
              <a:buNone/>
            </a:pPr>
            <a:r>
              <a:rPr lang="en-US" sz="800" b="1" spc="104" kern="0" dirty="0">
                <a:solidFill>
                  <a:srgbClr val="1A2433"/>
                </a:solidFill>
                <a:latin typeface="Calibri" pitchFamily="34" charset="0"/>
                <a:ea typeface="Calibri" pitchFamily="34" charset="-122"/>
                <a:cs typeface="Calibri" pitchFamily="34" charset="-120"/>
              </a:rPr>
              <a:t>COMP</a:t>
            </a:r>
            <a:pPr indent="0" marL="0">
              <a:buNone/>
            </a:pPr>
            <a:r>
              <a:rPr lang="en-US" sz="800" b="1" spc="104" kern="0" dirty="0">
                <a:solidFill>
                  <a:srgbClr val="B91C1C"/>
                </a:solidFill>
                <a:latin typeface="Calibri" pitchFamily="34" charset="0"/>
                <a:ea typeface="Calibri" pitchFamily="34" charset="-122"/>
                <a:cs typeface="Calibri" pitchFamily="34" charset="-120"/>
              </a:rPr>
              <a:t>NINJA</a:t>
            </a:r>
            <a:endParaRPr lang="en-US" sz="800" dirty="0"/>
          </a:p>
        </p:txBody>
      </p:sp>
      <p:sp>
        <p:nvSpPr>
          <p:cNvPr id="6" name="Text 3"/>
          <p:cNvSpPr/>
          <p:nvPr/>
        </p:nvSpPr>
        <p:spPr>
          <a:xfrm>
            <a:off x="10527487" y="6355080"/>
            <a:ext cx="1097280" cy="256032"/>
          </a:xfrm>
          <a:prstGeom prst="rect">
            <a:avLst/>
          </a:prstGeom>
          <a:noFill/>
          <a:ln/>
        </p:spPr>
        <p:txBody>
          <a:bodyPr wrap="square" lIns="0" tIns="0" rIns="0" bIns="0" rtlCol="0" anchor="ctr"/>
          <a:lstStyle/>
          <a:p>
            <a:pPr algn="r" indent="0" marL="0">
              <a:buNone/>
            </a:pPr>
            <a:r>
              <a:rPr lang="en-US" sz="950" dirty="0">
                <a:solidFill>
                  <a:srgbClr val="9AA2AD"/>
                </a:solidFill>
                <a:latin typeface="Calibri" pitchFamily="34" charset="0"/>
                <a:ea typeface="Calibri" pitchFamily="34" charset="-122"/>
                <a:cs typeface="Calibri" pitchFamily="34" charset="-120"/>
              </a:rPr>
              <a:t>8</a:t>
            </a:r>
            <a:endParaRPr lang="en-US" sz="950" dirty="0"/>
          </a:p>
        </p:txBody>
      </p:sp>
      <p:sp>
        <p:nvSpPr>
          <p:cNvPr id="7" name="Text 4"/>
          <p:cNvSpPr/>
          <p:nvPr/>
        </p:nvSpPr>
        <p:spPr>
          <a:xfrm>
            <a:off x="566928" y="1444752"/>
            <a:ext cx="11057839" cy="475488"/>
          </a:xfrm>
          <a:prstGeom prst="rect">
            <a:avLst/>
          </a:prstGeom>
          <a:noFill/>
          <a:ln/>
        </p:spPr>
        <p:txBody>
          <a:bodyPr wrap="square" lIns="0" tIns="0" rIns="0" bIns="0" rtlCol="0" anchor="t"/>
          <a:lstStyle/>
          <a:p>
            <a:pPr indent="0" marL="0">
              <a:lnSpc>
                <a:spcPct val="110000"/>
              </a:lnSpc>
              <a:buNone/>
            </a:pPr>
            <a:r>
              <a:rPr lang="en-US" sz="1250" dirty="0">
                <a:solidFill>
                  <a:srgbClr val="374253"/>
                </a:solidFill>
                <a:latin typeface="Calibri" pitchFamily="34" charset="0"/>
                <a:ea typeface="Calibri" pitchFamily="34" charset="-122"/>
                <a:cs typeface="Calibri" pitchFamily="34" charset="-120"/>
              </a:rPr>
              <a:t>Run this audit before adding anything to the weeks. Work that is built but inert is the cheapest progress available, and the easiest to leave sitting for months because nothing complains.</a:t>
            </a:r>
            <a:endParaRPr lang="en-US" sz="1250" dirty="0"/>
          </a:p>
        </p:txBody>
      </p:sp>
      <p:sp>
        <p:nvSpPr>
          <p:cNvPr id="8" name="Shape 5"/>
          <p:cNvSpPr/>
          <p:nvPr/>
        </p:nvSpPr>
        <p:spPr>
          <a:xfrm>
            <a:off x="566928" y="2084832"/>
            <a:ext cx="11057839" cy="713232"/>
          </a:xfrm>
          <a:prstGeom prst="roundRect">
            <a:avLst>
              <a:gd name="adj" fmla="val 7692"/>
            </a:avLst>
          </a:prstGeom>
          <a:solidFill>
            <a:srgbClr val="FFFFFF"/>
          </a:solidFill>
          <a:ln w="9525">
            <a:solidFill>
              <a:srgbClr val="C7CBD2"/>
            </a:solidFill>
            <a:prstDash val="dash"/>
          </a:ln>
        </p:spPr>
      </p:sp>
      <p:sp>
        <p:nvSpPr>
          <p:cNvPr id="9" name="Text 6"/>
          <p:cNvSpPr/>
          <p:nvPr/>
        </p:nvSpPr>
        <p:spPr>
          <a:xfrm>
            <a:off x="804672" y="2139696"/>
            <a:ext cx="2148840" cy="603504"/>
          </a:xfrm>
          <a:prstGeom prst="rect">
            <a:avLst/>
          </a:prstGeom>
          <a:noFill/>
          <a:ln/>
        </p:spPr>
        <p:txBody>
          <a:bodyPr wrap="square" lIns="0" tIns="0" rIns="0" bIns="0" rtlCol="0" anchor="ctr"/>
          <a:lstStyle/>
          <a:p>
            <a:pPr indent="0" marL="0">
              <a:buNone/>
            </a:pPr>
            <a:r>
              <a:rPr lang="en-US" sz="1450" dirty="0">
                <a:solidFill>
                  <a:srgbClr val="9AA2AD"/>
                </a:solidFill>
                <a:latin typeface="Georgia" pitchFamily="34" charset="0"/>
                <a:ea typeface="Georgia" pitchFamily="34" charset="-122"/>
                <a:cs typeface="Georgia" pitchFamily="34" charset="-120"/>
              </a:rPr>
              <a:t>[ name ]</a:t>
            </a:r>
            <a:endParaRPr lang="en-US" sz="1450" dirty="0"/>
          </a:p>
        </p:txBody>
      </p:sp>
      <p:sp>
        <p:nvSpPr>
          <p:cNvPr id="10" name="Text 7"/>
          <p:cNvSpPr/>
          <p:nvPr/>
        </p:nvSpPr>
        <p:spPr>
          <a:xfrm>
            <a:off x="3035808" y="2139696"/>
            <a:ext cx="6903720" cy="603504"/>
          </a:xfrm>
          <a:prstGeom prst="rect">
            <a:avLst/>
          </a:prstGeom>
          <a:noFill/>
          <a:ln/>
        </p:spPr>
        <p:txBody>
          <a:bodyPr wrap="square" lIns="0" tIns="0" rIns="0" bIns="0" rtlCol="0" anchor="ctr"/>
          <a:lstStyle/>
          <a:p>
            <a:pPr indent="0" marL="0">
              <a:buNone/>
            </a:pPr>
            <a:r>
              <a:rPr lang="en-US" sz="1050" i="1" dirty="0">
                <a:solidFill>
                  <a:srgbClr val="9AA2AD"/>
                </a:solidFill>
                <a:latin typeface="Calibri" pitchFamily="34" charset="0"/>
                <a:ea typeface="Calibri" pitchFamily="34" charset="-122"/>
                <a:cs typeface="Calibri" pitchFamily="34" charset="-120"/>
              </a:rPr>
              <a:t>What it does, and what it would do if it were switched on. One line.</a:t>
            </a:r>
            <a:endParaRPr lang="en-US" sz="1050" dirty="0"/>
          </a:p>
        </p:txBody>
      </p:sp>
      <p:sp>
        <p:nvSpPr>
          <p:cNvPr id="11" name="Shape 8"/>
          <p:cNvSpPr/>
          <p:nvPr/>
        </p:nvSpPr>
        <p:spPr>
          <a:xfrm>
            <a:off x="9646920" y="2322576"/>
            <a:ext cx="1874520" cy="237744"/>
          </a:xfrm>
          <a:prstGeom prst="roundRect">
            <a:avLst>
              <a:gd name="adj" fmla="val 11538"/>
            </a:avLst>
          </a:prstGeom>
          <a:solidFill>
            <a:srgbClr val="FFFFFF"/>
          </a:solidFill>
          <a:ln w="9525">
            <a:solidFill>
              <a:srgbClr val="C7CBD2"/>
            </a:solidFill>
            <a:prstDash val="dash"/>
          </a:ln>
        </p:spPr>
      </p:sp>
      <p:sp>
        <p:nvSpPr>
          <p:cNvPr id="12" name="Text 9"/>
          <p:cNvSpPr/>
          <p:nvPr/>
        </p:nvSpPr>
        <p:spPr>
          <a:xfrm>
            <a:off x="9646920" y="2322576"/>
            <a:ext cx="1874520" cy="237744"/>
          </a:xfrm>
          <a:prstGeom prst="rect">
            <a:avLst/>
          </a:prstGeom>
          <a:noFill/>
          <a:ln/>
        </p:spPr>
        <p:txBody>
          <a:bodyPr wrap="square" lIns="0" tIns="0" rIns="0" bIns="0" rtlCol="0" anchor="ctr"/>
          <a:lstStyle/>
          <a:p>
            <a:pPr algn="ctr" indent="0" marL="0">
              <a:buNone/>
            </a:pPr>
            <a:r>
              <a:rPr lang="en-US" sz="850" b="1" spc="100" kern="0" dirty="0">
                <a:solidFill>
                  <a:srgbClr val="68707E"/>
                </a:solidFill>
                <a:latin typeface="Calibri" pitchFamily="34" charset="0"/>
                <a:ea typeface="Calibri" pitchFamily="34" charset="-122"/>
                <a:cs typeface="Calibri" pitchFamily="34" charset="-120"/>
              </a:rPr>
              <a:t>STATE</a:t>
            </a:r>
            <a:endParaRPr lang="en-US" sz="850" dirty="0"/>
          </a:p>
        </p:txBody>
      </p:sp>
      <p:sp>
        <p:nvSpPr>
          <p:cNvPr id="13" name="Shape 10"/>
          <p:cNvSpPr/>
          <p:nvPr/>
        </p:nvSpPr>
        <p:spPr>
          <a:xfrm>
            <a:off x="566928" y="2907792"/>
            <a:ext cx="11057839" cy="713232"/>
          </a:xfrm>
          <a:prstGeom prst="roundRect">
            <a:avLst>
              <a:gd name="adj" fmla="val 7692"/>
            </a:avLst>
          </a:prstGeom>
          <a:solidFill>
            <a:srgbClr val="FFFFFF"/>
          </a:solidFill>
          <a:ln w="9525">
            <a:solidFill>
              <a:srgbClr val="C7CBD2"/>
            </a:solidFill>
            <a:prstDash val="dash"/>
          </a:ln>
        </p:spPr>
      </p:sp>
      <p:sp>
        <p:nvSpPr>
          <p:cNvPr id="14" name="Text 11"/>
          <p:cNvSpPr/>
          <p:nvPr/>
        </p:nvSpPr>
        <p:spPr>
          <a:xfrm>
            <a:off x="804672" y="2962656"/>
            <a:ext cx="2148840" cy="603504"/>
          </a:xfrm>
          <a:prstGeom prst="rect">
            <a:avLst/>
          </a:prstGeom>
          <a:noFill/>
          <a:ln/>
        </p:spPr>
        <p:txBody>
          <a:bodyPr wrap="square" lIns="0" tIns="0" rIns="0" bIns="0" rtlCol="0" anchor="ctr"/>
          <a:lstStyle/>
          <a:p>
            <a:pPr indent="0" marL="0">
              <a:buNone/>
            </a:pPr>
            <a:r>
              <a:rPr lang="en-US" sz="1450" dirty="0">
                <a:solidFill>
                  <a:srgbClr val="9AA2AD"/>
                </a:solidFill>
                <a:latin typeface="Georgia" pitchFamily="34" charset="0"/>
                <a:ea typeface="Georgia" pitchFamily="34" charset="-122"/>
                <a:cs typeface="Georgia" pitchFamily="34" charset="-120"/>
              </a:rPr>
              <a:t>[ name ]</a:t>
            </a:r>
            <a:endParaRPr lang="en-US" sz="1450" dirty="0"/>
          </a:p>
        </p:txBody>
      </p:sp>
      <p:sp>
        <p:nvSpPr>
          <p:cNvPr id="15" name="Text 12"/>
          <p:cNvSpPr/>
          <p:nvPr/>
        </p:nvSpPr>
        <p:spPr>
          <a:xfrm>
            <a:off x="3035808" y="2962656"/>
            <a:ext cx="6903720" cy="603504"/>
          </a:xfrm>
          <a:prstGeom prst="rect">
            <a:avLst/>
          </a:prstGeom>
          <a:noFill/>
          <a:ln/>
        </p:spPr>
        <p:txBody>
          <a:bodyPr wrap="square" lIns="0" tIns="0" rIns="0" bIns="0" rtlCol="0" anchor="ctr"/>
          <a:lstStyle/>
          <a:p>
            <a:pPr indent="0" marL="0">
              <a:buNone/>
            </a:pPr>
            <a:r>
              <a:rPr lang="en-US" sz="1050" i="1" dirty="0">
                <a:solidFill>
                  <a:srgbClr val="9AA2AD"/>
                </a:solidFill>
                <a:latin typeface="Calibri" pitchFamily="34" charset="0"/>
                <a:ea typeface="Calibri" pitchFamily="34" charset="-122"/>
                <a:cs typeface="Calibri" pitchFamily="34" charset="-120"/>
              </a:rPr>
              <a:t>…</a:t>
            </a:r>
            <a:endParaRPr lang="en-US" sz="1050" dirty="0"/>
          </a:p>
        </p:txBody>
      </p:sp>
      <p:sp>
        <p:nvSpPr>
          <p:cNvPr id="16" name="Shape 13"/>
          <p:cNvSpPr/>
          <p:nvPr/>
        </p:nvSpPr>
        <p:spPr>
          <a:xfrm>
            <a:off x="9646920" y="3145536"/>
            <a:ext cx="1874520" cy="237744"/>
          </a:xfrm>
          <a:prstGeom prst="roundRect">
            <a:avLst>
              <a:gd name="adj" fmla="val 11538"/>
            </a:avLst>
          </a:prstGeom>
          <a:solidFill>
            <a:srgbClr val="FFFFFF"/>
          </a:solidFill>
          <a:ln w="9525">
            <a:solidFill>
              <a:srgbClr val="C7CBD2"/>
            </a:solidFill>
            <a:prstDash val="dash"/>
          </a:ln>
        </p:spPr>
      </p:sp>
      <p:sp>
        <p:nvSpPr>
          <p:cNvPr id="17" name="Text 14"/>
          <p:cNvSpPr/>
          <p:nvPr/>
        </p:nvSpPr>
        <p:spPr>
          <a:xfrm>
            <a:off x="9646920" y="3145536"/>
            <a:ext cx="1874520" cy="237744"/>
          </a:xfrm>
          <a:prstGeom prst="rect">
            <a:avLst/>
          </a:prstGeom>
          <a:noFill/>
          <a:ln/>
        </p:spPr>
        <p:txBody>
          <a:bodyPr wrap="square" lIns="0" tIns="0" rIns="0" bIns="0" rtlCol="0" anchor="ctr"/>
          <a:lstStyle/>
          <a:p>
            <a:pPr algn="ctr" indent="0" marL="0">
              <a:buNone/>
            </a:pPr>
            <a:r>
              <a:rPr lang="en-US" sz="850" b="1" spc="100" kern="0" dirty="0">
                <a:solidFill>
                  <a:srgbClr val="68707E"/>
                </a:solidFill>
                <a:latin typeface="Calibri" pitchFamily="34" charset="0"/>
                <a:ea typeface="Calibri" pitchFamily="34" charset="-122"/>
                <a:cs typeface="Calibri" pitchFamily="34" charset="-120"/>
              </a:rPr>
              <a:t>STATE</a:t>
            </a:r>
            <a:endParaRPr lang="en-US" sz="850" dirty="0"/>
          </a:p>
        </p:txBody>
      </p:sp>
      <p:sp>
        <p:nvSpPr>
          <p:cNvPr id="18" name="Shape 15"/>
          <p:cNvSpPr/>
          <p:nvPr/>
        </p:nvSpPr>
        <p:spPr>
          <a:xfrm>
            <a:off x="566928" y="3730752"/>
            <a:ext cx="11057839" cy="713232"/>
          </a:xfrm>
          <a:prstGeom prst="roundRect">
            <a:avLst>
              <a:gd name="adj" fmla="val 7692"/>
            </a:avLst>
          </a:prstGeom>
          <a:solidFill>
            <a:srgbClr val="FFFFFF"/>
          </a:solidFill>
          <a:ln w="9525">
            <a:solidFill>
              <a:srgbClr val="C7CBD2"/>
            </a:solidFill>
            <a:prstDash val="dash"/>
          </a:ln>
        </p:spPr>
      </p:sp>
      <p:sp>
        <p:nvSpPr>
          <p:cNvPr id="19" name="Text 16"/>
          <p:cNvSpPr/>
          <p:nvPr/>
        </p:nvSpPr>
        <p:spPr>
          <a:xfrm>
            <a:off x="804672" y="3785616"/>
            <a:ext cx="2148840" cy="603504"/>
          </a:xfrm>
          <a:prstGeom prst="rect">
            <a:avLst/>
          </a:prstGeom>
          <a:noFill/>
          <a:ln/>
        </p:spPr>
        <p:txBody>
          <a:bodyPr wrap="square" lIns="0" tIns="0" rIns="0" bIns="0" rtlCol="0" anchor="ctr"/>
          <a:lstStyle/>
          <a:p>
            <a:pPr indent="0" marL="0">
              <a:buNone/>
            </a:pPr>
            <a:r>
              <a:rPr lang="en-US" sz="1450" dirty="0">
                <a:solidFill>
                  <a:srgbClr val="9AA2AD"/>
                </a:solidFill>
                <a:latin typeface="Georgia" pitchFamily="34" charset="0"/>
                <a:ea typeface="Georgia" pitchFamily="34" charset="-122"/>
                <a:cs typeface="Georgia" pitchFamily="34" charset="-120"/>
              </a:rPr>
              <a:t>[ name ]</a:t>
            </a:r>
            <a:endParaRPr lang="en-US" sz="1450" dirty="0"/>
          </a:p>
        </p:txBody>
      </p:sp>
      <p:sp>
        <p:nvSpPr>
          <p:cNvPr id="20" name="Text 17"/>
          <p:cNvSpPr/>
          <p:nvPr/>
        </p:nvSpPr>
        <p:spPr>
          <a:xfrm>
            <a:off x="3035808" y="3785616"/>
            <a:ext cx="6903720" cy="603504"/>
          </a:xfrm>
          <a:prstGeom prst="rect">
            <a:avLst/>
          </a:prstGeom>
          <a:noFill/>
          <a:ln/>
        </p:spPr>
        <p:txBody>
          <a:bodyPr wrap="square" lIns="0" tIns="0" rIns="0" bIns="0" rtlCol="0" anchor="ctr"/>
          <a:lstStyle/>
          <a:p>
            <a:pPr indent="0" marL="0">
              <a:buNone/>
            </a:pPr>
            <a:r>
              <a:rPr lang="en-US" sz="1050" i="1" dirty="0">
                <a:solidFill>
                  <a:srgbClr val="9AA2AD"/>
                </a:solidFill>
                <a:latin typeface="Calibri" pitchFamily="34" charset="0"/>
                <a:ea typeface="Calibri" pitchFamily="34" charset="-122"/>
                <a:cs typeface="Calibri" pitchFamily="34" charset="-120"/>
              </a:rPr>
              <a:t>…</a:t>
            </a:r>
            <a:endParaRPr lang="en-US" sz="1050" dirty="0"/>
          </a:p>
        </p:txBody>
      </p:sp>
      <p:sp>
        <p:nvSpPr>
          <p:cNvPr id="21" name="Shape 18"/>
          <p:cNvSpPr/>
          <p:nvPr/>
        </p:nvSpPr>
        <p:spPr>
          <a:xfrm>
            <a:off x="9646920" y="3968496"/>
            <a:ext cx="1874520" cy="237744"/>
          </a:xfrm>
          <a:prstGeom prst="roundRect">
            <a:avLst>
              <a:gd name="adj" fmla="val 11538"/>
            </a:avLst>
          </a:prstGeom>
          <a:solidFill>
            <a:srgbClr val="FFFFFF"/>
          </a:solidFill>
          <a:ln w="9525">
            <a:solidFill>
              <a:srgbClr val="C7CBD2"/>
            </a:solidFill>
            <a:prstDash val="dash"/>
          </a:ln>
        </p:spPr>
      </p:sp>
      <p:sp>
        <p:nvSpPr>
          <p:cNvPr id="22" name="Text 19"/>
          <p:cNvSpPr/>
          <p:nvPr/>
        </p:nvSpPr>
        <p:spPr>
          <a:xfrm>
            <a:off x="9646920" y="3968496"/>
            <a:ext cx="1874520" cy="237744"/>
          </a:xfrm>
          <a:prstGeom prst="rect">
            <a:avLst/>
          </a:prstGeom>
          <a:noFill/>
          <a:ln/>
        </p:spPr>
        <p:txBody>
          <a:bodyPr wrap="square" lIns="0" tIns="0" rIns="0" bIns="0" rtlCol="0" anchor="ctr"/>
          <a:lstStyle/>
          <a:p>
            <a:pPr algn="ctr" indent="0" marL="0">
              <a:buNone/>
            </a:pPr>
            <a:r>
              <a:rPr lang="en-US" sz="850" b="1" spc="100" kern="0" dirty="0">
                <a:solidFill>
                  <a:srgbClr val="68707E"/>
                </a:solidFill>
                <a:latin typeface="Calibri" pitchFamily="34" charset="0"/>
                <a:ea typeface="Calibri" pitchFamily="34" charset="-122"/>
                <a:cs typeface="Calibri" pitchFamily="34" charset="-120"/>
              </a:rPr>
              <a:t>STATE</a:t>
            </a:r>
            <a:endParaRPr lang="en-US" sz="850" dirty="0"/>
          </a:p>
        </p:txBody>
      </p:sp>
      <p:sp>
        <p:nvSpPr>
          <p:cNvPr id="23" name="Shape 20"/>
          <p:cNvSpPr/>
          <p:nvPr/>
        </p:nvSpPr>
        <p:spPr>
          <a:xfrm>
            <a:off x="566928" y="4553712"/>
            <a:ext cx="11057839" cy="713232"/>
          </a:xfrm>
          <a:prstGeom prst="roundRect">
            <a:avLst>
              <a:gd name="adj" fmla="val 7692"/>
            </a:avLst>
          </a:prstGeom>
          <a:solidFill>
            <a:srgbClr val="FFFFFF"/>
          </a:solidFill>
          <a:ln w="9525">
            <a:solidFill>
              <a:srgbClr val="C7CBD2"/>
            </a:solidFill>
            <a:prstDash val="dash"/>
          </a:ln>
        </p:spPr>
      </p:sp>
      <p:sp>
        <p:nvSpPr>
          <p:cNvPr id="24" name="Text 21"/>
          <p:cNvSpPr/>
          <p:nvPr/>
        </p:nvSpPr>
        <p:spPr>
          <a:xfrm>
            <a:off x="804672" y="4608576"/>
            <a:ext cx="2148840" cy="603504"/>
          </a:xfrm>
          <a:prstGeom prst="rect">
            <a:avLst/>
          </a:prstGeom>
          <a:noFill/>
          <a:ln/>
        </p:spPr>
        <p:txBody>
          <a:bodyPr wrap="square" lIns="0" tIns="0" rIns="0" bIns="0" rtlCol="0" anchor="ctr"/>
          <a:lstStyle/>
          <a:p>
            <a:pPr indent="0" marL="0">
              <a:buNone/>
            </a:pPr>
            <a:r>
              <a:rPr lang="en-US" sz="1450" dirty="0">
                <a:solidFill>
                  <a:srgbClr val="9AA2AD"/>
                </a:solidFill>
                <a:latin typeface="Georgia" pitchFamily="34" charset="0"/>
                <a:ea typeface="Georgia" pitchFamily="34" charset="-122"/>
                <a:cs typeface="Georgia" pitchFamily="34" charset="-120"/>
              </a:rPr>
              <a:t>[ name ]</a:t>
            </a:r>
            <a:endParaRPr lang="en-US" sz="1450" dirty="0"/>
          </a:p>
        </p:txBody>
      </p:sp>
      <p:sp>
        <p:nvSpPr>
          <p:cNvPr id="25" name="Text 22"/>
          <p:cNvSpPr/>
          <p:nvPr/>
        </p:nvSpPr>
        <p:spPr>
          <a:xfrm>
            <a:off x="3035808" y="4608576"/>
            <a:ext cx="6903720" cy="603504"/>
          </a:xfrm>
          <a:prstGeom prst="rect">
            <a:avLst/>
          </a:prstGeom>
          <a:noFill/>
          <a:ln/>
        </p:spPr>
        <p:txBody>
          <a:bodyPr wrap="square" lIns="0" tIns="0" rIns="0" bIns="0" rtlCol="0" anchor="ctr"/>
          <a:lstStyle/>
          <a:p>
            <a:pPr indent="0" marL="0">
              <a:buNone/>
            </a:pPr>
            <a:r>
              <a:rPr lang="en-US" sz="1050" i="1" dirty="0">
                <a:solidFill>
                  <a:srgbClr val="9AA2AD"/>
                </a:solidFill>
                <a:latin typeface="Calibri" pitchFamily="34" charset="0"/>
                <a:ea typeface="Calibri" pitchFamily="34" charset="-122"/>
                <a:cs typeface="Calibri" pitchFamily="34" charset="-120"/>
              </a:rPr>
              <a:t>…</a:t>
            </a:r>
            <a:endParaRPr lang="en-US" sz="1050" dirty="0"/>
          </a:p>
        </p:txBody>
      </p:sp>
      <p:sp>
        <p:nvSpPr>
          <p:cNvPr id="26" name="Shape 23"/>
          <p:cNvSpPr/>
          <p:nvPr/>
        </p:nvSpPr>
        <p:spPr>
          <a:xfrm>
            <a:off x="9646920" y="4791456"/>
            <a:ext cx="1874520" cy="237744"/>
          </a:xfrm>
          <a:prstGeom prst="roundRect">
            <a:avLst>
              <a:gd name="adj" fmla="val 11538"/>
            </a:avLst>
          </a:prstGeom>
          <a:solidFill>
            <a:srgbClr val="FFFFFF"/>
          </a:solidFill>
          <a:ln w="9525">
            <a:solidFill>
              <a:srgbClr val="C7CBD2"/>
            </a:solidFill>
            <a:prstDash val="dash"/>
          </a:ln>
        </p:spPr>
      </p:sp>
      <p:sp>
        <p:nvSpPr>
          <p:cNvPr id="27" name="Text 24"/>
          <p:cNvSpPr/>
          <p:nvPr/>
        </p:nvSpPr>
        <p:spPr>
          <a:xfrm>
            <a:off x="9646920" y="4791456"/>
            <a:ext cx="1874520" cy="237744"/>
          </a:xfrm>
          <a:prstGeom prst="rect">
            <a:avLst/>
          </a:prstGeom>
          <a:noFill/>
          <a:ln/>
        </p:spPr>
        <p:txBody>
          <a:bodyPr wrap="square" lIns="0" tIns="0" rIns="0" bIns="0" rtlCol="0" anchor="ctr"/>
          <a:lstStyle/>
          <a:p>
            <a:pPr algn="ctr" indent="0" marL="0">
              <a:buNone/>
            </a:pPr>
            <a:r>
              <a:rPr lang="en-US" sz="850" b="1" spc="100" kern="0" dirty="0">
                <a:solidFill>
                  <a:srgbClr val="68707E"/>
                </a:solidFill>
                <a:latin typeface="Calibri" pitchFamily="34" charset="0"/>
                <a:ea typeface="Calibri" pitchFamily="34" charset="-122"/>
                <a:cs typeface="Calibri" pitchFamily="34" charset="-120"/>
              </a:rPr>
              <a:t>STATE</a:t>
            </a:r>
            <a:endParaRPr lang="en-US" sz="850" dirty="0"/>
          </a:p>
        </p:txBody>
      </p:sp>
      <p:sp>
        <p:nvSpPr>
          <p:cNvPr id="28" name="Shape 25"/>
          <p:cNvSpPr/>
          <p:nvPr/>
        </p:nvSpPr>
        <p:spPr>
          <a:xfrm>
            <a:off x="566928" y="5376672"/>
            <a:ext cx="11057839" cy="713232"/>
          </a:xfrm>
          <a:prstGeom prst="roundRect">
            <a:avLst>
              <a:gd name="adj" fmla="val 7692"/>
            </a:avLst>
          </a:prstGeom>
          <a:solidFill>
            <a:srgbClr val="FFFFFF"/>
          </a:solidFill>
          <a:ln w="9525">
            <a:solidFill>
              <a:srgbClr val="C7CBD2"/>
            </a:solidFill>
            <a:prstDash val="dash"/>
          </a:ln>
        </p:spPr>
      </p:sp>
      <p:sp>
        <p:nvSpPr>
          <p:cNvPr id="29" name="Text 26"/>
          <p:cNvSpPr/>
          <p:nvPr/>
        </p:nvSpPr>
        <p:spPr>
          <a:xfrm>
            <a:off x="804672" y="5431536"/>
            <a:ext cx="2148840" cy="603504"/>
          </a:xfrm>
          <a:prstGeom prst="rect">
            <a:avLst/>
          </a:prstGeom>
          <a:noFill/>
          <a:ln/>
        </p:spPr>
        <p:txBody>
          <a:bodyPr wrap="square" lIns="0" tIns="0" rIns="0" bIns="0" rtlCol="0" anchor="ctr"/>
          <a:lstStyle/>
          <a:p>
            <a:pPr indent="0" marL="0">
              <a:buNone/>
            </a:pPr>
            <a:r>
              <a:rPr lang="en-US" sz="1450" dirty="0">
                <a:solidFill>
                  <a:srgbClr val="9AA2AD"/>
                </a:solidFill>
                <a:latin typeface="Georgia" pitchFamily="34" charset="0"/>
                <a:ea typeface="Georgia" pitchFamily="34" charset="-122"/>
                <a:cs typeface="Georgia" pitchFamily="34" charset="-120"/>
              </a:rPr>
              <a:t>[ name ]</a:t>
            </a:r>
            <a:endParaRPr lang="en-US" sz="1450" dirty="0"/>
          </a:p>
        </p:txBody>
      </p:sp>
      <p:sp>
        <p:nvSpPr>
          <p:cNvPr id="30" name="Text 27"/>
          <p:cNvSpPr/>
          <p:nvPr/>
        </p:nvSpPr>
        <p:spPr>
          <a:xfrm>
            <a:off x="3035808" y="5431536"/>
            <a:ext cx="6903720" cy="603504"/>
          </a:xfrm>
          <a:prstGeom prst="rect">
            <a:avLst/>
          </a:prstGeom>
          <a:noFill/>
          <a:ln/>
        </p:spPr>
        <p:txBody>
          <a:bodyPr wrap="square" lIns="0" tIns="0" rIns="0" bIns="0" rtlCol="0" anchor="ctr"/>
          <a:lstStyle/>
          <a:p>
            <a:pPr indent="0" marL="0">
              <a:buNone/>
            </a:pPr>
            <a:r>
              <a:rPr lang="en-US" sz="1050" i="1" dirty="0">
                <a:solidFill>
                  <a:srgbClr val="9AA2AD"/>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9646920" y="5614416"/>
            <a:ext cx="1874520" cy="237744"/>
          </a:xfrm>
          <a:prstGeom prst="roundRect">
            <a:avLst>
              <a:gd name="adj" fmla="val 11538"/>
            </a:avLst>
          </a:prstGeom>
          <a:solidFill>
            <a:srgbClr val="FFFFFF"/>
          </a:solidFill>
          <a:ln w="9525">
            <a:solidFill>
              <a:srgbClr val="C7CBD2"/>
            </a:solidFill>
            <a:prstDash val="dash"/>
          </a:ln>
        </p:spPr>
      </p:sp>
      <p:sp>
        <p:nvSpPr>
          <p:cNvPr id="32" name="Text 29"/>
          <p:cNvSpPr/>
          <p:nvPr/>
        </p:nvSpPr>
        <p:spPr>
          <a:xfrm>
            <a:off x="9646920" y="5614416"/>
            <a:ext cx="1874520" cy="237744"/>
          </a:xfrm>
          <a:prstGeom prst="rect">
            <a:avLst/>
          </a:prstGeom>
          <a:noFill/>
          <a:ln/>
        </p:spPr>
        <p:txBody>
          <a:bodyPr wrap="square" lIns="0" tIns="0" rIns="0" bIns="0" rtlCol="0" anchor="ctr"/>
          <a:lstStyle/>
          <a:p>
            <a:pPr algn="ctr" indent="0" marL="0">
              <a:buNone/>
            </a:pPr>
            <a:r>
              <a:rPr lang="en-US" sz="850" b="1" spc="100" kern="0" dirty="0">
                <a:solidFill>
                  <a:srgbClr val="68707E"/>
                </a:solidFill>
                <a:latin typeface="Calibri" pitchFamily="34" charset="0"/>
                <a:ea typeface="Calibri" pitchFamily="34" charset="-122"/>
                <a:cs typeface="Calibri" pitchFamily="34" charset="-120"/>
              </a:rPr>
              <a:t>STATE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566928" y="384048"/>
            <a:ext cx="11057839" cy="219456"/>
          </a:xfrm>
          <a:prstGeom prst="rect">
            <a:avLst/>
          </a:prstGeom>
          <a:noFill/>
          <a:ln/>
        </p:spPr>
        <p:txBody>
          <a:bodyPr wrap="square" lIns="0" tIns="0" rIns="0" bIns="0" rtlCol="0" anchor="ctr"/>
          <a:lstStyle/>
          <a:p>
            <a:pPr indent="0" marL="0">
              <a:buNone/>
            </a:pPr>
            <a:r>
              <a:rPr lang="en-US" sz="1000" b="1" spc="150" kern="0" dirty="0">
                <a:solidFill>
                  <a:srgbClr val="B91C1C"/>
                </a:solidFill>
                <a:latin typeface="Calibri" pitchFamily="34" charset="0"/>
                <a:ea typeface="Calibri" pitchFamily="34" charset="-122"/>
                <a:cs typeface="Calibri" pitchFamily="34" charset="-120"/>
              </a:rPr>
              <a:t>GATED ON SOMEBODY ELSE</a:t>
            </a:r>
            <a:endParaRPr lang="en-US" sz="1000" dirty="0"/>
          </a:p>
        </p:txBody>
      </p:sp>
      <p:sp>
        <p:nvSpPr>
          <p:cNvPr id="3" name="Text 1"/>
          <p:cNvSpPr/>
          <p:nvPr/>
        </p:nvSpPr>
        <p:spPr>
          <a:xfrm>
            <a:off x="566928" y="621792"/>
            <a:ext cx="11057839" cy="566928"/>
          </a:xfrm>
          <a:prstGeom prst="rect">
            <a:avLst/>
          </a:prstGeom>
          <a:noFill/>
          <a:ln/>
        </p:spPr>
        <p:txBody>
          <a:bodyPr wrap="square" lIns="0" tIns="0" rIns="0" bIns="0" rtlCol="0" anchor="ctr"/>
          <a:lstStyle/>
          <a:p>
            <a:pPr indent="0" marL="0">
              <a:buNone/>
            </a:pPr>
            <a:r>
              <a:rPr lang="en-US" sz="3000" dirty="0">
                <a:solidFill>
                  <a:srgbClr val="1A2433"/>
                </a:solidFill>
                <a:latin typeface="Georgia" pitchFamily="34" charset="0"/>
                <a:ea typeface="Georgia" pitchFamily="34" charset="-122"/>
                <a:cs typeface="Georgia" pitchFamily="34" charset="-120"/>
              </a:rPr>
              <a:t>[ Decisions this plan cannot make for itself. ]</a:t>
            </a:r>
            <a:endParaRPr lang="en-US" sz="3000" dirty="0"/>
          </a:p>
        </p:txBody>
      </p:sp>
      <p:pic>
        <p:nvPicPr>
          <p:cNvPr id="4" name="Image 0" descr="preencoded.png">    </p:cNvPr>
          <p:cNvPicPr>
            <a:picLocks noChangeAspect="1"/>
          </p:cNvPicPr>
          <p:nvPr/>
        </p:nvPicPr>
        <p:blipFill>
          <a:blip r:embed="rId1"/>
          <a:stretch>
            <a:fillRect/>
          </a:stretch>
        </p:blipFill>
        <p:spPr>
          <a:xfrm>
            <a:off x="566928" y="6373368"/>
            <a:ext cx="162560" cy="162560"/>
          </a:xfrm>
          <a:prstGeom prst="rect">
            <a:avLst/>
          </a:prstGeom>
        </p:spPr>
      </p:pic>
      <p:sp>
        <p:nvSpPr>
          <p:cNvPr id="5" name="Text 2"/>
          <p:cNvSpPr/>
          <p:nvPr/>
        </p:nvSpPr>
        <p:spPr>
          <a:xfrm>
            <a:off x="793496" y="6345936"/>
            <a:ext cx="2194560" cy="217424"/>
          </a:xfrm>
          <a:prstGeom prst="rect">
            <a:avLst/>
          </a:prstGeom>
          <a:noFill/>
          <a:ln/>
        </p:spPr>
        <p:txBody>
          <a:bodyPr wrap="square" lIns="0" tIns="0" rIns="0" bIns="0" rtlCol="0" anchor="ctr"/>
          <a:lstStyle/>
          <a:p>
            <a:pPr indent="0" marL="0">
              <a:buNone/>
            </a:pPr>
            <a:r>
              <a:rPr lang="en-US" sz="800" b="1" spc="104" kern="0" dirty="0">
                <a:solidFill>
                  <a:srgbClr val="1A2433"/>
                </a:solidFill>
                <a:latin typeface="Calibri" pitchFamily="34" charset="0"/>
                <a:ea typeface="Calibri" pitchFamily="34" charset="-122"/>
                <a:cs typeface="Calibri" pitchFamily="34" charset="-120"/>
              </a:rPr>
              <a:t>COMP</a:t>
            </a:r>
            <a:pPr indent="0" marL="0">
              <a:buNone/>
            </a:pPr>
            <a:r>
              <a:rPr lang="en-US" sz="800" b="1" spc="104" kern="0" dirty="0">
                <a:solidFill>
                  <a:srgbClr val="B91C1C"/>
                </a:solidFill>
                <a:latin typeface="Calibri" pitchFamily="34" charset="0"/>
                <a:ea typeface="Calibri" pitchFamily="34" charset="-122"/>
                <a:cs typeface="Calibri" pitchFamily="34" charset="-120"/>
              </a:rPr>
              <a:t>NINJA</a:t>
            </a:r>
            <a:endParaRPr lang="en-US" sz="800" dirty="0"/>
          </a:p>
        </p:txBody>
      </p:sp>
      <p:sp>
        <p:nvSpPr>
          <p:cNvPr id="6" name="Text 3"/>
          <p:cNvSpPr/>
          <p:nvPr/>
        </p:nvSpPr>
        <p:spPr>
          <a:xfrm>
            <a:off x="10527487" y="6355080"/>
            <a:ext cx="1097280" cy="256032"/>
          </a:xfrm>
          <a:prstGeom prst="rect">
            <a:avLst/>
          </a:prstGeom>
          <a:noFill/>
          <a:ln/>
        </p:spPr>
        <p:txBody>
          <a:bodyPr wrap="square" lIns="0" tIns="0" rIns="0" bIns="0" rtlCol="0" anchor="ctr"/>
          <a:lstStyle/>
          <a:p>
            <a:pPr algn="r" indent="0" marL="0">
              <a:buNone/>
            </a:pPr>
            <a:r>
              <a:rPr lang="en-US" sz="950" dirty="0">
                <a:solidFill>
                  <a:srgbClr val="9AA2AD"/>
                </a:solidFill>
                <a:latin typeface="Calibri" pitchFamily="34" charset="0"/>
                <a:ea typeface="Calibri" pitchFamily="34" charset="-122"/>
                <a:cs typeface="Calibri" pitchFamily="34" charset="-120"/>
              </a:rPr>
              <a:t>9</a:t>
            </a:r>
            <a:endParaRPr lang="en-US" sz="950" dirty="0"/>
          </a:p>
        </p:txBody>
      </p:sp>
      <p:sp>
        <p:nvSpPr>
          <p:cNvPr id="7" name="Shape 4"/>
          <p:cNvSpPr/>
          <p:nvPr/>
        </p:nvSpPr>
        <p:spPr>
          <a:xfrm>
            <a:off x="566928" y="1481328"/>
            <a:ext cx="3538728" cy="3931920"/>
          </a:xfrm>
          <a:prstGeom prst="roundRect">
            <a:avLst>
              <a:gd name="adj" fmla="val 1550"/>
            </a:avLst>
          </a:prstGeom>
          <a:solidFill>
            <a:srgbClr val="FFFFFF"/>
          </a:solidFill>
          <a:ln w="9525">
            <a:solidFill>
              <a:srgbClr val="C7CBD2"/>
            </a:solidFill>
            <a:prstDash val="dash"/>
          </a:ln>
        </p:spPr>
      </p:sp>
      <p:sp>
        <p:nvSpPr>
          <p:cNvPr id="8" name="Text 5"/>
          <p:cNvSpPr/>
          <p:nvPr/>
        </p:nvSpPr>
        <p:spPr>
          <a:xfrm>
            <a:off x="804672" y="1682496"/>
            <a:ext cx="3063240" cy="365760"/>
          </a:xfrm>
          <a:prstGeom prst="rect">
            <a:avLst/>
          </a:prstGeom>
          <a:noFill/>
          <a:ln/>
        </p:spPr>
        <p:txBody>
          <a:bodyPr wrap="square" lIns="0" tIns="0" rIns="0" bIns="0" rtlCol="0" anchor="t"/>
          <a:lstStyle/>
          <a:p>
            <a:pPr indent="0" marL="0">
              <a:buNone/>
            </a:pPr>
            <a:r>
              <a:rPr lang="en-US" sz="1800" dirty="0">
                <a:solidFill>
                  <a:srgbClr val="9AA2AD"/>
                </a:solidFill>
                <a:latin typeface="Georgia" pitchFamily="34" charset="0"/>
                <a:ea typeface="Georgia" pitchFamily="34" charset="-122"/>
                <a:cs typeface="Georgia" pitchFamily="34" charset="-120"/>
              </a:rPr>
              <a:t>For [ whom ]</a:t>
            </a:r>
            <a:endParaRPr lang="en-US" sz="1800" dirty="0"/>
          </a:p>
        </p:txBody>
      </p:sp>
      <p:sp>
        <p:nvSpPr>
          <p:cNvPr id="9" name="Text 6"/>
          <p:cNvSpPr/>
          <p:nvPr/>
        </p:nvSpPr>
        <p:spPr>
          <a:xfrm>
            <a:off x="804672" y="2121408"/>
            <a:ext cx="3063240" cy="2139696"/>
          </a:xfrm>
          <a:prstGeom prst="rect">
            <a:avLst/>
          </a:prstGeom>
          <a:noFill/>
          <a:ln/>
        </p:spPr>
        <p:txBody>
          <a:bodyPr wrap="square" lIns="0" tIns="0" rIns="0" bIns="0" rtlCol="0" anchor="t"/>
          <a:lstStyle/>
          <a:p>
            <a:pPr indent="0" marL="0">
              <a:lnSpc>
                <a:spcPct val="108000"/>
              </a:lnSpc>
              <a:buNone/>
            </a:pPr>
            <a:r>
              <a:rPr lang="en-US" sz="1100" i="1" dirty="0">
                <a:solidFill>
                  <a:srgbClr val="9AA2AD"/>
                </a:solidFill>
                <a:latin typeface="Calibri" pitchFamily="34" charset="0"/>
                <a:ea typeface="Calibri" pitchFamily="34" charset="-122"/>
                <a:cs typeface="Calibri" pitchFamily="34" charset="-120"/>
              </a:rPr>
              <a:t>The questions, in their words, not yours.</a:t>
            </a:r>
            <a:endParaRPr lang="en-US" sz="1100" dirty="0"/>
          </a:p>
        </p:txBody>
      </p:sp>
      <p:sp>
        <p:nvSpPr>
          <p:cNvPr id="10" name="Shape 7"/>
          <p:cNvSpPr/>
          <p:nvPr/>
        </p:nvSpPr>
        <p:spPr>
          <a:xfrm>
            <a:off x="804672" y="4370832"/>
            <a:ext cx="3063240" cy="859536"/>
          </a:xfrm>
          <a:prstGeom prst="roundRect">
            <a:avLst>
              <a:gd name="adj" fmla="val 6383"/>
            </a:avLst>
          </a:prstGeom>
          <a:solidFill>
            <a:srgbClr val="F5F4EF"/>
          </a:solidFill>
          <a:ln w="9525">
            <a:solidFill>
              <a:srgbClr val="C7CBD2"/>
            </a:solidFill>
            <a:prstDash val="dash"/>
          </a:ln>
        </p:spPr>
      </p:sp>
      <p:sp>
        <p:nvSpPr>
          <p:cNvPr id="11" name="Text 8"/>
          <p:cNvSpPr/>
          <p:nvPr/>
        </p:nvSpPr>
        <p:spPr>
          <a:xfrm>
            <a:off x="969264" y="4480560"/>
            <a:ext cx="2743200" cy="676656"/>
          </a:xfrm>
          <a:prstGeom prst="rect">
            <a:avLst/>
          </a:prstGeom>
          <a:noFill/>
          <a:ln/>
        </p:spPr>
        <p:txBody>
          <a:bodyPr wrap="square" lIns="0" tIns="0" rIns="0" bIns="0" rtlCol="0" anchor="t"/>
          <a:lstStyle/>
          <a:p>
            <a:pPr indent="0" marL="0">
              <a:lnSpc>
                <a:spcPct val="106000"/>
              </a:lnSpc>
              <a:buNone/>
            </a:pPr>
            <a:r>
              <a:rPr lang="en-US" sz="1050" i="1" dirty="0">
                <a:solidFill>
                  <a:srgbClr val="9AA2AD"/>
                </a:solidFill>
                <a:latin typeface="Calibri" pitchFamily="34" charset="0"/>
                <a:ea typeface="Calibri" pitchFamily="34" charset="-122"/>
                <a:cs typeface="Calibri" pitchFamily="34" charset="-120"/>
              </a:rPr>
              <a:t>Does this gate launch, or only development? Say which.</a:t>
            </a:r>
            <a:endParaRPr lang="en-US" sz="1050" dirty="0"/>
          </a:p>
        </p:txBody>
      </p:sp>
      <p:sp>
        <p:nvSpPr>
          <p:cNvPr id="12" name="Shape 9"/>
          <p:cNvSpPr/>
          <p:nvPr/>
        </p:nvSpPr>
        <p:spPr>
          <a:xfrm>
            <a:off x="4306824" y="1481328"/>
            <a:ext cx="3538728" cy="3931920"/>
          </a:xfrm>
          <a:prstGeom prst="roundRect">
            <a:avLst>
              <a:gd name="adj" fmla="val 1550"/>
            </a:avLst>
          </a:prstGeom>
          <a:solidFill>
            <a:srgbClr val="FFFFFF"/>
          </a:solidFill>
          <a:ln w="9525">
            <a:solidFill>
              <a:srgbClr val="C7CBD2"/>
            </a:solidFill>
            <a:prstDash val="dash"/>
          </a:ln>
        </p:spPr>
      </p:sp>
      <p:sp>
        <p:nvSpPr>
          <p:cNvPr id="13" name="Text 10"/>
          <p:cNvSpPr/>
          <p:nvPr/>
        </p:nvSpPr>
        <p:spPr>
          <a:xfrm>
            <a:off x="4544568" y="1682496"/>
            <a:ext cx="3063240" cy="365760"/>
          </a:xfrm>
          <a:prstGeom prst="rect">
            <a:avLst/>
          </a:prstGeom>
          <a:noFill/>
          <a:ln/>
        </p:spPr>
        <p:txBody>
          <a:bodyPr wrap="square" lIns="0" tIns="0" rIns="0" bIns="0" rtlCol="0" anchor="t"/>
          <a:lstStyle/>
          <a:p>
            <a:pPr indent="0" marL="0">
              <a:buNone/>
            </a:pPr>
            <a:r>
              <a:rPr lang="en-US" sz="1800" dirty="0">
                <a:solidFill>
                  <a:srgbClr val="9AA2AD"/>
                </a:solidFill>
                <a:latin typeface="Georgia" pitchFamily="34" charset="0"/>
                <a:ea typeface="Georgia" pitchFamily="34" charset="-122"/>
                <a:cs typeface="Georgia" pitchFamily="34" charset="-120"/>
              </a:rPr>
              <a:t>For [ whom ]</a:t>
            </a:r>
            <a:endParaRPr lang="en-US" sz="1800" dirty="0"/>
          </a:p>
        </p:txBody>
      </p:sp>
      <p:sp>
        <p:nvSpPr>
          <p:cNvPr id="14" name="Text 11"/>
          <p:cNvSpPr/>
          <p:nvPr/>
        </p:nvSpPr>
        <p:spPr>
          <a:xfrm>
            <a:off x="4544568" y="2121408"/>
            <a:ext cx="3063240" cy="2139696"/>
          </a:xfrm>
          <a:prstGeom prst="rect">
            <a:avLst/>
          </a:prstGeom>
          <a:noFill/>
          <a:ln/>
        </p:spPr>
        <p:txBody>
          <a:bodyPr wrap="square" lIns="0" tIns="0" rIns="0" bIns="0" rtlCol="0" anchor="t"/>
          <a:lstStyle/>
          <a:p>
            <a:pPr indent="0" marL="0">
              <a:lnSpc>
                <a:spcPct val="108000"/>
              </a:lnSpc>
              <a:buNone/>
            </a:pPr>
            <a:r>
              <a:rPr lang="en-US" sz="1100" i="1" dirty="0">
                <a:solidFill>
                  <a:srgbClr val="9AA2AD"/>
                </a:solidFill>
                <a:latin typeface="Calibri" pitchFamily="34" charset="0"/>
                <a:ea typeface="Calibri" pitchFamily="34" charset="-122"/>
                <a:cs typeface="Calibri" pitchFamily="34" charset="-120"/>
              </a:rPr>
              <a:t>…</a:t>
            </a:r>
            <a:endParaRPr lang="en-US" sz="1100" dirty="0"/>
          </a:p>
        </p:txBody>
      </p:sp>
      <p:sp>
        <p:nvSpPr>
          <p:cNvPr id="15" name="Shape 12"/>
          <p:cNvSpPr/>
          <p:nvPr/>
        </p:nvSpPr>
        <p:spPr>
          <a:xfrm>
            <a:off x="4544568" y="4370832"/>
            <a:ext cx="3063240" cy="859536"/>
          </a:xfrm>
          <a:prstGeom prst="roundRect">
            <a:avLst>
              <a:gd name="adj" fmla="val 6383"/>
            </a:avLst>
          </a:prstGeom>
          <a:solidFill>
            <a:srgbClr val="F5F4EF"/>
          </a:solidFill>
          <a:ln w="9525">
            <a:solidFill>
              <a:srgbClr val="C7CBD2"/>
            </a:solidFill>
            <a:prstDash val="dash"/>
          </a:ln>
        </p:spPr>
      </p:sp>
      <p:sp>
        <p:nvSpPr>
          <p:cNvPr id="16" name="Text 13"/>
          <p:cNvSpPr/>
          <p:nvPr/>
        </p:nvSpPr>
        <p:spPr>
          <a:xfrm>
            <a:off x="4709160" y="4480560"/>
            <a:ext cx="2743200" cy="676656"/>
          </a:xfrm>
          <a:prstGeom prst="rect">
            <a:avLst/>
          </a:prstGeom>
          <a:noFill/>
          <a:ln/>
        </p:spPr>
        <p:txBody>
          <a:bodyPr wrap="square" lIns="0" tIns="0" rIns="0" bIns="0" rtlCol="0" anchor="t"/>
          <a:lstStyle/>
          <a:p>
            <a:pPr indent="0" marL="0">
              <a:lnSpc>
                <a:spcPct val="106000"/>
              </a:lnSpc>
              <a:buNone/>
            </a:pPr>
            <a:r>
              <a:rPr lang="en-US" sz="1050" i="1" dirty="0">
                <a:solidFill>
                  <a:srgbClr val="9AA2AD"/>
                </a:solidFill>
                <a:latin typeface="Calibri" pitchFamily="34" charset="0"/>
                <a:ea typeface="Calibri" pitchFamily="34" charset="-122"/>
                <a:cs typeface="Calibri" pitchFamily="34" charset="-120"/>
              </a:rPr>
              <a:t>…</a:t>
            </a:r>
            <a:endParaRPr lang="en-US" sz="1050" dirty="0"/>
          </a:p>
        </p:txBody>
      </p:sp>
      <p:sp>
        <p:nvSpPr>
          <p:cNvPr id="17" name="Shape 14"/>
          <p:cNvSpPr/>
          <p:nvPr/>
        </p:nvSpPr>
        <p:spPr>
          <a:xfrm>
            <a:off x="8046720" y="1481328"/>
            <a:ext cx="3538728" cy="3931920"/>
          </a:xfrm>
          <a:prstGeom prst="roundRect">
            <a:avLst>
              <a:gd name="adj" fmla="val 1550"/>
            </a:avLst>
          </a:prstGeom>
          <a:solidFill>
            <a:srgbClr val="FFFFFF"/>
          </a:solidFill>
          <a:ln w="9525">
            <a:solidFill>
              <a:srgbClr val="C7CBD2"/>
            </a:solidFill>
            <a:prstDash val="dash"/>
          </a:ln>
        </p:spPr>
      </p:sp>
      <p:sp>
        <p:nvSpPr>
          <p:cNvPr id="18" name="Text 15"/>
          <p:cNvSpPr/>
          <p:nvPr/>
        </p:nvSpPr>
        <p:spPr>
          <a:xfrm>
            <a:off x="8284464" y="1682496"/>
            <a:ext cx="3063240" cy="365760"/>
          </a:xfrm>
          <a:prstGeom prst="rect">
            <a:avLst/>
          </a:prstGeom>
          <a:noFill/>
          <a:ln/>
        </p:spPr>
        <p:txBody>
          <a:bodyPr wrap="square" lIns="0" tIns="0" rIns="0" bIns="0" rtlCol="0" anchor="t"/>
          <a:lstStyle/>
          <a:p>
            <a:pPr indent="0" marL="0">
              <a:buNone/>
            </a:pPr>
            <a:r>
              <a:rPr lang="en-US" sz="1800" dirty="0">
                <a:solidFill>
                  <a:srgbClr val="9AA2AD"/>
                </a:solidFill>
                <a:latin typeface="Georgia" pitchFamily="34" charset="0"/>
                <a:ea typeface="Georgia" pitchFamily="34" charset="-122"/>
                <a:cs typeface="Georgia" pitchFamily="34" charset="-120"/>
              </a:rPr>
              <a:t>For [ whom ]</a:t>
            </a:r>
            <a:endParaRPr lang="en-US" sz="1800" dirty="0"/>
          </a:p>
        </p:txBody>
      </p:sp>
      <p:sp>
        <p:nvSpPr>
          <p:cNvPr id="19" name="Text 16"/>
          <p:cNvSpPr/>
          <p:nvPr/>
        </p:nvSpPr>
        <p:spPr>
          <a:xfrm>
            <a:off x="8284464" y="2121408"/>
            <a:ext cx="3063240" cy="2139696"/>
          </a:xfrm>
          <a:prstGeom prst="rect">
            <a:avLst/>
          </a:prstGeom>
          <a:noFill/>
          <a:ln/>
        </p:spPr>
        <p:txBody>
          <a:bodyPr wrap="square" lIns="0" tIns="0" rIns="0" bIns="0" rtlCol="0" anchor="t"/>
          <a:lstStyle/>
          <a:p>
            <a:pPr indent="0" marL="0">
              <a:lnSpc>
                <a:spcPct val="108000"/>
              </a:lnSpc>
              <a:buNone/>
            </a:pPr>
            <a:r>
              <a:rPr lang="en-US" sz="1100" i="1" dirty="0">
                <a:solidFill>
                  <a:srgbClr val="9AA2AD"/>
                </a:solidFill>
                <a:latin typeface="Calibri" pitchFamily="34" charset="0"/>
                <a:ea typeface="Calibri" pitchFamily="34" charset="-122"/>
                <a:cs typeface="Calibri" pitchFamily="34" charset="-120"/>
              </a:rPr>
              <a:t>…</a:t>
            </a:r>
            <a:endParaRPr lang="en-US" sz="1100" dirty="0"/>
          </a:p>
        </p:txBody>
      </p:sp>
      <p:sp>
        <p:nvSpPr>
          <p:cNvPr id="20" name="Shape 17"/>
          <p:cNvSpPr/>
          <p:nvPr/>
        </p:nvSpPr>
        <p:spPr>
          <a:xfrm>
            <a:off x="8284464" y="4370832"/>
            <a:ext cx="3063240" cy="859536"/>
          </a:xfrm>
          <a:prstGeom prst="roundRect">
            <a:avLst>
              <a:gd name="adj" fmla="val 6383"/>
            </a:avLst>
          </a:prstGeom>
          <a:solidFill>
            <a:srgbClr val="F5F4EF"/>
          </a:solidFill>
          <a:ln w="9525">
            <a:solidFill>
              <a:srgbClr val="C7CBD2"/>
            </a:solidFill>
            <a:prstDash val="dash"/>
          </a:ln>
        </p:spPr>
      </p:sp>
      <p:sp>
        <p:nvSpPr>
          <p:cNvPr id="21" name="Text 18"/>
          <p:cNvSpPr/>
          <p:nvPr/>
        </p:nvSpPr>
        <p:spPr>
          <a:xfrm>
            <a:off x="8449056" y="4480560"/>
            <a:ext cx="2743200" cy="676656"/>
          </a:xfrm>
          <a:prstGeom prst="rect">
            <a:avLst/>
          </a:prstGeom>
          <a:noFill/>
          <a:ln/>
        </p:spPr>
        <p:txBody>
          <a:bodyPr wrap="square" lIns="0" tIns="0" rIns="0" bIns="0" rtlCol="0" anchor="t"/>
          <a:lstStyle/>
          <a:p>
            <a:pPr indent="0" marL="0">
              <a:lnSpc>
                <a:spcPct val="106000"/>
              </a:lnSpc>
              <a:buNone/>
            </a:pPr>
            <a:r>
              <a:rPr lang="en-US" sz="1050" i="1" dirty="0">
                <a:solidFill>
                  <a:srgbClr val="9AA2AD"/>
                </a:solidFill>
                <a:latin typeface="Calibri" pitchFamily="34" charset="0"/>
                <a:ea typeface="Calibri" pitchFamily="34" charset="-122"/>
                <a:cs typeface="Calibri" pitchFamily="34" charset="-120"/>
              </a:rPr>
              <a:t>…</a:t>
            </a:r>
            <a:endParaRPr lang="en-US" sz="1050" dirty="0"/>
          </a:p>
        </p:txBody>
      </p:sp>
      <p:sp>
        <p:nvSpPr>
          <p:cNvPr id="22" name="Text 19"/>
          <p:cNvSpPr/>
          <p:nvPr/>
        </p:nvSpPr>
        <p:spPr>
          <a:xfrm>
            <a:off x="566928" y="5632704"/>
            <a:ext cx="11057839" cy="274320"/>
          </a:xfrm>
          <a:prstGeom prst="rect">
            <a:avLst/>
          </a:prstGeom>
          <a:noFill/>
          <a:ln/>
        </p:spPr>
        <p:txBody>
          <a:bodyPr wrap="square" lIns="0" tIns="0" rIns="0" bIns="0" rtlCol="0" anchor="ctr"/>
          <a:lstStyle/>
          <a:p>
            <a:pPr indent="0" marL="0">
              <a:buNone/>
            </a:pPr>
            <a:r>
              <a:rPr lang="en-US" sz="1050" i="1" dirty="0">
                <a:solidFill>
                  <a:srgbClr val="68707E"/>
                </a:solidFill>
                <a:latin typeface="Calibri" pitchFamily="34" charset="0"/>
                <a:ea typeface="Calibri" pitchFamily="34" charset="-122"/>
                <a:cs typeface="Calibri" pitchFamily="34" charset="-120"/>
              </a:rPr>
              <a:t>An unanswered question is not a blocked week — build around it and record the date it was asked.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566928" y="384048"/>
            <a:ext cx="11057839" cy="219456"/>
          </a:xfrm>
          <a:prstGeom prst="rect">
            <a:avLst/>
          </a:prstGeom>
          <a:noFill/>
          <a:ln/>
        </p:spPr>
        <p:txBody>
          <a:bodyPr wrap="square" lIns="0" tIns="0" rIns="0" bIns="0" rtlCol="0" anchor="ctr"/>
          <a:lstStyle/>
          <a:p>
            <a:pPr indent="0" marL="0">
              <a:buNone/>
            </a:pPr>
            <a:r>
              <a:rPr lang="en-US" sz="1000" b="1" spc="150" kern="0" dirty="0">
                <a:solidFill>
                  <a:srgbClr val="B91C1C"/>
                </a:solidFill>
                <a:latin typeface="Calibri" pitchFamily="34" charset="0"/>
                <a:ea typeface="Calibri" pitchFamily="34" charset="-122"/>
                <a:cs typeface="Calibri" pitchFamily="34" charset="-120"/>
              </a:rPr>
              <a:t>RUNNING UNDERNEATH THE MILESTONES</a:t>
            </a:r>
            <a:endParaRPr lang="en-US" sz="1000" dirty="0"/>
          </a:p>
        </p:txBody>
      </p:sp>
      <p:sp>
        <p:nvSpPr>
          <p:cNvPr id="3" name="Text 1"/>
          <p:cNvSpPr/>
          <p:nvPr/>
        </p:nvSpPr>
        <p:spPr>
          <a:xfrm>
            <a:off x="566928" y="621792"/>
            <a:ext cx="11057839" cy="566928"/>
          </a:xfrm>
          <a:prstGeom prst="rect">
            <a:avLst/>
          </a:prstGeom>
          <a:noFill/>
          <a:ln/>
        </p:spPr>
        <p:txBody>
          <a:bodyPr wrap="square" lIns="0" tIns="0" rIns="0" bIns="0" rtlCol="0" anchor="ctr"/>
          <a:lstStyle/>
          <a:p>
            <a:pPr indent="0" marL="0">
              <a:buNone/>
            </a:pPr>
            <a:r>
              <a:rPr lang="en-US" sz="3000" dirty="0">
                <a:solidFill>
                  <a:srgbClr val="1A2433"/>
                </a:solidFill>
                <a:latin typeface="Georgia" pitchFamily="34" charset="0"/>
                <a:ea typeface="Georgia" pitchFamily="34" charset="-122"/>
                <a:cs typeface="Georgia" pitchFamily="34" charset="-120"/>
              </a:rPr>
              <a:t>[ The track that needs no product decision. ]</a:t>
            </a:r>
            <a:endParaRPr lang="en-US" sz="3000" dirty="0"/>
          </a:p>
        </p:txBody>
      </p:sp>
      <p:pic>
        <p:nvPicPr>
          <p:cNvPr id="4" name="Image 0" descr="preencoded.png">    </p:cNvPr>
          <p:cNvPicPr>
            <a:picLocks noChangeAspect="1"/>
          </p:cNvPicPr>
          <p:nvPr/>
        </p:nvPicPr>
        <p:blipFill>
          <a:blip r:embed="rId1"/>
          <a:stretch>
            <a:fillRect/>
          </a:stretch>
        </p:blipFill>
        <p:spPr>
          <a:xfrm>
            <a:off x="566928" y="6373368"/>
            <a:ext cx="162560" cy="162560"/>
          </a:xfrm>
          <a:prstGeom prst="rect">
            <a:avLst/>
          </a:prstGeom>
        </p:spPr>
      </p:pic>
      <p:sp>
        <p:nvSpPr>
          <p:cNvPr id="5" name="Text 2"/>
          <p:cNvSpPr/>
          <p:nvPr/>
        </p:nvSpPr>
        <p:spPr>
          <a:xfrm>
            <a:off x="793496" y="6345936"/>
            <a:ext cx="2194560" cy="217424"/>
          </a:xfrm>
          <a:prstGeom prst="rect">
            <a:avLst/>
          </a:prstGeom>
          <a:noFill/>
          <a:ln/>
        </p:spPr>
        <p:txBody>
          <a:bodyPr wrap="square" lIns="0" tIns="0" rIns="0" bIns="0" rtlCol="0" anchor="ctr"/>
          <a:lstStyle/>
          <a:p>
            <a:pPr indent="0" marL="0">
              <a:buNone/>
            </a:pPr>
            <a:r>
              <a:rPr lang="en-US" sz="800" b="1" spc="104" kern="0" dirty="0">
                <a:solidFill>
                  <a:srgbClr val="1A2433"/>
                </a:solidFill>
                <a:latin typeface="Calibri" pitchFamily="34" charset="0"/>
                <a:ea typeface="Calibri" pitchFamily="34" charset="-122"/>
                <a:cs typeface="Calibri" pitchFamily="34" charset="-120"/>
              </a:rPr>
              <a:t>COMP</a:t>
            </a:r>
            <a:pPr indent="0" marL="0">
              <a:buNone/>
            </a:pPr>
            <a:r>
              <a:rPr lang="en-US" sz="800" b="1" spc="104" kern="0" dirty="0">
                <a:solidFill>
                  <a:srgbClr val="B91C1C"/>
                </a:solidFill>
                <a:latin typeface="Calibri" pitchFamily="34" charset="0"/>
                <a:ea typeface="Calibri" pitchFamily="34" charset="-122"/>
                <a:cs typeface="Calibri" pitchFamily="34" charset="-120"/>
              </a:rPr>
              <a:t>NINJA</a:t>
            </a:r>
            <a:endParaRPr lang="en-US" sz="800" dirty="0"/>
          </a:p>
        </p:txBody>
      </p:sp>
      <p:sp>
        <p:nvSpPr>
          <p:cNvPr id="6" name="Text 3"/>
          <p:cNvSpPr/>
          <p:nvPr/>
        </p:nvSpPr>
        <p:spPr>
          <a:xfrm>
            <a:off x="10527487" y="6355080"/>
            <a:ext cx="1097280" cy="256032"/>
          </a:xfrm>
          <a:prstGeom prst="rect">
            <a:avLst/>
          </a:prstGeom>
          <a:noFill/>
          <a:ln/>
        </p:spPr>
        <p:txBody>
          <a:bodyPr wrap="square" lIns="0" tIns="0" rIns="0" bIns="0" rtlCol="0" anchor="ctr"/>
          <a:lstStyle/>
          <a:p>
            <a:pPr algn="r" indent="0" marL="0">
              <a:buNone/>
            </a:pPr>
            <a:r>
              <a:rPr lang="en-US" sz="950" dirty="0">
                <a:solidFill>
                  <a:srgbClr val="9AA2AD"/>
                </a:solidFill>
                <a:latin typeface="Calibri" pitchFamily="34" charset="0"/>
                <a:ea typeface="Calibri" pitchFamily="34" charset="-122"/>
                <a:cs typeface="Calibri" pitchFamily="34" charset="-120"/>
              </a:rPr>
              <a:t>10</a:t>
            </a:r>
            <a:endParaRPr lang="en-US" sz="950" dirty="0"/>
          </a:p>
        </p:txBody>
      </p:sp>
      <p:sp>
        <p:nvSpPr>
          <p:cNvPr id="7" name="Shape 4"/>
          <p:cNvSpPr/>
          <p:nvPr/>
        </p:nvSpPr>
        <p:spPr>
          <a:xfrm>
            <a:off x="566928" y="1481328"/>
            <a:ext cx="5440680" cy="4160520"/>
          </a:xfrm>
          <a:prstGeom prst="roundRect">
            <a:avLst>
              <a:gd name="adj" fmla="val 1319"/>
            </a:avLst>
          </a:prstGeom>
          <a:solidFill>
            <a:srgbClr val="FFFFFF"/>
          </a:solidFill>
          <a:ln w="9525">
            <a:solidFill>
              <a:srgbClr val="C7CBD2"/>
            </a:solidFill>
            <a:prstDash val="dash"/>
          </a:ln>
        </p:spPr>
      </p:sp>
      <p:sp>
        <p:nvSpPr>
          <p:cNvPr id="8" name="Text 5"/>
          <p:cNvSpPr/>
          <p:nvPr/>
        </p:nvSpPr>
        <p:spPr>
          <a:xfrm>
            <a:off x="822960" y="1700784"/>
            <a:ext cx="4937760" cy="201168"/>
          </a:xfrm>
          <a:prstGeom prst="rect">
            <a:avLst/>
          </a:prstGeom>
          <a:noFill/>
          <a:ln/>
        </p:spPr>
        <p:txBody>
          <a:bodyPr wrap="square" lIns="0" tIns="0" rIns="0" bIns="0" rtlCol="0" anchor="ctr"/>
          <a:lstStyle/>
          <a:p>
            <a:pPr indent="0" marL="0">
              <a:buNone/>
            </a:pPr>
            <a:r>
              <a:rPr lang="en-US" sz="950" b="1" spc="130" kern="0" dirty="0">
                <a:solidFill>
                  <a:srgbClr val="C7CBD2"/>
                </a:solidFill>
                <a:latin typeface="Calibri" pitchFamily="34" charset="0"/>
                <a:ea typeface="Calibri" pitchFamily="34" charset="-122"/>
                <a:cs typeface="Calibri" pitchFamily="34" charset="-120"/>
              </a:rPr>
              <a:t>ENGINEERING TRACK — PICK UP ANY OF THESE</a:t>
            </a:r>
            <a:endParaRPr lang="en-US" sz="950" dirty="0"/>
          </a:p>
        </p:txBody>
      </p:sp>
      <p:sp>
        <p:nvSpPr>
          <p:cNvPr id="9" name="Text 6"/>
          <p:cNvSpPr/>
          <p:nvPr/>
        </p:nvSpPr>
        <p:spPr>
          <a:xfrm>
            <a:off x="822960" y="2011680"/>
            <a:ext cx="4937760" cy="3429000"/>
          </a:xfrm>
          <a:prstGeom prst="rect">
            <a:avLst/>
          </a:prstGeom>
          <a:noFill/>
          <a:ln/>
        </p:spPr>
        <p:txBody>
          <a:bodyPr wrap="square" lIns="0" tIns="0" rIns="0" bIns="0" rtlCol="0" anchor="t"/>
          <a:lstStyle/>
          <a:p>
            <a:pPr indent="0" marL="0">
              <a:lnSpc>
                <a:spcPct val="114000"/>
              </a:lnSpc>
              <a:buNone/>
            </a:pPr>
            <a:r>
              <a:rPr lang="en-US" sz="1100" i="1" dirty="0">
                <a:solidFill>
                  <a:srgbClr val="9AA2AD"/>
                </a:solidFill>
                <a:latin typeface="Calibri" pitchFamily="34" charset="0"/>
                <a:ea typeface="Calibri" pitchFamily="34" charset="-122"/>
                <a:cs typeface="Calibri" pitchFamily="34" charset="-120"/>
              </a:rPr>
              <a:t>One criterion for this column, and only one: it needs no yes from anybody. If it needs a decision, it belongs on the decisions slide instead.</a:t>
            </a:r>
            <a:endParaRPr lang="en-US" sz="1100" dirty="0"/>
          </a:p>
          <a:p>
            <a:pPr indent="0" marL="0">
              <a:lnSpc>
                <a:spcPct val="114000"/>
              </a:lnSpc>
              <a:buNone/>
            </a:pPr>
            <a:endParaRPr lang="en-US" sz="1100" dirty="0"/>
          </a:p>
          <a:p>
            <a:pPr indent="0" marL="0">
              <a:lnSpc>
                <a:spcPct val="114000"/>
              </a:lnSpc>
              <a:buNone/>
            </a:pPr>
            <a:r>
              <a:rPr lang="en-US" sz="1100" i="1" dirty="0">
                <a:solidFill>
                  <a:srgbClr val="9AA2AD"/>
                </a:solidFill>
                <a:latin typeface="Calibri" pitchFamily="34" charset="0"/>
                <a:ea typeface="Calibri" pitchFamily="34" charset="-122"/>
                <a:cs typeface="Calibri" pitchFamily="34" charset="-120"/>
              </a:rPr>
              <a:t>Keep the chores that carry a rule with them — “extract a module when it is touched, with tests first” travels; “tidy up server.js” does not.</a:t>
            </a:r>
            <a:endParaRPr lang="en-US" sz="1100" dirty="0"/>
          </a:p>
        </p:txBody>
      </p:sp>
      <p:sp>
        <p:nvSpPr>
          <p:cNvPr id="10" name="Shape 7"/>
          <p:cNvSpPr/>
          <p:nvPr/>
        </p:nvSpPr>
        <p:spPr>
          <a:xfrm>
            <a:off x="6181344" y="1481328"/>
            <a:ext cx="5440680" cy="4160520"/>
          </a:xfrm>
          <a:prstGeom prst="roundRect">
            <a:avLst>
              <a:gd name="adj" fmla="val 1319"/>
            </a:avLst>
          </a:prstGeom>
          <a:solidFill>
            <a:srgbClr val="F5F4EF"/>
          </a:solidFill>
          <a:ln w="9525">
            <a:solidFill>
              <a:srgbClr val="C7CBD2"/>
            </a:solidFill>
            <a:prstDash val="dash"/>
          </a:ln>
        </p:spPr>
      </p:sp>
      <p:sp>
        <p:nvSpPr>
          <p:cNvPr id="11" name="Text 8"/>
          <p:cNvSpPr/>
          <p:nvPr/>
        </p:nvSpPr>
        <p:spPr>
          <a:xfrm>
            <a:off x="6437376" y="1700784"/>
            <a:ext cx="4937760" cy="201168"/>
          </a:xfrm>
          <a:prstGeom prst="rect">
            <a:avLst/>
          </a:prstGeom>
          <a:noFill/>
          <a:ln/>
        </p:spPr>
        <p:txBody>
          <a:bodyPr wrap="square" lIns="0" tIns="0" rIns="0" bIns="0" rtlCol="0" anchor="ctr"/>
          <a:lstStyle/>
          <a:p>
            <a:pPr indent="0" marL="0">
              <a:buNone/>
            </a:pPr>
            <a:r>
              <a:rPr lang="en-US" sz="950" b="1" spc="130" kern="0" dirty="0">
                <a:solidFill>
                  <a:srgbClr val="C7CBD2"/>
                </a:solidFill>
                <a:latin typeface="Calibri" pitchFamily="34" charset="0"/>
                <a:ea typeface="Calibri" pitchFamily="34" charset="-122"/>
                <a:cs typeface="Calibri" pitchFamily="34" charset="-120"/>
              </a:rPr>
              <a:t>PARKED — DECIDED, NOT FORGOTTEN</a:t>
            </a:r>
            <a:endParaRPr lang="en-US" sz="950" dirty="0"/>
          </a:p>
        </p:txBody>
      </p:sp>
      <p:sp>
        <p:nvSpPr>
          <p:cNvPr id="12" name="Text 9"/>
          <p:cNvSpPr/>
          <p:nvPr/>
        </p:nvSpPr>
        <p:spPr>
          <a:xfrm>
            <a:off x="6437376" y="2011680"/>
            <a:ext cx="4937760" cy="3429000"/>
          </a:xfrm>
          <a:prstGeom prst="rect">
            <a:avLst/>
          </a:prstGeom>
          <a:noFill/>
          <a:ln/>
        </p:spPr>
        <p:txBody>
          <a:bodyPr wrap="square" lIns="0" tIns="0" rIns="0" bIns="0" rtlCol="0" anchor="t"/>
          <a:lstStyle/>
          <a:p>
            <a:pPr indent="0" marL="0">
              <a:lnSpc>
                <a:spcPct val="114000"/>
              </a:lnSpc>
              <a:buNone/>
            </a:pPr>
            <a:r>
              <a:rPr lang="en-US" sz="1100" i="1" dirty="0">
                <a:solidFill>
                  <a:srgbClr val="9AA2AD"/>
                </a:solidFill>
                <a:latin typeface="Calibri" pitchFamily="34" charset="0"/>
                <a:ea typeface="Calibri" pitchFamily="34" charset="-122"/>
                <a:cs typeface="Calibri" pitchFamily="34" charset="-120"/>
              </a:rPr>
              <a:t>Things deliberately not being done. The point of this column is that a future reader stops proposing them.</a:t>
            </a:r>
            <a:endParaRPr lang="en-US" sz="1100" dirty="0"/>
          </a:p>
          <a:p>
            <a:pPr indent="0" marL="0">
              <a:lnSpc>
                <a:spcPct val="114000"/>
              </a:lnSpc>
              <a:buNone/>
            </a:pPr>
            <a:endParaRPr lang="en-US" sz="1100" dirty="0"/>
          </a:p>
          <a:p>
            <a:pPr indent="0" marL="0">
              <a:lnSpc>
                <a:spcPct val="114000"/>
              </a:lnSpc>
              <a:buNone/>
            </a:pPr>
            <a:r>
              <a:rPr lang="en-US" sz="1100" i="1" dirty="0">
                <a:solidFill>
                  <a:srgbClr val="9AA2AD"/>
                </a:solidFill>
                <a:latin typeface="Calibri" pitchFamily="34" charset="0"/>
                <a:ea typeface="Calibri" pitchFamily="34" charset="-122"/>
                <a:cs typeface="Calibri" pitchFamily="34" charset="-120"/>
              </a:rPr>
              <a:t>One line each: what it is, who parked it, the date, and the condition that would revive it. Without the date it reads as neglect rather than a decision.</a:t>
            </a:r>
            <a:endParaRPr lang="en-US" sz="1100" dirty="0"/>
          </a:p>
        </p:txBody>
      </p:sp>
      <p:sp>
        <p:nvSpPr>
          <p:cNvPr id="13" name="Text 10"/>
          <p:cNvSpPr/>
          <p:nvPr/>
        </p:nvSpPr>
        <p:spPr>
          <a:xfrm>
            <a:off x="566928" y="5815584"/>
            <a:ext cx="11057839" cy="274320"/>
          </a:xfrm>
          <a:prstGeom prst="rect">
            <a:avLst/>
          </a:prstGeom>
          <a:noFill/>
          <a:ln/>
        </p:spPr>
        <p:txBody>
          <a:bodyPr wrap="square" lIns="0" tIns="0" rIns="0" bIns="0" rtlCol="0" anchor="ctr"/>
          <a:lstStyle/>
          <a:p>
            <a:pPr indent="0" marL="0">
              <a:buNone/>
            </a:pPr>
            <a:r>
              <a:rPr lang="en-US" sz="1050" i="1" dirty="0">
                <a:solidFill>
                  <a:srgbClr val="68707E"/>
                </a:solidFill>
                <a:latin typeface="Calibri" pitchFamily="34" charset="0"/>
                <a:ea typeface="Calibri" pitchFamily="34" charset="-122"/>
                <a:cs typeface="Calibri" pitchFamily="34" charset="-120"/>
              </a:rPr>
              <a:t>Reviving a parked item is a decision with a date on it, not a slow drift back onto the list.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433"/>
        </a:solidFill>
      </p:bgPr>
    </p:bg>
    <p:spTree>
      <p:nvGrpSpPr>
        <p:cNvPr id="1" name=""/>
        <p:cNvGrpSpPr/>
        <p:nvPr/>
      </p:nvGrpSpPr>
      <p:grpSpPr>
        <a:xfrm>
          <a:off x="0" y="0"/>
          <a:ext cx="0" cy="0"/>
          <a:chOff x="0" y="0"/>
          <a:chExt cx="0" cy="0"/>
        </a:xfrm>
      </p:grpSpPr>
      <p:sp>
        <p:nvSpPr>
          <p:cNvPr id="2" name="Text 0"/>
          <p:cNvSpPr/>
          <p:nvPr/>
        </p:nvSpPr>
        <p:spPr>
          <a:xfrm>
            <a:off x="566928" y="566928"/>
            <a:ext cx="6400800" cy="201168"/>
          </a:xfrm>
          <a:prstGeom prst="rect">
            <a:avLst/>
          </a:prstGeom>
          <a:noFill/>
          <a:ln/>
        </p:spPr>
        <p:txBody>
          <a:bodyPr wrap="square" lIns="0" tIns="0" rIns="0" bIns="0" rtlCol="0" anchor="ctr"/>
          <a:lstStyle/>
          <a:p>
            <a:pPr indent="0" marL="0">
              <a:buNone/>
            </a:pPr>
            <a:r>
              <a:rPr lang="en-US" sz="950" b="1" spc="130" kern="0" dirty="0">
                <a:solidFill>
                  <a:srgbClr val="F87171"/>
                </a:solidFill>
                <a:latin typeface="Calibri" pitchFamily="34" charset="0"/>
                <a:ea typeface="Calibri" pitchFamily="34" charset="-122"/>
                <a:cs typeface="Calibri" pitchFamily="34" charset="-120"/>
              </a:rPr>
              <a:t>WHAT BINDS EVERY SLIDE BEFORE THIS ONE</a:t>
            </a:r>
            <a:endParaRPr lang="en-US" sz="950" dirty="0"/>
          </a:p>
        </p:txBody>
      </p:sp>
      <p:sp>
        <p:nvSpPr>
          <p:cNvPr id="3" name="Text 1"/>
          <p:cNvSpPr/>
          <p:nvPr/>
        </p:nvSpPr>
        <p:spPr>
          <a:xfrm>
            <a:off x="566928" y="841248"/>
            <a:ext cx="8229600" cy="731520"/>
          </a:xfrm>
          <a:prstGeom prst="rect">
            <a:avLst/>
          </a:prstGeom>
          <a:noFill/>
          <a:ln/>
        </p:spPr>
        <p:txBody>
          <a:bodyPr wrap="square" lIns="0" tIns="0" rIns="0" bIns="0" rtlCol="0" anchor="ctr"/>
          <a:lstStyle/>
          <a:p>
            <a:pPr indent="0" marL="0">
              <a:buNone/>
            </a:pPr>
            <a:r>
              <a:rPr lang="en-US" sz="3800" dirty="0">
                <a:solidFill>
                  <a:srgbClr val="FFFFFF"/>
                </a:solidFill>
                <a:latin typeface="Georgia" pitchFamily="34" charset="0"/>
                <a:ea typeface="Georgia" pitchFamily="34" charset="-122"/>
                <a:cs typeface="Georgia" pitchFamily="34" charset="-120"/>
              </a:rPr>
              <a:t>Principles</a:t>
            </a:r>
            <a:endParaRPr lang="en-US" sz="3800" dirty="0"/>
          </a:p>
        </p:txBody>
      </p:sp>
      <p:sp>
        <p:nvSpPr>
          <p:cNvPr id="4" name="Shape 2"/>
          <p:cNvSpPr/>
          <p:nvPr/>
        </p:nvSpPr>
        <p:spPr>
          <a:xfrm>
            <a:off x="566928" y="1828800"/>
            <a:ext cx="5440680" cy="1847088"/>
          </a:xfrm>
          <a:prstGeom prst="roundRect">
            <a:avLst>
              <a:gd name="adj" fmla="val 2970"/>
            </a:avLst>
          </a:prstGeom>
          <a:solidFill>
            <a:srgbClr val="243044"/>
          </a:solidFill>
          <a:ln w="9525">
            <a:solidFill>
              <a:srgbClr val="3D4B5F"/>
            </a:solidFill>
            <a:prstDash val="dash"/>
          </a:ln>
        </p:spPr>
      </p:sp>
      <p:sp>
        <p:nvSpPr>
          <p:cNvPr id="5" name="Text 3"/>
          <p:cNvSpPr/>
          <p:nvPr/>
        </p:nvSpPr>
        <p:spPr>
          <a:xfrm>
            <a:off x="822960" y="2011680"/>
            <a:ext cx="4937760" cy="329184"/>
          </a:xfrm>
          <a:prstGeom prst="rect">
            <a:avLst/>
          </a:prstGeom>
          <a:noFill/>
          <a:ln/>
        </p:spPr>
        <p:txBody>
          <a:bodyPr wrap="square" lIns="0" tIns="0" rIns="0" bIns="0" rtlCol="0" anchor="ctr"/>
          <a:lstStyle/>
          <a:p>
            <a:pPr indent="0" marL="0">
              <a:buNone/>
            </a:pPr>
            <a:r>
              <a:rPr lang="en-US" sz="1700" dirty="0">
                <a:solidFill>
                  <a:srgbClr val="F87171"/>
                </a:solidFill>
                <a:latin typeface="Georgia" pitchFamily="34" charset="0"/>
                <a:ea typeface="Georgia" pitchFamily="34" charset="-122"/>
                <a:cs typeface="Georgia" pitchFamily="34" charset="-120"/>
              </a:rPr>
              <a:t>The product</a:t>
            </a:r>
            <a:endParaRPr lang="en-US" sz="1700" dirty="0"/>
          </a:p>
        </p:txBody>
      </p:sp>
      <p:sp>
        <p:nvSpPr>
          <p:cNvPr id="6" name="Text 4"/>
          <p:cNvSpPr/>
          <p:nvPr/>
        </p:nvSpPr>
        <p:spPr>
          <a:xfrm>
            <a:off x="822960" y="2414016"/>
            <a:ext cx="4937760" cy="1133856"/>
          </a:xfrm>
          <a:prstGeom prst="rect">
            <a:avLst/>
          </a:prstGeom>
          <a:noFill/>
          <a:ln/>
        </p:spPr>
        <p:txBody>
          <a:bodyPr wrap="square" lIns="0" tIns="0" rIns="0" bIns="0" rtlCol="0" anchor="t"/>
          <a:lstStyle/>
          <a:p>
            <a:pPr indent="0" marL="0">
              <a:lnSpc>
                <a:spcPct val="114000"/>
              </a:lnSpc>
              <a:buNone/>
            </a:pPr>
            <a:r>
              <a:rPr lang="en-US" sz="1150" i="1" dirty="0">
                <a:solidFill>
                  <a:srgbClr val="8B98A8"/>
                </a:solidFill>
                <a:latin typeface="Calibri" pitchFamily="34" charset="0"/>
                <a:ea typeface="Calibri" pitchFamily="34" charset="-122"/>
                <a:cs typeface="Calibri" pitchFamily="34" charset="-120"/>
              </a:rPr>
              <a:t>What it is for, whom it serves, and the technical posture that follows from that.</a:t>
            </a:r>
            <a:endParaRPr lang="en-US" sz="1150" dirty="0"/>
          </a:p>
        </p:txBody>
      </p:sp>
      <p:sp>
        <p:nvSpPr>
          <p:cNvPr id="7" name="Shape 5"/>
          <p:cNvSpPr/>
          <p:nvPr/>
        </p:nvSpPr>
        <p:spPr>
          <a:xfrm>
            <a:off x="6181344" y="1828800"/>
            <a:ext cx="5440680" cy="1847088"/>
          </a:xfrm>
          <a:prstGeom prst="roundRect">
            <a:avLst>
              <a:gd name="adj" fmla="val 2970"/>
            </a:avLst>
          </a:prstGeom>
          <a:solidFill>
            <a:srgbClr val="243044"/>
          </a:solidFill>
          <a:ln w="9525">
            <a:solidFill>
              <a:srgbClr val="3D4B5F"/>
            </a:solidFill>
            <a:prstDash val="dash"/>
          </a:ln>
        </p:spPr>
      </p:sp>
      <p:sp>
        <p:nvSpPr>
          <p:cNvPr id="8" name="Text 6"/>
          <p:cNvSpPr/>
          <p:nvPr/>
        </p:nvSpPr>
        <p:spPr>
          <a:xfrm>
            <a:off x="6437376" y="2011680"/>
            <a:ext cx="4937760" cy="329184"/>
          </a:xfrm>
          <a:prstGeom prst="rect">
            <a:avLst/>
          </a:prstGeom>
          <a:noFill/>
          <a:ln/>
        </p:spPr>
        <p:txBody>
          <a:bodyPr wrap="square" lIns="0" tIns="0" rIns="0" bIns="0" rtlCol="0" anchor="ctr"/>
          <a:lstStyle/>
          <a:p>
            <a:pPr indent="0" marL="0">
              <a:buNone/>
            </a:pPr>
            <a:r>
              <a:rPr lang="en-US" sz="1700" dirty="0">
                <a:solidFill>
                  <a:srgbClr val="F87171"/>
                </a:solidFill>
                <a:latin typeface="Georgia" pitchFamily="34" charset="0"/>
                <a:ea typeface="Georgia" pitchFamily="34" charset="-122"/>
                <a:cs typeface="Georgia" pitchFamily="34" charset="-120"/>
              </a:rPr>
              <a:t>The brand</a:t>
            </a:r>
            <a:endParaRPr lang="en-US" sz="1700" dirty="0"/>
          </a:p>
        </p:txBody>
      </p:sp>
      <p:sp>
        <p:nvSpPr>
          <p:cNvPr id="9" name="Text 7"/>
          <p:cNvSpPr/>
          <p:nvPr/>
        </p:nvSpPr>
        <p:spPr>
          <a:xfrm>
            <a:off x="6437376" y="2414016"/>
            <a:ext cx="4937760" cy="1133856"/>
          </a:xfrm>
          <a:prstGeom prst="rect">
            <a:avLst/>
          </a:prstGeom>
          <a:noFill/>
          <a:ln/>
        </p:spPr>
        <p:txBody>
          <a:bodyPr wrap="square" lIns="0" tIns="0" rIns="0" bIns="0" rtlCol="0" anchor="t"/>
          <a:lstStyle/>
          <a:p>
            <a:pPr indent="0" marL="0">
              <a:lnSpc>
                <a:spcPct val="114000"/>
              </a:lnSpc>
              <a:buNone/>
            </a:pPr>
            <a:r>
              <a:rPr lang="en-US" sz="1150" i="1" dirty="0">
                <a:solidFill>
                  <a:srgbClr val="8B98A8"/>
                </a:solidFill>
                <a:latin typeface="Calibri" pitchFamily="34" charset="0"/>
                <a:ea typeface="Calibri" pitchFamily="34" charset="-122"/>
                <a:cs typeface="Calibri" pitchFamily="34" charset="-120"/>
              </a:rPr>
              <a:t>What may not change without an explicit named yes.</a:t>
            </a:r>
            <a:endParaRPr lang="en-US" sz="1150" dirty="0"/>
          </a:p>
        </p:txBody>
      </p:sp>
      <p:sp>
        <p:nvSpPr>
          <p:cNvPr id="10" name="Shape 8"/>
          <p:cNvSpPr/>
          <p:nvPr/>
        </p:nvSpPr>
        <p:spPr>
          <a:xfrm>
            <a:off x="566928" y="3913632"/>
            <a:ext cx="5440680" cy="1847088"/>
          </a:xfrm>
          <a:prstGeom prst="roundRect">
            <a:avLst>
              <a:gd name="adj" fmla="val 2970"/>
            </a:avLst>
          </a:prstGeom>
          <a:solidFill>
            <a:srgbClr val="243044"/>
          </a:solidFill>
          <a:ln w="9525">
            <a:solidFill>
              <a:srgbClr val="3D4B5F"/>
            </a:solidFill>
            <a:prstDash val="dash"/>
          </a:ln>
        </p:spPr>
      </p:sp>
      <p:sp>
        <p:nvSpPr>
          <p:cNvPr id="11" name="Text 9"/>
          <p:cNvSpPr/>
          <p:nvPr/>
        </p:nvSpPr>
        <p:spPr>
          <a:xfrm>
            <a:off x="822960" y="4096512"/>
            <a:ext cx="4937760" cy="329184"/>
          </a:xfrm>
          <a:prstGeom prst="rect">
            <a:avLst/>
          </a:prstGeom>
          <a:noFill/>
          <a:ln/>
        </p:spPr>
        <p:txBody>
          <a:bodyPr wrap="square" lIns="0" tIns="0" rIns="0" bIns="0" rtlCol="0" anchor="ctr"/>
          <a:lstStyle/>
          <a:p>
            <a:pPr indent="0" marL="0">
              <a:buNone/>
            </a:pPr>
            <a:r>
              <a:rPr lang="en-US" sz="1700" dirty="0">
                <a:solidFill>
                  <a:srgbClr val="F87171"/>
                </a:solidFill>
                <a:latin typeface="Georgia" pitchFamily="34" charset="0"/>
                <a:ea typeface="Georgia" pitchFamily="34" charset="-122"/>
                <a:cs typeface="Georgia" pitchFamily="34" charset="-120"/>
              </a:rPr>
              <a:t>The position</a:t>
            </a:r>
            <a:endParaRPr lang="en-US" sz="1700" dirty="0"/>
          </a:p>
        </p:txBody>
      </p:sp>
      <p:sp>
        <p:nvSpPr>
          <p:cNvPr id="12" name="Text 10"/>
          <p:cNvSpPr/>
          <p:nvPr/>
        </p:nvSpPr>
        <p:spPr>
          <a:xfrm>
            <a:off x="822960" y="4498848"/>
            <a:ext cx="4937760" cy="1133856"/>
          </a:xfrm>
          <a:prstGeom prst="rect">
            <a:avLst/>
          </a:prstGeom>
          <a:noFill/>
          <a:ln/>
        </p:spPr>
        <p:txBody>
          <a:bodyPr wrap="square" lIns="0" tIns="0" rIns="0" bIns="0" rtlCol="0" anchor="t"/>
          <a:lstStyle/>
          <a:p>
            <a:pPr indent="0" marL="0">
              <a:lnSpc>
                <a:spcPct val="114000"/>
              </a:lnSpc>
              <a:buNone/>
            </a:pPr>
            <a:r>
              <a:rPr lang="en-US" sz="1150" i="1" dirty="0">
                <a:solidFill>
                  <a:srgbClr val="8B98A8"/>
                </a:solidFill>
                <a:latin typeface="Calibri" pitchFamily="34" charset="0"/>
                <a:ea typeface="Calibri" pitchFamily="34" charset="-122"/>
                <a:cs typeface="Calibri" pitchFamily="34" charset="-120"/>
              </a:rPr>
              <a:t>The words to use, and the words never to use. Legal positioning belongs here, phrased so a violation is recognisable in a diff.</a:t>
            </a:r>
            <a:endParaRPr lang="en-US" sz="1150" dirty="0"/>
          </a:p>
        </p:txBody>
      </p:sp>
      <p:sp>
        <p:nvSpPr>
          <p:cNvPr id="13" name="Shape 11"/>
          <p:cNvSpPr/>
          <p:nvPr/>
        </p:nvSpPr>
        <p:spPr>
          <a:xfrm>
            <a:off x="6181344" y="3913632"/>
            <a:ext cx="5440680" cy="1847088"/>
          </a:xfrm>
          <a:prstGeom prst="roundRect">
            <a:avLst>
              <a:gd name="adj" fmla="val 2970"/>
            </a:avLst>
          </a:prstGeom>
          <a:solidFill>
            <a:srgbClr val="243044"/>
          </a:solidFill>
          <a:ln w="9525">
            <a:solidFill>
              <a:srgbClr val="3D4B5F"/>
            </a:solidFill>
            <a:prstDash val="dash"/>
          </a:ln>
        </p:spPr>
      </p:sp>
      <p:sp>
        <p:nvSpPr>
          <p:cNvPr id="14" name="Text 12"/>
          <p:cNvSpPr/>
          <p:nvPr/>
        </p:nvSpPr>
        <p:spPr>
          <a:xfrm>
            <a:off x="6437376" y="4096512"/>
            <a:ext cx="4937760" cy="329184"/>
          </a:xfrm>
          <a:prstGeom prst="rect">
            <a:avLst/>
          </a:prstGeom>
          <a:noFill/>
          <a:ln/>
        </p:spPr>
        <p:txBody>
          <a:bodyPr wrap="square" lIns="0" tIns="0" rIns="0" bIns="0" rtlCol="0" anchor="ctr"/>
          <a:lstStyle/>
          <a:p>
            <a:pPr indent="0" marL="0">
              <a:buNone/>
            </a:pPr>
            <a:r>
              <a:rPr lang="en-US" sz="1700" dirty="0">
                <a:solidFill>
                  <a:srgbClr val="F87171"/>
                </a:solidFill>
                <a:latin typeface="Georgia" pitchFamily="34" charset="0"/>
                <a:ea typeface="Georgia" pitchFamily="34" charset="-122"/>
                <a:cs typeface="Georgia" pitchFamily="34" charset="-120"/>
              </a:rPr>
              <a:t>The claim</a:t>
            </a:r>
            <a:endParaRPr lang="en-US" sz="1700" dirty="0"/>
          </a:p>
        </p:txBody>
      </p:sp>
      <p:sp>
        <p:nvSpPr>
          <p:cNvPr id="15" name="Text 13"/>
          <p:cNvSpPr/>
          <p:nvPr/>
        </p:nvSpPr>
        <p:spPr>
          <a:xfrm>
            <a:off x="6437376" y="4498848"/>
            <a:ext cx="4937760" cy="1133856"/>
          </a:xfrm>
          <a:prstGeom prst="rect">
            <a:avLst/>
          </a:prstGeom>
          <a:noFill/>
          <a:ln/>
        </p:spPr>
        <p:txBody>
          <a:bodyPr wrap="square" lIns="0" tIns="0" rIns="0" bIns="0" rtlCol="0" anchor="t"/>
          <a:lstStyle/>
          <a:p>
            <a:pPr indent="0" marL="0">
              <a:lnSpc>
                <a:spcPct val="114000"/>
              </a:lnSpc>
              <a:buNone/>
            </a:pPr>
            <a:r>
              <a:rPr lang="en-US" sz="1150" i="1" dirty="0">
                <a:solidFill>
                  <a:srgbClr val="8B98A8"/>
                </a:solidFill>
                <a:latin typeface="Calibri" pitchFamily="34" charset="0"/>
                <a:ea typeface="Calibri" pitchFamily="34" charset="-122"/>
                <a:cs typeface="Calibri" pitchFamily="34" charset="-120"/>
              </a:rPr>
              <a:t>What may not be said yet, and the measurable bar that would earn it.</a:t>
            </a:r>
            <a:endParaRPr lang="en-US" sz="1150" dirty="0"/>
          </a:p>
        </p:txBody>
      </p:sp>
      <p:pic>
        <p:nvPicPr>
          <p:cNvPr id="16" name="Image 0" descr="preencoded.png">    </p:cNvPr>
          <p:cNvPicPr>
            <a:picLocks noChangeAspect="1"/>
          </p:cNvPicPr>
          <p:nvPr/>
        </p:nvPicPr>
        <p:blipFill>
          <a:blip r:embed="rId1"/>
          <a:stretch>
            <a:fillRect/>
          </a:stretch>
        </p:blipFill>
        <p:spPr>
          <a:xfrm>
            <a:off x="566928" y="6373368"/>
            <a:ext cx="162560" cy="162560"/>
          </a:xfrm>
          <a:prstGeom prst="rect">
            <a:avLst/>
          </a:prstGeom>
        </p:spPr>
      </p:pic>
      <p:sp>
        <p:nvSpPr>
          <p:cNvPr id="17" name="Text 14"/>
          <p:cNvSpPr/>
          <p:nvPr/>
        </p:nvSpPr>
        <p:spPr>
          <a:xfrm>
            <a:off x="793496" y="6345936"/>
            <a:ext cx="2194560" cy="217424"/>
          </a:xfrm>
          <a:prstGeom prst="rect">
            <a:avLst/>
          </a:prstGeom>
          <a:noFill/>
          <a:ln/>
        </p:spPr>
        <p:txBody>
          <a:bodyPr wrap="square" lIns="0" tIns="0" rIns="0" bIns="0" rtlCol="0" anchor="ctr"/>
          <a:lstStyle/>
          <a:p>
            <a:pPr indent="0" marL="0">
              <a:buNone/>
            </a:pPr>
            <a:r>
              <a:rPr lang="en-US" sz="800" b="1" spc="104" kern="0" dirty="0">
                <a:solidFill>
                  <a:srgbClr val="FFFFFF"/>
                </a:solidFill>
                <a:latin typeface="Calibri" pitchFamily="34" charset="0"/>
                <a:ea typeface="Calibri" pitchFamily="34" charset="-122"/>
                <a:cs typeface="Calibri" pitchFamily="34" charset="-120"/>
              </a:rPr>
              <a:t>COMP</a:t>
            </a:r>
            <a:pPr indent="0" marL="0">
              <a:buNone/>
            </a:pPr>
            <a:r>
              <a:rPr lang="en-US" sz="800" b="1" spc="104" kern="0" dirty="0">
                <a:solidFill>
                  <a:srgbClr val="F87171"/>
                </a:solidFill>
                <a:latin typeface="Calibri" pitchFamily="34" charset="0"/>
                <a:ea typeface="Calibri" pitchFamily="34" charset="-122"/>
                <a:cs typeface="Calibri" pitchFamily="34" charset="-120"/>
              </a:rPr>
              <a:t>NINJA</a:t>
            </a:r>
            <a:endParaRPr lang="en-US" sz="800" dirty="0"/>
          </a:p>
        </p:txBody>
      </p:sp>
      <p:sp>
        <p:nvSpPr>
          <p:cNvPr id="18" name="Text 15"/>
          <p:cNvSpPr/>
          <p:nvPr/>
        </p:nvSpPr>
        <p:spPr>
          <a:xfrm>
            <a:off x="10527487" y="6355080"/>
            <a:ext cx="1097280" cy="256032"/>
          </a:xfrm>
          <a:prstGeom prst="rect">
            <a:avLst/>
          </a:prstGeom>
          <a:noFill/>
          <a:ln/>
        </p:spPr>
        <p:txBody>
          <a:bodyPr wrap="square" lIns="0" tIns="0" rIns="0" bIns="0" rtlCol="0" anchor="ctr"/>
          <a:lstStyle/>
          <a:p>
            <a:pPr algn="r" indent="0" marL="0">
              <a:buNone/>
            </a:pPr>
            <a:r>
              <a:rPr lang="en-US" sz="950" dirty="0">
                <a:solidFill>
                  <a:srgbClr val="8B98A8"/>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9"/>
        </a:solidFill>
      </p:bgPr>
    </p:bg>
    <p:spTree>
      <p:nvGrpSpPr>
        <p:cNvPr id="1" name=""/>
        <p:cNvGrpSpPr/>
        <p:nvPr/>
      </p:nvGrpSpPr>
      <p:grpSpPr>
        <a:xfrm>
          <a:off x="0" y="0"/>
          <a:ext cx="0" cy="0"/>
          <a:chOff x="0" y="0"/>
          <a:chExt cx="0" cy="0"/>
        </a:xfrm>
      </p:grpSpPr>
      <p:sp>
        <p:nvSpPr>
          <p:cNvPr id="2" name="Text 0"/>
          <p:cNvSpPr/>
          <p:nvPr/>
        </p:nvSpPr>
        <p:spPr>
          <a:xfrm>
            <a:off x="566928" y="384048"/>
            <a:ext cx="11057839" cy="219456"/>
          </a:xfrm>
          <a:prstGeom prst="rect">
            <a:avLst/>
          </a:prstGeom>
          <a:noFill/>
          <a:ln/>
        </p:spPr>
        <p:txBody>
          <a:bodyPr wrap="square" lIns="0" tIns="0" rIns="0" bIns="0" rtlCol="0" anchor="ctr"/>
          <a:lstStyle/>
          <a:p>
            <a:pPr indent="0" marL="0">
              <a:buNone/>
            </a:pPr>
            <a:r>
              <a:rPr lang="en-US" sz="1000" b="1" spc="150" kern="0" dirty="0">
                <a:solidFill>
                  <a:srgbClr val="B91C1C"/>
                </a:solidFill>
                <a:latin typeface="Calibri" pitchFamily="34" charset="0"/>
                <a:ea typeface="Calibri" pitchFamily="34" charset="-122"/>
                <a:cs typeface="Calibri" pitchFamily="34" charset="-120"/>
              </a:rPr>
              <a:t>HOW THIS DECK STAYS TRUE</a:t>
            </a:r>
            <a:endParaRPr lang="en-US" sz="1000" dirty="0"/>
          </a:p>
        </p:txBody>
      </p:sp>
      <p:sp>
        <p:nvSpPr>
          <p:cNvPr id="3" name="Text 1"/>
          <p:cNvSpPr/>
          <p:nvPr/>
        </p:nvSpPr>
        <p:spPr>
          <a:xfrm>
            <a:off x="566928" y="621792"/>
            <a:ext cx="11057839" cy="566928"/>
          </a:xfrm>
          <a:prstGeom prst="rect">
            <a:avLst/>
          </a:prstGeom>
          <a:noFill/>
          <a:ln/>
        </p:spPr>
        <p:txBody>
          <a:bodyPr wrap="square" lIns="0" tIns="0" rIns="0" bIns="0" rtlCol="0" anchor="ctr"/>
          <a:lstStyle/>
          <a:p>
            <a:pPr indent="0" marL="0">
              <a:buNone/>
            </a:pPr>
            <a:r>
              <a:rPr lang="en-US" sz="3000" dirty="0">
                <a:solidFill>
                  <a:srgbClr val="1A2433"/>
                </a:solidFill>
                <a:latin typeface="Georgia" pitchFamily="34" charset="0"/>
                <a:ea typeface="Georgia" pitchFamily="34" charset="-122"/>
                <a:cs typeface="Georgia" pitchFamily="34" charset="-120"/>
              </a:rPr>
              <a:t>A roadmap decays quietly.</a:t>
            </a:r>
            <a:endParaRPr lang="en-US" sz="3000" dirty="0"/>
          </a:p>
        </p:txBody>
      </p:sp>
      <p:pic>
        <p:nvPicPr>
          <p:cNvPr id="4" name="Image 0" descr="preencoded.png">    </p:cNvPr>
          <p:cNvPicPr>
            <a:picLocks noChangeAspect="1"/>
          </p:cNvPicPr>
          <p:nvPr/>
        </p:nvPicPr>
        <p:blipFill>
          <a:blip r:embed="rId1"/>
          <a:stretch>
            <a:fillRect/>
          </a:stretch>
        </p:blipFill>
        <p:spPr>
          <a:xfrm>
            <a:off x="566928" y="6373368"/>
            <a:ext cx="162560" cy="162560"/>
          </a:xfrm>
          <a:prstGeom prst="rect">
            <a:avLst/>
          </a:prstGeom>
        </p:spPr>
      </p:pic>
      <p:sp>
        <p:nvSpPr>
          <p:cNvPr id="5" name="Text 2"/>
          <p:cNvSpPr/>
          <p:nvPr/>
        </p:nvSpPr>
        <p:spPr>
          <a:xfrm>
            <a:off x="793496" y="6345936"/>
            <a:ext cx="2194560" cy="217424"/>
          </a:xfrm>
          <a:prstGeom prst="rect">
            <a:avLst/>
          </a:prstGeom>
          <a:noFill/>
          <a:ln/>
        </p:spPr>
        <p:txBody>
          <a:bodyPr wrap="square" lIns="0" tIns="0" rIns="0" bIns="0" rtlCol="0" anchor="ctr"/>
          <a:lstStyle/>
          <a:p>
            <a:pPr indent="0" marL="0">
              <a:buNone/>
            </a:pPr>
            <a:r>
              <a:rPr lang="en-US" sz="800" b="1" spc="104" kern="0" dirty="0">
                <a:solidFill>
                  <a:srgbClr val="1A2433"/>
                </a:solidFill>
                <a:latin typeface="Calibri" pitchFamily="34" charset="0"/>
                <a:ea typeface="Calibri" pitchFamily="34" charset="-122"/>
                <a:cs typeface="Calibri" pitchFamily="34" charset="-120"/>
              </a:rPr>
              <a:t>COMP</a:t>
            </a:r>
            <a:pPr indent="0" marL="0">
              <a:buNone/>
            </a:pPr>
            <a:r>
              <a:rPr lang="en-US" sz="800" b="1" spc="104" kern="0" dirty="0">
                <a:solidFill>
                  <a:srgbClr val="B91C1C"/>
                </a:solidFill>
                <a:latin typeface="Calibri" pitchFamily="34" charset="0"/>
                <a:ea typeface="Calibri" pitchFamily="34" charset="-122"/>
                <a:cs typeface="Calibri" pitchFamily="34" charset="-120"/>
              </a:rPr>
              <a:t>NINJA</a:t>
            </a:r>
            <a:endParaRPr lang="en-US" sz="800" dirty="0"/>
          </a:p>
        </p:txBody>
      </p:sp>
      <p:sp>
        <p:nvSpPr>
          <p:cNvPr id="6" name="Text 3"/>
          <p:cNvSpPr/>
          <p:nvPr/>
        </p:nvSpPr>
        <p:spPr>
          <a:xfrm>
            <a:off x="10527487" y="6355080"/>
            <a:ext cx="1097280" cy="256032"/>
          </a:xfrm>
          <a:prstGeom prst="rect">
            <a:avLst/>
          </a:prstGeom>
          <a:noFill/>
          <a:ln/>
        </p:spPr>
        <p:txBody>
          <a:bodyPr wrap="square" lIns="0" tIns="0" rIns="0" bIns="0" rtlCol="0" anchor="ctr"/>
          <a:lstStyle/>
          <a:p>
            <a:pPr algn="r" indent="0" marL="0">
              <a:buNone/>
            </a:pPr>
            <a:r>
              <a:rPr lang="en-US" sz="950" dirty="0">
                <a:solidFill>
                  <a:srgbClr val="9AA2AD"/>
                </a:solidFill>
                <a:latin typeface="Calibri" pitchFamily="34" charset="0"/>
                <a:ea typeface="Calibri" pitchFamily="34" charset="-122"/>
                <a:cs typeface="Calibri" pitchFamily="34" charset="-120"/>
              </a:rPr>
              <a:t>12</a:t>
            </a:r>
            <a:endParaRPr lang="en-US" sz="950" dirty="0"/>
          </a:p>
        </p:txBody>
      </p:sp>
      <p:sp>
        <p:nvSpPr>
          <p:cNvPr id="7" name="Text 4"/>
          <p:cNvSpPr/>
          <p:nvPr/>
        </p:nvSpPr>
        <p:spPr>
          <a:xfrm>
            <a:off x="566928" y="1298448"/>
            <a:ext cx="11057839" cy="310896"/>
          </a:xfrm>
          <a:prstGeom prst="rect">
            <a:avLst/>
          </a:prstGeom>
          <a:noFill/>
          <a:ln/>
        </p:spPr>
        <p:txBody>
          <a:bodyPr wrap="square" lIns="0" tIns="0" rIns="0" bIns="0" rtlCol="0" anchor="t"/>
          <a:lstStyle/>
          <a:p>
            <a:pPr indent="0" marL="0">
              <a:buNone/>
            </a:pPr>
            <a:r>
              <a:rPr lang="en-US" sz="1250" dirty="0">
                <a:solidFill>
                  <a:srgbClr val="374253"/>
                </a:solidFill>
                <a:latin typeface="Calibri" pitchFamily="34" charset="0"/>
                <a:ea typeface="Calibri" pitchFamily="34" charset="-122"/>
                <a:cs typeface="Calibri" pitchFamily="34" charset="-120"/>
              </a:rPr>
              <a:t>These four habits are the whole defence. None of them is about writing more; three are about deleting on time.</a:t>
            </a:r>
            <a:endParaRPr lang="en-US" sz="1250" dirty="0"/>
          </a:p>
        </p:txBody>
      </p:sp>
      <p:sp>
        <p:nvSpPr>
          <p:cNvPr id="8" name="Shape 5"/>
          <p:cNvSpPr/>
          <p:nvPr/>
        </p:nvSpPr>
        <p:spPr>
          <a:xfrm>
            <a:off x="566928" y="1755648"/>
            <a:ext cx="11057839" cy="932688"/>
          </a:xfrm>
          <a:prstGeom prst="roundRect">
            <a:avLst>
              <a:gd name="adj" fmla="val 5882"/>
            </a:avLst>
          </a:prstGeom>
          <a:solidFill>
            <a:srgbClr val="FFFFFF"/>
          </a:solidFill>
          <a:ln w="9525">
            <a:solidFill>
              <a:srgbClr val="D8D4C9"/>
            </a:solidFill>
            <a:prstDash val="solid"/>
          </a:ln>
        </p:spPr>
      </p:sp>
      <p:sp>
        <p:nvSpPr>
          <p:cNvPr id="9" name="Text 6"/>
          <p:cNvSpPr/>
          <p:nvPr/>
        </p:nvSpPr>
        <p:spPr>
          <a:xfrm>
            <a:off x="822960" y="1938528"/>
            <a:ext cx="640080" cy="548640"/>
          </a:xfrm>
          <a:prstGeom prst="rect">
            <a:avLst/>
          </a:prstGeom>
          <a:noFill/>
          <a:ln/>
        </p:spPr>
        <p:txBody>
          <a:bodyPr wrap="square" lIns="0" tIns="0" rIns="0" bIns="0" rtlCol="0" anchor="ctr"/>
          <a:lstStyle/>
          <a:p>
            <a:pPr indent="0" marL="0">
              <a:buNone/>
            </a:pPr>
            <a:r>
              <a:rPr lang="en-US" sz="2600" dirty="0">
                <a:solidFill>
                  <a:srgbClr val="B91C1C"/>
                </a:solidFill>
                <a:latin typeface="Georgia" pitchFamily="34" charset="0"/>
                <a:ea typeface="Georgia" pitchFamily="34" charset="-122"/>
                <a:cs typeface="Georgia" pitchFamily="34" charset="-120"/>
              </a:rPr>
              <a:t>01</a:t>
            </a:r>
            <a:endParaRPr lang="en-US" sz="2600" dirty="0"/>
          </a:p>
        </p:txBody>
      </p:sp>
      <p:sp>
        <p:nvSpPr>
          <p:cNvPr id="10" name="Text 7"/>
          <p:cNvSpPr/>
          <p:nvPr/>
        </p:nvSpPr>
        <p:spPr>
          <a:xfrm>
            <a:off x="1572768" y="1883664"/>
            <a:ext cx="3246120" cy="676656"/>
          </a:xfrm>
          <a:prstGeom prst="rect">
            <a:avLst/>
          </a:prstGeom>
          <a:noFill/>
          <a:ln/>
        </p:spPr>
        <p:txBody>
          <a:bodyPr wrap="square" lIns="0" tIns="0" rIns="0" bIns="0" rtlCol="0" anchor="ctr"/>
          <a:lstStyle/>
          <a:p>
            <a:pPr indent="0" marL="0">
              <a:lnSpc>
                <a:spcPct val="105000"/>
              </a:lnSpc>
              <a:buNone/>
            </a:pPr>
            <a:r>
              <a:rPr lang="en-US" sz="1250" b="1" dirty="0">
                <a:solidFill>
                  <a:srgbClr val="1A2433"/>
                </a:solidFill>
                <a:latin typeface="Calibri" pitchFamily="34" charset="0"/>
                <a:ea typeface="Calibri" pitchFamily="34" charset="-122"/>
                <a:cs typeface="Calibri" pitchFamily="34" charset="-120"/>
              </a:rPr>
              <a:t>Move the line the week it ships</a:t>
            </a:r>
            <a:endParaRPr lang="en-US" sz="1250" dirty="0"/>
          </a:p>
        </p:txBody>
      </p:sp>
      <p:sp>
        <p:nvSpPr>
          <p:cNvPr id="11" name="Text 8"/>
          <p:cNvSpPr/>
          <p:nvPr/>
        </p:nvSpPr>
        <p:spPr>
          <a:xfrm>
            <a:off x="5047488" y="1883664"/>
            <a:ext cx="6309360" cy="676656"/>
          </a:xfrm>
          <a:prstGeom prst="rect">
            <a:avLst/>
          </a:prstGeom>
          <a:noFill/>
          <a:ln/>
        </p:spPr>
        <p:txBody>
          <a:bodyPr wrap="square" lIns="0" tIns="0" rIns="0" bIns="0" rtlCol="0" anchor="ctr"/>
          <a:lstStyle/>
          <a:p>
            <a:pPr indent="0" marL="0">
              <a:lnSpc>
                <a:spcPct val="108000"/>
              </a:lnSpc>
              <a:buNone/>
            </a:pPr>
            <a:r>
              <a:rPr lang="en-US" sz="1050" dirty="0">
                <a:solidFill>
                  <a:srgbClr val="374253"/>
                </a:solidFill>
                <a:latin typeface="Calibri" pitchFamily="34" charset="0"/>
                <a:ea typeface="Calibri" pitchFamily="34" charset="-122"/>
                <a:cs typeface="Calibri" pitchFamily="34" charset="-120"/>
              </a:rPr>
              <a:t>A deck listing work already live is worse than no deck: it makes the reader distrust every other line. Move it to a shipped log with its date, in the same commit.</a:t>
            </a:r>
            <a:endParaRPr lang="en-US" sz="1050" dirty="0"/>
          </a:p>
        </p:txBody>
      </p:sp>
      <p:sp>
        <p:nvSpPr>
          <p:cNvPr id="12" name="Shape 9"/>
          <p:cNvSpPr/>
          <p:nvPr/>
        </p:nvSpPr>
        <p:spPr>
          <a:xfrm>
            <a:off x="566928" y="2816352"/>
            <a:ext cx="11057839" cy="932688"/>
          </a:xfrm>
          <a:prstGeom prst="roundRect">
            <a:avLst>
              <a:gd name="adj" fmla="val 5882"/>
            </a:avLst>
          </a:prstGeom>
          <a:solidFill>
            <a:srgbClr val="FFFFFF"/>
          </a:solidFill>
          <a:ln w="9525">
            <a:solidFill>
              <a:srgbClr val="D8D4C9"/>
            </a:solidFill>
            <a:prstDash val="solid"/>
          </a:ln>
        </p:spPr>
      </p:sp>
      <p:sp>
        <p:nvSpPr>
          <p:cNvPr id="13" name="Text 10"/>
          <p:cNvSpPr/>
          <p:nvPr/>
        </p:nvSpPr>
        <p:spPr>
          <a:xfrm>
            <a:off x="822960" y="2999232"/>
            <a:ext cx="640080" cy="548640"/>
          </a:xfrm>
          <a:prstGeom prst="rect">
            <a:avLst/>
          </a:prstGeom>
          <a:noFill/>
          <a:ln/>
        </p:spPr>
        <p:txBody>
          <a:bodyPr wrap="square" lIns="0" tIns="0" rIns="0" bIns="0" rtlCol="0" anchor="ctr"/>
          <a:lstStyle/>
          <a:p>
            <a:pPr indent="0" marL="0">
              <a:buNone/>
            </a:pPr>
            <a:r>
              <a:rPr lang="en-US" sz="2600" dirty="0">
                <a:solidFill>
                  <a:srgbClr val="B91C1C"/>
                </a:solidFill>
                <a:latin typeface="Georgia" pitchFamily="34" charset="0"/>
                <a:ea typeface="Georgia" pitchFamily="34" charset="-122"/>
                <a:cs typeface="Georgia" pitchFamily="34" charset="-120"/>
              </a:rPr>
              <a:t>02</a:t>
            </a:r>
            <a:endParaRPr lang="en-US" sz="2600" dirty="0"/>
          </a:p>
        </p:txBody>
      </p:sp>
      <p:sp>
        <p:nvSpPr>
          <p:cNvPr id="14" name="Text 11"/>
          <p:cNvSpPr/>
          <p:nvPr/>
        </p:nvSpPr>
        <p:spPr>
          <a:xfrm>
            <a:off x="1572768" y="2944368"/>
            <a:ext cx="3246120" cy="676656"/>
          </a:xfrm>
          <a:prstGeom prst="rect">
            <a:avLst/>
          </a:prstGeom>
          <a:noFill/>
          <a:ln/>
        </p:spPr>
        <p:txBody>
          <a:bodyPr wrap="square" lIns="0" tIns="0" rIns="0" bIns="0" rtlCol="0" anchor="ctr"/>
          <a:lstStyle/>
          <a:p>
            <a:pPr indent="0" marL="0">
              <a:lnSpc>
                <a:spcPct val="105000"/>
              </a:lnSpc>
              <a:buNone/>
            </a:pPr>
            <a:r>
              <a:rPr lang="en-US" sz="1250" b="1" dirty="0">
                <a:solidFill>
                  <a:srgbClr val="1A2433"/>
                </a:solidFill>
                <a:latin typeface="Calibri" pitchFamily="34" charset="0"/>
                <a:ea typeface="Calibri" pitchFamily="34" charset="-122"/>
                <a:cs typeface="Calibri" pitchFamily="34" charset="-120"/>
              </a:rPr>
              <a:t>Dates, never adverbs</a:t>
            </a:r>
            <a:endParaRPr lang="en-US" sz="1250" dirty="0"/>
          </a:p>
        </p:txBody>
      </p:sp>
      <p:sp>
        <p:nvSpPr>
          <p:cNvPr id="15" name="Text 12"/>
          <p:cNvSpPr/>
          <p:nvPr/>
        </p:nvSpPr>
        <p:spPr>
          <a:xfrm>
            <a:off x="5047488" y="2944368"/>
            <a:ext cx="6309360" cy="676656"/>
          </a:xfrm>
          <a:prstGeom prst="rect">
            <a:avLst/>
          </a:prstGeom>
          <a:noFill/>
          <a:ln/>
        </p:spPr>
        <p:txBody>
          <a:bodyPr wrap="square" lIns="0" tIns="0" rIns="0" bIns="0" rtlCol="0" anchor="ctr"/>
          <a:lstStyle/>
          <a:p>
            <a:pPr indent="0" marL="0">
              <a:lnSpc>
                <a:spcPct val="108000"/>
              </a:lnSpc>
              <a:buNone/>
            </a:pPr>
            <a:r>
              <a:rPr lang="en-US" sz="1050" dirty="0">
                <a:solidFill>
                  <a:srgbClr val="374253"/>
                </a:solidFill>
                <a:latin typeface="Calibri" pitchFamily="34" charset="0"/>
                <a:ea typeface="Calibri" pitchFamily="34" charset="-122"/>
                <a:cs typeface="Calibri" pitchFamily="34" charset="-120"/>
              </a:rPr>
              <a:t>Every claim carries the day it was last true. A reader can then judge staleness without asking anybody.</a:t>
            </a:r>
            <a:endParaRPr lang="en-US" sz="1050" dirty="0"/>
          </a:p>
        </p:txBody>
      </p:sp>
      <p:sp>
        <p:nvSpPr>
          <p:cNvPr id="16" name="Shape 13"/>
          <p:cNvSpPr/>
          <p:nvPr/>
        </p:nvSpPr>
        <p:spPr>
          <a:xfrm>
            <a:off x="566928" y="3877056"/>
            <a:ext cx="11057839" cy="932688"/>
          </a:xfrm>
          <a:prstGeom prst="roundRect">
            <a:avLst>
              <a:gd name="adj" fmla="val 5882"/>
            </a:avLst>
          </a:prstGeom>
          <a:solidFill>
            <a:srgbClr val="FFFFFF"/>
          </a:solidFill>
          <a:ln w="9525">
            <a:solidFill>
              <a:srgbClr val="D8D4C9"/>
            </a:solidFill>
            <a:prstDash val="solid"/>
          </a:ln>
        </p:spPr>
      </p:sp>
      <p:sp>
        <p:nvSpPr>
          <p:cNvPr id="17" name="Text 14"/>
          <p:cNvSpPr/>
          <p:nvPr/>
        </p:nvSpPr>
        <p:spPr>
          <a:xfrm>
            <a:off x="822960" y="4059936"/>
            <a:ext cx="640080" cy="548640"/>
          </a:xfrm>
          <a:prstGeom prst="rect">
            <a:avLst/>
          </a:prstGeom>
          <a:noFill/>
          <a:ln/>
        </p:spPr>
        <p:txBody>
          <a:bodyPr wrap="square" lIns="0" tIns="0" rIns="0" bIns="0" rtlCol="0" anchor="ctr"/>
          <a:lstStyle/>
          <a:p>
            <a:pPr indent="0" marL="0">
              <a:buNone/>
            </a:pPr>
            <a:r>
              <a:rPr lang="en-US" sz="2600" dirty="0">
                <a:solidFill>
                  <a:srgbClr val="B91C1C"/>
                </a:solidFill>
                <a:latin typeface="Georgia" pitchFamily="34" charset="0"/>
                <a:ea typeface="Georgia" pitchFamily="34" charset="-122"/>
                <a:cs typeface="Georgia" pitchFamily="34" charset="-120"/>
              </a:rPr>
              <a:t>03</a:t>
            </a:r>
            <a:endParaRPr lang="en-US" sz="2600" dirty="0"/>
          </a:p>
        </p:txBody>
      </p:sp>
      <p:sp>
        <p:nvSpPr>
          <p:cNvPr id="18" name="Text 15"/>
          <p:cNvSpPr/>
          <p:nvPr/>
        </p:nvSpPr>
        <p:spPr>
          <a:xfrm>
            <a:off x="1572768" y="4005072"/>
            <a:ext cx="3246120" cy="676656"/>
          </a:xfrm>
          <a:prstGeom prst="rect">
            <a:avLst/>
          </a:prstGeom>
          <a:noFill/>
          <a:ln/>
        </p:spPr>
        <p:txBody>
          <a:bodyPr wrap="square" lIns="0" tIns="0" rIns="0" bIns="0" rtlCol="0" anchor="ctr"/>
          <a:lstStyle/>
          <a:p>
            <a:pPr indent="0" marL="0">
              <a:lnSpc>
                <a:spcPct val="105000"/>
              </a:lnSpc>
              <a:buNone/>
            </a:pPr>
            <a:r>
              <a:rPr lang="en-US" sz="1250" b="1" dirty="0">
                <a:solidFill>
                  <a:srgbClr val="1A2433"/>
                </a:solidFill>
                <a:latin typeface="Calibri" pitchFamily="34" charset="0"/>
                <a:ea typeface="Calibri" pitchFamily="34" charset="-122"/>
                <a:cs typeface="Calibri" pitchFamily="34" charset="-120"/>
              </a:rPr>
              <a:t>Write the reason, not just the item</a:t>
            </a:r>
            <a:endParaRPr lang="en-US" sz="1250" dirty="0"/>
          </a:p>
        </p:txBody>
      </p:sp>
      <p:sp>
        <p:nvSpPr>
          <p:cNvPr id="19" name="Text 16"/>
          <p:cNvSpPr/>
          <p:nvPr/>
        </p:nvSpPr>
        <p:spPr>
          <a:xfrm>
            <a:off x="5047488" y="4005072"/>
            <a:ext cx="6309360" cy="676656"/>
          </a:xfrm>
          <a:prstGeom prst="rect">
            <a:avLst/>
          </a:prstGeom>
          <a:noFill/>
          <a:ln/>
        </p:spPr>
        <p:txBody>
          <a:bodyPr wrap="square" lIns="0" tIns="0" rIns="0" bIns="0" rtlCol="0" anchor="ctr"/>
          <a:lstStyle/>
          <a:p>
            <a:pPr indent="0" marL="0">
              <a:lnSpc>
                <a:spcPct val="108000"/>
              </a:lnSpc>
              <a:buNone/>
            </a:pPr>
            <a:r>
              <a:rPr lang="en-US" sz="1050" dirty="0">
                <a:solidFill>
                  <a:srgbClr val="374253"/>
                </a:solidFill>
                <a:latin typeface="Calibri" pitchFamily="34" charset="0"/>
                <a:ea typeface="Calibri" pitchFamily="34" charset="-122"/>
                <a:cs typeface="Calibri" pitchFamily="34" charset="-120"/>
              </a:rPr>
              <a:t>Record what was rejected and what it would have cost. That is the most expensive thing in the deck to regenerate, and the first thing a rushed edit drops.</a:t>
            </a:r>
            <a:endParaRPr lang="en-US" sz="1050" dirty="0"/>
          </a:p>
        </p:txBody>
      </p:sp>
      <p:sp>
        <p:nvSpPr>
          <p:cNvPr id="20" name="Shape 17"/>
          <p:cNvSpPr/>
          <p:nvPr/>
        </p:nvSpPr>
        <p:spPr>
          <a:xfrm>
            <a:off x="566928" y="4937760"/>
            <a:ext cx="11057839" cy="932688"/>
          </a:xfrm>
          <a:prstGeom prst="roundRect">
            <a:avLst>
              <a:gd name="adj" fmla="val 5882"/>
            </a:avLst>
          </a:prstGeom>
          <a:solidFill>
            <a:srgbClr val="FFFFFF"/>
          </a:solidFill>
          <a:ln w="9525">
            <a:solidFill>
              <a:srgbClr val="D8D4C9"/>
            </a:solidFill>
            <a:prstDash val="solid"/>
          </a:ln>
        </p:spPr>
      </p:sp>
      <p:sp>
        <p:nvSpPr>
          <p:cNvPr id="21" name="Text 18"/>
          <p:cNvSpPr/>
          <p:nvPr/>
        </p:nvSpPr>
        <p:spPr>
          <a:xfrm>
            <a:off x="822960" y="5120640"/>
            <a:ext cx="640080" cy="548640"/>
          </a:xfrm>
          <a:prstGeom prst="rect">
            <a:avLst/>
          </a:prstGeom>
          <a:noFill/>
          <a:ln/>
        </p:spPr>
        <p:txBody>
          <a:bodyPr wrap="square" lIns="0" tIns="0" rIns="0" bIns="0" rtlCol="0" anchor="ctr"/>
          <a:lstStyle/>
          <a:p>
            <a:pPr indent="0" marL="0">
              <a:buNone/>
            </a:pPr>
            <a:r>
              <a:rPr lang="en-US" sz="2600" dirty="0">
                <a:solidFill>
                  <a:srgbClr val="B91C1C"/>
                </a:solidFill>
                <a:latin typeface="Georgia" pitchFamily="34" charset="0"/>
                <a:ea typeface="Georgia" pitchFamily="34" charset="-122"/>
                <a:cs typeface="Georgia" pitchFamily="34" charset="-120"/>
              </a:rPr>
              <a:t>04</a:t>
            </a:r>
            <a:endParaRPr lang="en-US" sz="2600" dirty="0"/>
          </a:p>
        </p:txBody>
      </p:sp>
      <p:sp>
        <p:nvSpPr>
          <p:cNvPr id="22" name="Text 19"/>
          <p:cNvSpPr/>
          <p:nvPr/>
        </p:nvSpPr>
        <p:spPr>
          <a:xfrm>
            <a:off x="1572768" y="5065776"/>
            <a:ext cx="3246120" cy="676656"/>
          </a:xfrm>
          <a:prstGeom prst="rect">
            <a:avLst/>
          </a:prstGeom>
          <a:noFill/>
          <a:ln/>
        </p:spPr>
        <p:txBody>
          <a:bodyPr wrap="square" lIns="0" tIns="0" rIns="0" bIns="0" rtlCol="0" anchor="ctr"/>
          <a:lstStyle/>
          <a:p>
            <a:pPr indent="0" marL="0">
              <a:lnSpc>
                <a:spcPct val="105000"/>
              </a:lnSpc>
              <a:buNone/>
            </a:pPr>
            <a:r>
              <a:rPr lang="en-US" sz="1250" b="1" dirty="0">
                <a:solidFill>
                  <a:srgbClr val="1A2433"/>
                </a:solidFill>
                <a:latin typeface="Calibri" pitchFamily="34" charset="0"/>
                <a:ea typeface="Calibri" pitchFamily="34" charset="-122"/>
                <a:cs typeface="Calibri" pitchFamily="34" charset="-120"/>
              </a:rPr>
              <a:t>One file wins</a:t>
            </a:r>
            <a:endParaRPr lang="en-US" sz="1250" dirty="0"/>
          </a:p>
        </p:txBody>
      </p:sp>
      <p:sp>
        <p:nvSpPr>
          <p:cNvPr id="23" name="Text 20"/>
          <p:cNvSpPr/>
          <p:nvPr/>
        </p:nvSpPr>
        <p:spPr>
          <a:xfrm>
            <a:off x="5047488" y="5065776"/>
            <a:ext cx="6309360" cy="676656"/>
          </a:xfrm>
          <a:prstGeom prst="rect">
            <a:avLst/>
          </a:prstGeom>
          <a:noFill/>
          <a:ln/>
        </p:spPr>
        <p:txBody>
          <a:bodyPr wrap="square" lIns="0" tIns="0" rIns="0" bIns="0" rtlCol="0" anchor="ctr"/>
          <a:lstStyle/>
          <a:p>
            <a:pPr indent="0" marL="0">
              <a:lnSpc>
                <a:spcPct val="108000"/>
              </a:lnSpc>
              <a:buNone/>
            </a:pPr>
            <a:r>
              <a:rPr lang="en-US" sz="1050" dirty="0">
                <a:solidFill>
                  <a:srgbClr val="374253"/>
                </a:solidFill>
                <a:latin typeface="Calibri" pitchFamily="34" charset="0"/>
                <a:ea typeface="Calibri" pitchFamily="34" charset="-122"/>
                <a:cs typeface="Calibri" pitchFamily="34" charset="-120"/>
              </a:rPr>
              <a:t>Keep a single written source of truth in the repo and treat this deck as how it is read out loud. When they disagree, the file is right.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CompNinja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CompNinja Roadmap — Template</dc:title>
  <dc:subject>Blank milestone roadmap, twelve weeks</dc:subject>
  <dc:creator>CompNinja</dc:creator>
  <cp:lastModifiedBy>CompNinja</cp:lastModifiedBy>
  <cp:revision>1</cp:revision>
  <dcterms:created xsi:type="dcterms:W3CDTF">2026-08-19T06:21:05Z</dcterms:created>
  <dcterms:modified xsi:type="dcterms:W3CDTF">2026-08-19T06:21:05Z</dcterms:modified>
</cp:coreProperties>
</file>