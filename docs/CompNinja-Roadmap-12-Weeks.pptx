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tracks: Development, Users, Relationships, Profit. Three milestones each, one landing a week. This deck restates docs/ROADMAP.md as milestones on a calendar. When the two disagree, the repo file wins — move a line to its Shipped log the same commit it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zero is the whole argument for the ordering. If it stops being zero, re-order the deck around retention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milestones per track is a working default for twelve weeks. The tracks are deliberately unequal in effort — REL is mostly conversations, PRO is mostly a switch and a wait — because effort is not what they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to stop the roadmap growing. Every item here was finished work that produced no outcome because a switch stayed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only one habit survives, make it the first. A stale roadmap is read as a lying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264160" cy="264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5096" y="539496"/>
            <a:ext cx="21945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9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pPr indent="0" marL="0">
              <a:buNone/>
            </a:pPr>
            <a:r>
              <a:rPr lang="en-US" sz="1300" b="1" spc="169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1965960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566928" y="30358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tracks, twelve weeks, twelve milestones.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3703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roadmap of shipped features says nothing about whether the business is working. These four tracks each answer a different question, and only one of them is about code.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4590288"/>
            <a:ext cx="585216" cy="274320"/>
          </a:xfrm>
          <a:prstGeom prst="roundRect">
            <a:avLst>
              <a:gd name="adj" fmla="val 16667"/>
            </a:avLst>
          </a:prstGeom>
          <a:solidFill>
            <a:srgbClr val="3D4B5F"/>
          </a:solidFill>
          <a:ln w="6350">
            <a:solidFill>
              <a:srgbClr val="3D4B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45902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61872" y="4553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66928" y="4956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milestones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55848" y="4590288"/>
            <a:ext cx="585216" cy="27432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55848" y="45902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050792" y="4553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355848" y="4956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milestones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44768" y="4590288"/>
            <a:ext cx="585216" cy="274320"/>
          </a:xfrm>
          <a:prstGeom prst="roundRect">
            <a:avLst>
              <a:gd name="adj" fmla="val 16667"/>
            </a:avLst>
          </a:prstGeom>
          <a:solidFill>
            <a:srgbClr val="4C3A8C"/>
          </a:solidFill>
          <a:ln w="6350">
            <a:solidFill>
              <a:srgbClr val="4C3A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44768" y="45902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839712" y="4553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144768" y="4956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milestones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33688" y="4590288"/>
            <a:ext cx="585216" cy="274320"/>
          </a:xfrm>
          <a:prstGeom prst="roundRect">
            <a:avLst>
              <a:gd name="adj" fmla="val 16667"/>
            </a:avLst>
          </a:prstGeom>
          <a:solidFill>
            <a:srgbClr val="06603A"/>
          </a:solidFill>
          <a:ln w="6350">
            <a:solidFill>
              <a:srgbClr val="0660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33688" y="45902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628632" y="4553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933688" y="4956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milestones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55487" y="63733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2026-08-19  ·  docs/ROADMAP.md stays the source of truth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PLAN AND NOT ANOTHER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constraint is not the product.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73368"/>
            <a:ext cx="162560" cy="162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496" y="6345936"/>
            <a:ext cx="2194560" cy="2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4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pPr indent="0" marL="0">
              <a:buNone/>
            </a:pPr>
            <a:r>
              <a:rPr lang="en-US" sz="800" b="1" spc="104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27487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3246120" cy="2212848"/>
          </a:xfrm>
          <a:prstGeom prst="roundRect">
            <a:avLst>
              <a:gd name="adj" fmla="val 2479"/>
            </a:avLst>
          </a:prstGeom>
          <a:solidFill>
            <a:srgbClr val="1A2433"/>
          </a:solidFill>
          <a:ln w="9525">
            <a:solidFill>
              <a:srgbClr val="1A24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9344"/>
            <a:ext cx="2743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822960" y="2761488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users, at the last honest count (2026-08-06)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87368" y="1481328"/>
            <a:ext cx="2395728" cy="2212848"/>
          </a:xfrm>
          <a:prstGeom prst="roundRect">
            <a:avLst>
              <a:gd name="adj" fmla="val 2479"/>
            </a:avLst>
          </a:prstGeom>
          <a:solidFill>
            <a:srgbClr val="E7F5EE"/>
          </a:solidFill>
          <a:ln w="9525">
            <a:solidFill>
              <a:srgbClr val="BFE5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88536" y="16824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6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built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88536" y="2066544"/>
            <a:ext cx="2011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 tier with billing, a private broker vault, 38 market pages, a comp corpus with retrieval, a lead inbox, a watchlist digest, share links with an ACL.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47688" y="1481328"/>
            <a:ext cx="2395728" cy="2212848"/>
          </a:xfrm>
          <a:prstGeom prst="roundRect">
            <a:avLst>
              <a:gd name="adj" fmla="val 2479"/>
            </a:avLst>
          </a:prstGeom>
          <a:solidFill>
            <a:srgbClr val="FBF3DC"/>
          </a:solidFill>
          <a:ln w="9525">
            <a:solidFill>
              <a:srgbClr val="EDDF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48856" y="16824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A6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proven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48856" y="2066544"/>
            <a:ext cx="2011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math, by test and by backtest. 1,520 tests gate every deploy. The reconciliation is scored against real corpus sales.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208008" y="1481328"/>
            <a:ext cx="2395728" cy="2212848"/>
          </a:xfrm>
          <a:prstGeom prst="roundRect">
            <a:avLst>
              <a:gd name="adj" fmla="val 2479"/>
            </a:avLst>
          </a:prstGeom>
          <a:solidFill>
            <a:srgbClr val="FCF1EF"/>
          </a:solidFill>
          <a:ln w="9525">
            <a:solidFill>
              <a:srgbClr val="F0C7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09176" y="16824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missing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409176" y="2066544"/>
            <a:ext cx="20116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stranger. Nobody outside has run a report, uploaded a book, or paid. Every number above is a number about us.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6928" y="3931920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1330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RULE FOR EVERYTHING THAT FOLLOWS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22960" y="4370832"/>
            <a:ext cx="105457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that moves a person from “never heard of it” to “ran a second report” outranks work that makes the report better. The product is not short of features; it is short of a first user. A thin result is a real answer — evidence to stop spending here, not a reason to spend more.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6928" y="5303520"/>
            <a:ext cx="9686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roadmap's own position, not a new one: “as of 2026-08-06 the product had zero real outside users, so ‘can anyone find this’ is the binding constraint.” It is why Development is only one lane of four.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TRACKS · TWELVE WEEKS · TWELVE MILESTONES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one of these four lanes is about code.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73368"/>
            <a:ext cx="162560" cy="162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496" y="6345936"/>
            <a:ext cx="2194560" cy="2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4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pPr indent="0" marL="0">
              <a:buNone/>
            </a:pPr>
            <a:r>
              <a:rPr lang="en-US" sz="800" b="1" spc="104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27487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" y="1536192"/>
            <a:ext cx="2157984" cy="1005840"/>
          </a:xfrm>
          <a:prstGeom prst="roundRect">
            <a:avLst>
              <a:gd name="adj" fmla="val 5455"/>
            </a:avLst>
          </a:prstGeom>
          <a:solidFill>
            <a:srgbClr val="F5F4E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1719072"/>
            <a:ext cx="585216" cy="274320"/>
          </a:xfrm>
          <a:prstGeom prst="roundRect">
            <a:avLst>
              <a:gd name="adj" fmla="val 16667"/>
            </a:avLst>
          </a:prstGeom>
          <a:solidFill>
            <a:srgbClr val="1A2433"/>
          </a:solidFill>
          <a:ln w="6350">
            <a:solidFill>
              <a:srgbClr val="1A24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71907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389888" y="16916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9808" y="2048256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exist before anything else on this page can be true.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871216" y="1536192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54096" y="16824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·  Week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054096" y="190195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runs live for the first time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88736" y="1536192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71616" y="16824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·  Week 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71616" y="190195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refuses without a licence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06256" y="1536192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89136" y="168249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·  Week 5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089136" y="190195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digest sends on a schedule, not by hand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" y="2624328"/>
            <a:ext cx="2157984" cy="1005840"/>
          </a:xfrm>
          <a:prstGeom prst="roundRect">
            <a:avLst>
              <a:gd name="adj" fmla="val 5455"/>
            </a:avLst>
          </a:prstGeom>
          <a:solidFill>
            <a:srgbClr val="FCF1EF"/>
          </a:solidFill>
          <a:ln w="9525">
            <a:solidFill>
              <a:srgbClr val="F0C7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9808" y="2807208"/>
            <a:ext cx="585216" cy="27432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" y="28072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389888" y="27797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49808" y="3136392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are not us, doing the thing without being asked.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871216" y="2624328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54096" y="277063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 ·  Week 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054096" y="2990088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reports run by people who are not us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888736" y="2624328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71616" y="277063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 ·  Week 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071616" y="2990088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returns without being prompted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906256" y="2624328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89136" y="277063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 ·  Week 10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089136" y="2990088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market buckets hold eight good comps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66928" y="3712464"/>
            <a:ext cx="2157984" cy="1005840"/>
          </a:xfrm>
          <a:prstGeom prst="roundRect">
            <a:avLst>
              <a:gd name="adj" fmla="val 5455"/>
            </a:avLst>
          </a:prstGeom>
          <a:solidFill>
            <a:srgbClr val="EDE9F8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9808" y="3895344"/>
            <a:ext cx="585216" cy="274320"/>
          </a:xfrm>
          <a:prstGeom prst="roundRect">
            <a:avLst>
              <a:gd name="adj" fmla="val 16667"/>
            </a:avLst>
          </a:prstGeom>
          <a:solidFill>
            <a:srgbClr val="4C3A8C"/>
          </a:solidFill>
          <a:ln w="6350">
            <a:solidFill>
              <a:srgbClr val="4C3A8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9808" y="389534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1389888" y="38679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3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749808" y="422452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Brokers, advisers and counsel — the answers we cannot write ourselves.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871216" y="3712464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054096" y="385876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4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·  Week 4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054096" y="4078224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brokers hold a vault, handed over in person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888736" y="3712464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071616" y="385876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4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·  Week 9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071616" y="4078224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broker publishes under their own credit name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906256" y="3712464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089136" y="385876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4C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·  Week 11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9089136" y="4078224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attorney's three answers, in writing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66928" y="4800600"/>
            <a:ext cx="2157984" cy="1005840"/>
          </a:xfrm>
          <a:prstGeom prst="roundRect">
            <a:avLst>
              <a:gd name="adj" fmla="val 5455"/>
            </a:avLst>
          </a:prstGeom>
          <a:solidFill>
            <a:srgbClr val="E7F5EE"/>
          </a:solidFill>
          <a:ln w="9525">
            <a:solidFill>
              <a:srgbClr val="BFE5D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49808" y="4983480"/>
            <a:ext cx="585216" cy="274320"/>
          </a:xfrm>
          <a:prstGeom prst="roundRect">
            <a:avLst>
              <a:gd name="adj" fmla="val 16667"/>
            </a:avLst>
          </a:prstGeom>
          <a:solidFill>
            <a:srgbClr val="06603A"/>
          </a:solidFill>
          <a:ln w="6350">
            <a:solidFill>
              <a:srgbClr val="06603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49808" y="498348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1389888" y="4956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749808" y="5312664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that arrives from somebody who was free to keep it.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2871216" y="4800600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054096" y="4946904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·  Week 7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3054096" y="516636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 becomes buyable at all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888736" y="4800600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071616" y="4946904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·  Week 8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071616" y="516636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stranger pays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8906256" y="4800600"/>
            <a:ext cx="287121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089136" y="4946904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0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·  Week 12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9089136" y="5166360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network's revenue shape is decided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566928" y="5925312"/>
            <a:ext cx="9777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down a lane to see whether that half of the business is moving. A quarter where only DEV lands is a quarter that shipped a great deal and proved nothing.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× 2  ·  USE × 1  ·  REL ×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1–4 · Getting in front of somebody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73368"/>
            <a:ext cx="162560" cy="162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496" y="6345936"/>
            <a:ext cx="2194560" cy="2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4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pPr indent="0" marL="0">
              <a:buNone/>
            </a:pPr>
            <a:r>
              <a:rPr lang="en-US" sz="800" b="1" spc="104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27487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5F4E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2763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W01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1520" y="19751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17 – 23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572768" y="1728216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1A2433"/>
          </a:solidFill>
          <a:ln w="6350">
            <a:solidFill>
              <a:srgbClr val="1A24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72768" y="172821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340864" y="1609344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outreach that is already written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852160" y="1609344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outreach.js runs real reports on real buildings and drafts a message each — built, never run live. Ten buildings, one market, --confirm. Same week: re-check Search Console — has the home page been crawled since Aug 8, and does it name itself as canonical yet?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515600" y="1819656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1A2433"/>
          </a:solidFill>
          <a:ln w="6350">
            <a:solidFill>
              <a:srgbClr val="1A24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0" y="18196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LANDS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6928" y="251460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CF1EF"/>
          </a:solidFill>
          <a:ln w="9525">
            <a:solidFill>
              <a:srgbClr val="F0C7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266090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W02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31520" y="30083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24 – 30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572768" y="2761488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72768" y="276148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340864" y="2642616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ten, fix the worst drop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852160" y="2642616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visitor funnel now answers arrived → hit the wall → made an account → ran a report. Repair whichever gap is widest before adding anything. Nothing new ships this week that the funnel did not ask for.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0515600" y="2852928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0" y="28529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LANDS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6928" y="3547872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5F4E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369417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W03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731520" y="40416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31 – Sep 06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572768" y="3794760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1A2433"/>
          </a:solidFill>
          <a:ln w="6350">
            <a:solidFill>
              <a:srgbClr val="1A24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72768" y="379476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340864" y="3675888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licence gate before any broker has a vault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852160" y="3675888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2026-08-12, not built: a licence field on the broker profile, and POST /api/vault/publish refuses without it. Verified means a named broker vouched; that must be enforced in code, not remembered. It has to land before R1, not after.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0515600" y="388620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1A2433"/>
          </a:solidFill>
          <a:ln w="6350">
            <a:solidFill>
              <a:srgbClr val="1A24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515600" y="3886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LANDS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66928" y="4581144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EDE9F8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1520" y="472744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C3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W04</a:t>
            </a:r>
            <a:endParaRPr lang="en-US" sz="1900" dirty="0"/>
          </a:p>
        </p:txBody>
      </p:sp>
      <p:sp>
        <p:nvSpPr>
          <p:cNvPr id="36" name="Text 33"/>
          <p:cNvSpPr/>
          <p:nvPr/>
        </p:nvSpPr>
        <p:spPr>
          <a:xfrm>
            <a:off x="731520" y="5074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07 – 13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572768" y="4828032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4C3A8C"/>
          </a:solidFill>
          <a:ln w="6350">
            <a:solidFill>
              <a:srgbClr val="4C3A8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572768" y="48280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340864" y="4709160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three brokers a vault, in the room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5852160" y="4709160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VAULT_PASSKEY exists precisely so onboarding does not wait on the SQL editor. Read their real exports for lat/lng coverage — that measurement is what buys or kills import-time geocoding, deferred for want of a single real book.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0515600" y="4919472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4C3A8C"/>
          </a:solidFill>
          <a:ln w="6350">
            <a:solidFill>
              <a:srgbClr val="4C3A8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515600" y="4919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LANDS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66928" y="5632704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F5F4E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9808" y="57332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BLOCK IS JUDGED 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49808" y="5897880"/>
            <a:ext cx="10692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lanes open at once on purpose: the licence gate (D2) is the one piece of code that must exist before a stranger holds a vault, so it lands the week before R1 does.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× 1  ·  USE × 1  ·  PRO ×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5–8 · Coming back, and paying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73368"/>
            <a:ext cx="162560" cy="162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496" y="6345936"/>
            <a:ext cx="2194560" cy="2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4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pPr indent="0" marL="0">
              <a:buNone/>
            </a:pPr>
            <a:r>
              <a:rPr lang="en-US" sz="800" b="1" spc="104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27487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5F4E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2763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W05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1520" y="19751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14 – 20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572768" y="1728216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1A2433"/>
          </a:solidFill>
          <a:ln w="6350">
            <a:solidFill>
              <a:srgbClr val="1A24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72768" y="172821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340864" y="1609344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digest on a cadence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852160" y="1609344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we send on our own initiative is manual-only by design. Drive the route from an external scheduler, weekly. Prove the high-water marks on a real send, and that unsubscribe survives a mail scanner fetching every link.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515600" y="1819656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1A2433"/>
          </a:solidFill>
          <a:ln w="6350">
            <a:solidFill>
              <a:srgbClr val="1A24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0" y="18196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LANDS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6928" y="251460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CF1EF"/>
          </a:solidFill>
          <a:ln w="9525">
            <a:solidFill>
              <a:srgbClr val="F0C7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266090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W06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31520" y="30083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21 – 27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572768" y="2761488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72768" y="276148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340864" y="2642616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second visit worth the trip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852160" y="2642616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 property already reports what its market did while its owner was away, drawn from other people's searches. Land the digest on that, not on a generic desk. The return visit is the product; the first is the advert.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0515600" y="2852928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0" y="28529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LANDS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6928" y="3547872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 w="9525">
            <a:solidFill>
              <a:srgbClr val="BFE5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369417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6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W07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731520" y="40416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28 – Oct 04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572768" y="3794760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06603A"/>
          </a:solidFill>
          <a:ln w="6350">
            <a:solidFill>
              <a:srgbClr val="06603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72768" y="379476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340864" y="3675888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Unset PRO_AUDIENCE — that is the launch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852160" y="3675888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set, the paid tier is live and unbuyable and the deployment looks perfectly healthy. Before flipping: one real card end to end, and confirm all nine Stripe events are ticked on the live endpoint — three of them sat inert for two weeks.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0515600" y="388620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06603A"/>
          </a:solidFill>
          <a:ln w="6350">
            <a:solidFill>
              <a:srgbClr val="0660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515600" y="3886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LANDS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66928" y="4581144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 w="9525">
            <a:solidFill>
              <a:srgbClr val="BFE5D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1520" y="472744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6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W08</a:t>
            </a:r>
            <a:endParaRPr lang="en-US" sz="1900" dirty="0"/>
          </a:p>
        </p:txBody>
      </p:sp>
      <p:sp>
        <p:nvSpPr>
          <p:cNvPr id="36" name="Text 33"/>
          <p:cNvSpPr/>
          <p:nvPr/>
        </p:nvSpPr>
        <p:spPr>
          <a:xfrm>
            <a:off x="731520" y="5074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05 – 11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572768" y="4828032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06603A"/>
          </a:solidFill>
          <a:ln w="6350">
            <a:solidFill>
              <a:srgbClr val="06603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572768" y="48280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340864" y="4709160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the $20 report where the lock is felt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5852160" y="4709160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tile only appears on a report with locked comps, which is the only honest moment to ask. Measure lock seen → tile shown → checkout opened. Move the Stripe price before the copy, never after.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0515600" y="4919472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06603A"/>
          </a:solidFill>
          <a:ln w="6350">
            <a:solidFill>
              <a:srgbClr val="0660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515600" y="4919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LANDS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66928" y="5632704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F5F4E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9808" y="57332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BLOCK IS JUDGED 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49808" y="5897880"/>
            <a:ext cx="10692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proved before the money is asked for. A first payment from somebody who was never going to return is a refund with a delay on it.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 × 2  ·  USE × 1  ·  PRO ×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Weeks 9–12 · Credit, density, clearance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73368"/>
            <a:ext cx="162560" cy="162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496" y="6345936"/>
            <a:ext cx="2194560" cy="2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4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pPr indent="0" marL="0">
              <a:buNone/>
            </a:pPr>
            <a:r>
              <a:rPr lang="en-US" sz="800" b="1" spc="104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27487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EDE9F8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2763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C3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W09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1520" y="19751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12 – 18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572768" y="1728216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4C3A8C"/>
          </a:solidFill>
          <a:ln w="6350">
            <a:solidFill>
              <a:srgbClr val="4C3A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72768" y="172821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340864" y="1609344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credit loop for one broker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852160" y="1609344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broker publishes a comp under a credit name they stated themselves, and sees the citation count rise on it. That loop is the entire currency the broker tier trades in — brokers are paid in credit, not cash — and nobody outside has ever been through it.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515600" y="1819656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4C3A8C"/>
          </a:solidFill>
          <a:ln w="6350">
            <a:solidFill>
              <a:srgbClr val="4C3A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0" y="18196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LANDS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66928" y="251460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CF1EF"/>
          </a:solidFill>
          <a:ln w="9525">
            <a:solidFill>
              <a:srgbClr val="F0C7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2660904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F1D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W10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31520" y="30083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19 – 25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572768" y="2761488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72768" y="276148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340864" y="2642616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real traffic thicken the corpus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852160" y="2642616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is downstream of use, which is why it sits in this lane and not in DEV. Ten market/type buckets at eight good comps unblocks the browse page; the corpus_offer events on /admin are the gauge. Cross the backtest's 20-subject floor while watching.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0515600" y="2852928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B91C1C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15600" y="28529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LANDS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6928" y="3547872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EDE9F8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369417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C3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W11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731520" y="40416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26 – Nov 01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572768" y="3794760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4C3A8C"/>
          </a:solidFill>
          <a:ln w="6350">
            <a:solidFill>
              <a:srgbClr val="4C3A8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72768" y="379476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340864" y="3675888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attorney's three answers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852160" y="3675888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Broker-data privacy — processing limits, deletion rights, liability for data a broker was not licensed to hold. It stopped being hypothetical the day private comps went into storage. It gates launch, not development, so it is asked now and built around.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10515600" y="388620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4C3A8C"/>
          </a:solidFill>
          <a:ln w="6350">
            <a:solidFill>
              <a:srgbClr val="4C3A8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515600" y="3886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LANDS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66928" y="4581144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 w="9525">
            <a:solidFill>
              <a:srgbClr val="BFE5D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1520" y="472744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66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W12</a:t>
            </a:r>
            <a:endParaRPr lang="en-US" sz="1900" dirty="0"/>
          </a:p>
        </p:txBody>
      </p:sp>
      <p:sp>
        <p:nvSpPr>
          <p:cNvPr id="36" name="Text 33"/>
          <p:cNvSpPr/>
          <p:nvPr/>
        </p:nvSpPr>
        <p:spPr>
          <a:xfrm>
            <a:off x="731520" y="50749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02 – 08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572768" y="4828032"/>
            <a:ext cx="585216" cy="420624"/>
          </a:xfrm>
          <a:prstGeom prst="roundRect">
            <a:avLst>
              <a:gd name="adj" fmla="val 10870"/>
            </a:avLst>
          </a:prstGeom>
          <a:solidFill>
            <a:srgbClr val="06603A"/>
          </a:solidFill>
          <a:ln w="6350">
            <a:solidFill>
              <a:srgbClr val="06603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572768" y="48280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2340864" y="4709160"/>
            <a:ext cx="33649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the broker network is worth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5852160" y="4709160"/>
            <a:ext cx="4544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ratings are the last v4 slice. Monetisation waits on the referral-fee answer from R3; if fees are barred, the fallback is lead visibility as a subscription benefit. Decide it in writing either way and move the line to the Shipped log.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10515600" y="4919472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06603A"/>
          </a:solidFill>
          <a:ln w="6350">
            <a:solidFill>
              <a:srgbClr val="0660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515600" y="4919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LANDS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66928" y="5632704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F5F4E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9808" y="57332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BLOCK IS JUDGED 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49808" y="5897880"/>
            <a:ext cx="10692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 milestone lands in the last block, and that is the test: if the quarter can only be finished by building something, the first eight weeks built the wrong thing.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INVENTORY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are built and switched off.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73368"/>
            <a:ext cx="162560" cy="162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496" y="6345936"/>
            <a:ext cx="2194560" cy="2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4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pPr indent="0" marL="0">
              <a:buNone/>
            </a:pPr>
            <a:r>
              <a:rPr lang="en-US" sz="800" b="1" spc="104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27487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first four milestones is blocked on code that does not exist. It is blocked on code nobody has turned on — which is a much cheaper problem, and a much easier one to leave unsolved for months.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084832"/>
            <a:ext cx="11057839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139696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outreach.js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035808" y="2139696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real reports on real buildings, publishes share links, drafts a message each. Bills nothing without --confirm.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646920" y="2322576"/>
            <a:ext cx="1874520" cy="237744"/>
          </a:xfrm>
          <a:prstGeom prst="roundRect">
            <a:avLst>
              <a:gd name="adj" fmla="val 11538"/>
            </a:avLst>
          </a:prstGeom>
          <a:solidFill>
            <a:srgbClr val="FCF1EF"/>
          </a:solidFill>
          <a:ln w="6350">
            <a:solidFill>
              <a:srgbClr val="FCF1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46920" y="232257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LIVE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2907792"/>
            <a:ext cx="11057839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2962656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PRO_AUDIENCE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035808" y="2962656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set, so the paid tier is live and unbuyable. Unsetting it is the launch — there is no other switch.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646920" y="3145536"/>
            <a:ext cx="1874520" cy="237744"/>
          </a:xfrm>
          <a:prstGeom prst="roundRect">
            <a:avLst>
              <a:gd name="adj" fmla="val 11538"/>
            </a:avLst>
          </a:prstGeom>
          <a:solidFill>
            <a:srgbClr val="FCF1EF"/>
          </a:solidFill>
          <a:ln w="6350">
            <a:solidFill>
              <a:srgbClr val="FCF1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46920" y="314553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NARROWED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66928" y="3730752"/>
            <a:ext cx="11057839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3785616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Watchlist digest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3035808" y="3785616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copy rules and the /admin card all exist. A timer was refused on purpose; an external schedule was never added.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646920" y="3968496"/>
            <a:ext cx="1874520" cy="237744"/>
          </a:xfrm>
          <a:prstGeom prst="roundRect">
            <a:avLst>
              <a:gd name="adj" fmla="val 11538"/>
            </a:avLst>
          </a:prstGeom>
          <a:solidFill>
            <a:srgbClr val="FBF3DC"/>
          </a:solidFill>
          <a:ln w="6350">
            <a:solidFill>
              <a:srgbClr val="FBF3D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46920" y="39684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CADENCE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6928" y="4553712"/>
            <a:ext cx="11057839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4672" y="4608576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VAULT_PASSKEY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3035808" y="4608576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2026-08-13 so a broker can be onboarded in the room instead of waiting on the SQL editor.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646920" y="4791456"/>
            <a:ext cx="1874520" cy="237744"/>
          </a:xfrm>
          <a:prstGeom prst="roundRect">
            <a:avLst>
              <a:gd name="adj" fmla="val 11538"/>
            </a:avLst>
          </a:prstGeom>
          <a:solidFill>
            <a:srgbClr val="FBF3DC"/>
          </a:solidFill>
          <a:ln w="6350">
            <a:solidFill>
              <a:srgbClr val="FBF3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46920" y="479145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UNHANDED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66928" y="5376672"/>
            <a:ext cx="11057839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" y="5431536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Refund handlers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3035808" y="5431536"/>
            <a:ext cx="6903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charge.refunded and the async-payment pair. Inert for two weeks; ticked on the live endpoint 2026-08-17.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646920" y="5614416"/>
            <a:ext cx="1874520" cy="237744"/>
          </a:xfrm>
          <a:prstGeom prst="roundRect">
            <a:avLst>
              <a:gd name="adj" fmla="val 11538"/>
            </a:avLst>
          </a:prstGeom>
          <a:solidFill>
            <a:srgbClr val="E7F5EE"/>
          </a:solidFill>
          <a:ln w="6350">
            <a:solidFill>
              <a:srgbClr val="E7F5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46920" y="561441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66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LIVE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ON SOMEBODY ELSE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this plan cannot make for itself.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73368"/>
            <a:ext cx="162560" cy="162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496" y="6345936"/>
            <a:ext cx="2194560" cy="2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4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pPr indent="0" marL="0">
              <a:buNone/>
            </a:pPr>
            <a:r>
              <a:rPr lang="en-US" sz="800" b="1" spc="104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27487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3538728" cy="393192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1682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attorney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" y="2121408"/>
            <a:ext cx="30632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Broker-data privacy: processing limits, deletion rights, and liability for data a broker was not licensed to hold.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fees — whether they may be taken at all.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 re-share terms.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4672" y="4370832"/>
            <a:ext cx="3063240" cy="859536"/>
          </a:xfrm>
          <a:prstGeom prst="roundRect">
            <a:avLst>
              <a:gd name="adj" fmla="val 6383"/>
            </a:avLst>
          </a:prstGeom>
          <a:solidFill>
            <a:srgbClr val="FCF1EF"/>
          </a:solidFill>
          <a:ln w="9525">
            <a:solidFill>
              <a:srgbClr val="F0C7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448056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launch, not development. Live since private comps entered storage.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06824" y="1481328"/>
            <a:ext cx="3538728" cy="393192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44568" y="1682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Chuck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44568" y="2121408"/>
            <a:ext cx="30632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gut-check benchmark: which public figure a broker's book is judged against.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Day-one dashboard views.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44568" y="4370832"/>
            <a:ext cx="3063240" cy="859536"/>
          </a:xfrm>
          <a:prstGeom prst="roundRect">
            <a:avLst>
              <a:gd name="adj" fmla="val 6383"/>
            </a:avLst>
          </a:prstGeom>
          <a:solidFill>
            <a:srgbClr val="F5F4E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448056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of the Ecosystem Plan. Shapes M5, does not block it.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046720" y="1481328"/>
            <a:ext cx="3538728" cy="393192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682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owner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84464" y="2121408"/>
            <a:ext cx="30632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market gets the first outreach run, and whether it is one we already have corpus in.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licence gate binds us too — decided yes, 2026-08-12.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any accuracy figure may be said publicly.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84464" y="4370832"/>
            <a:ext cx="3063240" cy="859536"/>
          </a:xfrm>
          <a:prstGeom prst="roundRect">
            <a:avLst>
              <a:gd name="adj" fmla="val 6383"/>
            </a:avLst>
          </a:prstGeom>
          <a:solidFill>
            <a:srgbClr val="F5F4E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49056" y="448056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answerable this month; none needs new data.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563270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unanswered question is not a blocked week — build around it and record the date it was asked.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UNDERNEATH THE FOUR LANES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chores nobody has to approve.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73368"/>
            <a:ext cx="162560" cy="162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496" y="6345936"/>
            <a:ext cx="2194560" cy="2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4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pPr indent="0" marL="0">
              <a:buNone/>
            </a:pPr>
            <a:r>
              <a:rPr lang="en-US" sz="800" b="1" spc="104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27487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" y="1481328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70078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CHORES — PICK UP ANY OF THESE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 checklist skill: tests → tailwind regen → pending migrations → push → verify live → devlog.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tested pure modules out of server.js as they are touched — when touched, with tests first, never as a sweep.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on main, once PR flow feels routine.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pages onto the rd-* tokens; regenerate og-image.png from the cut-card logo.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 PARALLEL_SEARCH on real traffic before ever flipping it on.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marketOf() yielding “Canada” before a non-USD report is ever harvested.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81344" y="1481328"/>
            <a:ext cx="5440680" cy="4160520"/>
          </a:xfrm>
          <a:prstGeom prst="roundRect">
            <a:avLst>
              <a:gd name="adj" fmla="val 1319"/>
            </a:avLst>
          </a:prstGeom>
          <a:solidFill>
            <a:srgbClr val="F5F4E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37376" y="170078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 — DECIDED, NOT FORGOTTEN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37376" y="201168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origin/ledger: Owen's in-repo ledger tooling. Parked 2026-08-04; its data files are already protected on main.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Per-type recommended lookbacks. Industrial moved to 24 months on measurement; the rest stay until measured the same way — priced sale comps per window, not total comps.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and seed pipeline stay pinned at 8 comps.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Plus-tier packaging ideas from the 2026-07-16 tiering draft.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" y="58155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8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 means a future reader should stop proposing it. Reviving one is a decision with a date, not a slow drift.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BINDS EVERY SLIDE BEFORE THIS ONE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847088"/>
          </a:xfrm>
          <a:prstGeom prst="roundRect">
            <a:avLst>
              <a:gd name="adj" fmla="val 2970"/>
            </a:avLst>
          </a:prstGeom>
          <a:solidFill>
            <a:srgbClr val="243044"/>
          </a:solidFill>
          <a:ln w="9525">
            <a:solidFill>
              <a:srgbClr val="3D4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14016"/>
            <a:ext cx="4937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customer-first, daily-use tool growing toward Director-of-Asset-Management analysis. Favour client-side deterministic finance math — it costs nothing per run — and recurring-engagement loops over one-shot answers.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81344" y="1828800"/>
            <a:ext cx="5440680" cy="1847088"/>
          </a:xfrm>
          <a:prstGeom prst="roundRect">
            <a:avLst>
              <a:gd name="adj" fmla="val 2970"/>
            </a:avLst>
          </a:prstGeom>
          <a:solidFill>
            <a:srgbClr val="243044"/>
          </a:solidFill>
          <a:ln w="9525">
            <a:solidFill>
              <a:srgbClr val="3D4B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7376" y="20116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37376" y="2414016"/>
            <a:ext cx="4937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UI. The brand is CompNinja, never Adler. A brand-identity change needs an explicit named yes, and so does any edit to visible copy.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913632"/>
            <a:ext cx="5440680" cy="1847088"/>
          </a:xfrm>
          <a:prstGeom prst="roundRect">
            <a:avLst>
              <a:gd name="adj" fmla="val 2970"/>
            </a:avLst>
          </a:prstGeom>
          <a:solidFill>
            <a:srgbClr val="243044"/>
          </a:solidFill>
          <a:ln w="9525">
            <a:solidFill>
              <a:srgbClr val="3D4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965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position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498848"/>
            <a:ext cx="4937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 licensed broker. The site connects you with a local broker; it never is one. Every valuation is an automated estimate, never an appraisal — and that reaches the data, not only the copy.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3913632"/>
            <a:ext cx="5440680" cy="1847088"/>
          </a:xfrm>
          <a:prstGeom prst="roundRect">
            <a:avLst>
              <a:gd name="adj" fmla="val 2970"/>
            </a:avLst>
          </a:prstGeom>
          <a:solidFill>
            <a:srgbClr val="243044"/>
          </a:solidFill>
          <a:ln w="9525">
            <a:solidFill>
              <a:srgbClr val="3D4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40965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claim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37376" y="4498848"/>
            <a:ext cx="4937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market “analyst-grade” before the comp audit scores 90%+. Nothing from the backtest ships to a marketing surface until it has crossed its own floor.</a:t>
            </a:r>
            <a:endParaRPr lang="en-US" sz="11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73368"/>
            <a:ext cx="162560" cy="1625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93496" y="6345936"/>
            <a:ext cx="2194560" cy="2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4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pPr indent="0" marL="0">
              <a:buNone/>
            </a:pPr>
            <a:r>
              <a:rPr lang="en-US" sz="800" b="1" spc="104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527487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DECK STAYS TRUE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roadmap decays quietly.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73368"/>
            <a:ext cx="162560" cy="162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496" y="6345936"/>
            <a:ext cx="2194560" cy="2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4" kern="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pPr indent="0" marL="0">
              <a:buNone/>
            </a:pPr>
            <a:r>
              <a:rPr lang="en-US" sz="800" b="1" spc="104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527487" y="6355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66928" y="1298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habits are the whole defence. None of them is about writing more; three are about deleting on time.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1755648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9385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572768" y="1883664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line the week it ships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47488" y="1883664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deck listing work already live is worse than no deck: it makes the reader distrust every other line. Move it to the Shipped log with its date, in the same commit.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2816352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999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572768" y="2944368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never adverbs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47488" y="2944368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“Recently”, “soon” and “currently” all age into lies. A date does not. Every claim on these slides carries the day it was last true.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" y="3877056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0599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572768" y="4005072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reason, not just the item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47488" y="4005072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entry saying only what to do gets re-argued next month. One saying why gets executed. Record what was rejected and what it would have cost — that is the most expensive thing here to regenerate.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6928" y="4937760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D4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5120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572768" y="506577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file wins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047488" y="5065776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742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docs/ROADMAP.md is the source of truth and docs/ROADMAP-TEMPLATE.md is its shape. This deck is how the same plan is read out loud; when they disagree, the file is right.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CompNinja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CompNinja Roadmap — 12 Weeks</dc:title>
  <dc:subject>Milestone roadmap, Aug 17 – Nov 08 2026</dc:subject>
  <dc:creator>CompNinja</dc:creator>
  <cp:lastModifiedBy>CompNinja</cp:lastModifiedBy>
  <cp:revision>1</cp:revision>
  <dcterms:created xsi:type="dcterms:W3CDTF">2026-08-19T16:30:49Z</dcterms:created>
  <dcterms:modified xsi:type="dcterms:W3CDTF">2026-08-19T16:30:49Z</dcterms:modified>
</cp:coreProperties>
</file>