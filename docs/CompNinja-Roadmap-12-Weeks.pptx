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deck restates docs/ROADMAP.md as milestones on a calendar. When the two disagree, the repo file wins — move a line to its Shipped log the same commit it ships.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zero is the whole argument for the ordering. If it stops being zero, re-order the deck around retention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Milestones are claims, not deliverables — each is worded so it can be shown false. If a milestone cannot be shown false by looking at a dashboard or a database row, it is a feature list wearing a milestone's clothes. Rewrite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exists to stop the roadmap growing. Every item here was finished work that produced no outcome because a switch stayed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only one habit survives, make it the first. A stale roadmap is read as a lying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566928"/>
            <a:ext cx="264160" cy="2641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95096" y="539496"/>
            <a:ext cx="2194560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69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1300" b="1" spc="169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1965960"/>
            <a:ext cx="8778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Roadmap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566928" y="3035808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871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weeks, six milestones.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566928" y="370332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D5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milestone is a fact about a person outside this company — not a feature that shipped.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66928" y="4709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 AUG</a:t>
            </a:r>
            <a:endParaRPr lang="en-US" sz="2700" dirty="0"/>
          </a:p>
        </p:txBody>
      </p:sp>
      <p:sp>
        <p:nvSpPr>
          <p:cNvPr id="8" name="Text 5"/>
          <p:cNvSpPr/>
          <p:nvPr/>
        </p:nvSpPr>
        <p:spPr>
          <a:xfrm>
            <a:off x="566928" y="52303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BEGINS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2715768" y="4709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 NOV</a:t>
            </a:r>
            <a:endParaRPr lang="en-US" sz="2700" dirty="0"/>
          </a:p>
        </p:txBody>
      </p:sp>
      <p:sp>
        <p:nvSpPr>
          <p:cNvPr id="10" name="Text 7"/>
          <p:cNvSpPr/>
          <p:nvPr/>
        </p:nvSpPr>
        <p:spPr>
          <a:xfrm>
            <a:off x="2715768" y="52303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12 ENDS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864608" y="47091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2700" dirty="0"/>
          </a:p>
        </p:txBody>
      </p:sp>
      <p:sp>
        <p:nvSpPr>
          <p:cNvPr id="12" name="Text 9"/>
          <p:cNvSpPr/>
          <p:nvPr/>
        </p:nvSpPr>
        <p:spPr>
          <a:xfrm>
            <a:off x="4864608" y="5230368"/>
            <a:ext cx="2011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30" kern="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MILESTONES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955487" y="637336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2026-08-19  ·  docs/ROADMAP.md stays the source of truth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PLAN AND NOT ANOTHER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constraint is not the product.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3246120" cy="2212848"/>
          </a:xfrm>
          <a:prstGeom prst="roundRect">
            <a:avLst>
              <a:gd name="adj" fmla="val 2479"/>
            </a:avLst>
          </a:prstGeom>
          <a:solidFill>
            <a:srgbClr val="1A2433"/>
          </a:solidFill>
          <a:ln w="9525">
            <a:solidFill>
              <a:srgbClr val="1A243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09344"/>
            <a:ext cx="27432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dirty="0">
                <a:solidFill>
                  <a:srgbClr val="F871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822960" y="2761488"/>
            <a:ext cx="26974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D5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users, at the last honest count (2026-08-06)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87368" y="1481328"/>
            <a:ext cx="2395728" cy="2212848"/>
          </a:xfrm>
          <a:prstGeom prst="roundRect">
            <a:avLst>
              <a:gd name="adj" fmla="val 2479"/>
            </a:avLst>
          </a:prstGeom>
          <a:solidFill>
            <a:srgbClr val="E7F5EE"/>
          </a:solidFill>
          <a:ln w="9525">
            <a:solidFill>
              <a:srgbClr val="BFE5D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288536" y="16824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066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built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288536" y="2066544"/>
            <a:ext cx="20116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 tier with billing, a private broker vault, 38 market pages, a comp corpus with retrieval, a lead inbox, a watchlist digest, share links with an ACL.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647688" y="1481328"/>
            <a:ext cx="2395728" cy="2212848"/>
          </a:xfrm>
          <a:prstGeom prst="roundRect">
            <a:avLst>
              <a:gd name="adj" fmla="val 2479"/>
            </a:avLst>
          </a:prstGeom>
          <a:solidFill>
            <a:srgbClr val="FBF3DC"/>
          </a:solidFill>
          <a:ln w="9525">
            <a:solidFill>
              <a:srgbClr val="EDDFB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848856" y="16824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A6D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proven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848856" y="2066544"/>
            <a:ext cx="20116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math, by test and by backtest. 1,520 tests gate every deploy. The reconciliation is scored against real corpus sales.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208008" y="1481328"/>
            <a:ext cx="2395728" cy="2212848"/>
          </a:xfrm>
          <a:prstGeom prst="roundRect">
            <a:avLst>
              <a:gd name="adj" fmla="val 2479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09176" y="1682496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F1D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is missing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9409176" y="2066544"/>
            <a:ext cx="20116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stranger. Nobody outside has run a report, uploaded a book, or paid. Every number above is a number about us.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66928" y="3931920"/>
            <a:ext cx="11057839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22960" y="41330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ORDERING RULE FOR EVERYTHING THAT FOLLOWS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822960" y="4370832"/>
            <a:ext cx="10545775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that moves a person from “never heard of it” to “ran a second report” outranks work that makes the report better. The product is not short of features; it is short of a first user. A thin result is a real answer — evidence to stop spending here, not a reason to spend more.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66928" y="5303520"/>
            <a:ext cx="96862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roadmap's own position, not a new one: “as of 2026-08-06 the product had zero real outside users, so ‘can anyone find this’ is the binding constraint.”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TWELVE WEEKS AT A GLANCE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Six milestones, each a claim someone else can check.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35387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" y="171907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316736" y="175564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 · Aug 17 – Aug 30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04672" y="2249424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outside reports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04672" y="27797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04672" y="2980944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reports run by people who are not the owner. Read off /admin's visitor funnel by distinct visitor id.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306824" y="1481328"/>
            <a:ext cx="35387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44568" y="171907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44568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5056632" y="175564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3–4 · Aug 31 – Sep 13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4544568" y="2249424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outside broker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544568" y="27797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44568" y="2980944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real book in the vault under a user id that is not ours, published under a stated credit name.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8046720" y="1481328"/>
            <a:ext cx="35387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284464" y="171907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284464" y="1719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8796528" y="1755648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5–6 · Sep 14 – Sep 27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8284464" y="2249424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Someone comes back</a:t>
            </a:r>
            <a:endParaRPr lang="en-US" sz="1700" dirty="0"/>
          </a:p>
        </p:txBody>
      </p:sp>
      <p:sp>
        <p:nvSpPr>
          <p:cNvPr id="26" name="Text 23"/>
          <p:cNvSpPr/>
          <p:nvPr/>
        </p:nvSpPr>
        <p:spPr>
          <a:xfrm>
            <a:off x="8284464" y="27797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8284464" y="2980944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returns and runs a second report without us prompting them. Repeat visitor id across sessions.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66928" y="3877056"/>
            <a:ext cx="35387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04672" y="411480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4672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1316736" y="415137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7–8 · Sep 28 – Oct 11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804672" y="464515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First paid conversion</a:t>
            </a:r>
            <a:endParaRPr lang="en-US" sz="1700" dirty="0"/>
          </a:p>
        </p:txBody>
      </p:sp>
      <p:sp>
        <p:nvSpPr>
          <p:cNvPr id="33" name="Text 30"/>
          <p:cNvSpPr/>
          <p:nvPr/>
        </p:nvSpPr>
        <p:spPr>
          <a:xfrm>
            <a:off x="804672" y="51755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50" dirty="0"/>
          </a:p>
        </p:txBody>
      </p:sp>
      <p:sp>
        <p:nvSpPr>
          <p:cNvPr id="34" name="Text 31"/>
          <p:cNvSpPr/>
          <p:nvPr/>
        </p:nvSpPr>
        <p:spPr>
          <a:xfrm>
            <a:off x="804672" y="537667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stranger pays. One subscription or report_purchases row that is not a test card and not staff.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06824" y="3877056"/>
            <a:ext cx="35387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544568" y="411480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544568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150" dirty="0"/>
          </a:p>
        </p:txBody>
      </p:sp>
      <p:sp>
        <p:nvSpPr>
          <p:cNvPr id="38" name="Text 35"/>
          <p:cNvSpPr/>
          <p:nvPr/>
        </p:nvSpPr>
        <p:spPr>
          <a:xfrm>
            <a:off x="5056632" y="415137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9–10 · Oct 12 – Oct 25</a:t>
            </a:r>
            <a:endParaRPr lang="en-US" sz="950" dirty="0"/>
          </a:p>
        </p:txBody>
      </p:sp>
      <p:sp>
        <p:nvSpPr>
          <p:cNvPr id="39" name="Text 36"/>
          <p:cNvSpPr/>
          <p:nvPr/>
        </p:nvSpPr>
        <p:spPr>
          <a:xfrm>
            <a:off x="4544568" y="464515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Corpus density</a:t>
            </a:r>
            <a:endParaRPr lang="en-US" sz="1700" dirty="0"/>
          </a:p>
        </p:txBody>
      </p:sp>
      <p:sp>
        <p:nvSpPr>
          <p:cNvPr id="40" name="Text 37"/>
          <p:cNvSpPr/>
          <p:nvPr/>
        </p:nvSpPr>
        <p:spPr>
          <a:xfrm>
            <a:off x="4544568" y="51755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4544568" y="537667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or more market/type buckets holding 8+ provenance-good comps — the roadmap's own gate for the browse page.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8046720" y="3877056"/>
            <a:ext cx="3538728" cy="2212848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84464" y="411480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8284464" y="4114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150" dirty="0"/>
          </a:p>
        </p:txBody>
      </p:sp>
      <p:sp>
        <p:nvSpPr>
          <p:cNvPr id="45" name="Text 42"/>
          <p:cNvSpPr/>
          <p:nvPr/>
        </p:nvSpPr>
        <p:spPr>
          <a:xfrm>
            <a:off x="8796528" y="4151376"/>
            <a:ext cx="257860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20" kern="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11–12 · Oct 26 – Nov 08</a:t>
            </a:r>
            <a:endParaRPr lang="en-US" sz="950" dirty="0"/>
          </a:p>
        </p:txBody>
      </p:sp>
      <p:sp>
        <p:nvSpPr>
          <p:cNvPr id="46" name="Text 43"/>
          <p:cNvSpPr/>
          <p:nvPr/>
        </p:nvSpPr>
        <p:spPr>
          <a:xfrm>
            <a:off x="8284464" y="4645152"/>
            <a:ext cx="3063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Clearance to grow</a:t>
            </a:r>
            <a:endParaRPr lang="en-US" sz="1700" dirty="0"/>
          </a:p>
        </p:txBody>
      </p:sp>
      <p:sp>
        <p:nvSpPr>
          <p:cNvPr id="47" name="Text 44"/>
          <p:cNvSpPr/>
          <p:nvPr/>
        </p:nvSpPr>
        <p:spPr>
          <a:xfrm>
            <a:off x="8284464" y="517550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WHEN</a:t>
            </a:r>
            <a:endParaRPr lang="en-US" sz="950" dirty="0"/>
          </a:p>
        </p:txBody>
      </p:sp>
      <p:sp>
        <p:nvSpPr>
          <p:cNvPr id="48" name="Text 45"/>
          <p:cNvSpPr/>
          <p:nvPr/>
        </p:nvSpPr>
        <p:spPr>
          <a:xfrm>
            <a:off x="8284464" y="537667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attorney's three answers in writing, and a decided shape for the broker network — or a written reason not to.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 FIRST OUTSIDE REPORTS · M2 FIRST OUTSIDE BROKER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1–4 · Getting in front of somebody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276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W01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17 – 23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572768" y="1728216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72768" y="1728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76272" y="1609344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outreach that is already written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806440" y="1609344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outreach.js runs real reports on real buildings and drafts a message each — built, never run live. Ten buildings, one market, --confirm. Same week: re-check Search Console — has the home page been crawled since Aug 8, and does it name itself as canonical yet?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251460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660904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W02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731520" y="300837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24 – 30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572768" y="2761488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572768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176272" y="2642616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ten, fix the worst drop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806440" y="2642616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visitor funnel now answers arrived → hit the wall → made an account → ran a report. Repair whichever gap is widest before adding anything. Nothing new ships this week that the funnel did not ask for.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0515600" y="2852928"/>
            <a:ext cx="1005840" cy="237744"/>
          </a:xfrm>
          <a:prstGeom prst="roundRect">
            <a:avLst>
              <a:gd name="adj" fmla="val 11538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515600" y="28529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354787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369417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W03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31520" y="404164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Aug 31 – Sep 06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572768" y="379476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7276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2176272" y="367588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 the licence gate before any broker has a vault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5806440" y="3675888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2026-08-12, not built: a licence field on the broker profile, and POST /api/vault/publish refuses without it. Verified means a named broker vouched; that must be enforced in code, not remembered. Build it alongside vault_beta, not after.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66928" y="4581144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472744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W04</a:t>
            </a:r>
            <a:endParaRPr lang="en-US" sz="1900" dirty="0"/>
          </a:p>
        </p:txBody>
      </p:sp>
      <p:sp>
        <p:nvSpPr>
          <p:cNvPr id="32" name="Text 29"/>
          <p:cNvSpPr/>
          <p:nvPr/>
        </p:nvSpPr>
        <p:spPr>
          <a:xfrm>
            <a:off x="731520" y="5074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07 – 13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1572768" y="482803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572768" y="4828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176272" y="4709160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 three brokers a vault, in the room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806440" y="4709160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VAULT_PASSKEY exists precisely so onboarding does not wait on the SQL editor. Read their real exports for lat/lng coverage — that measurement is what buys or kills import-time geocoding, which has been deferred for want of a single real book.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10515600" y="4919472"/>
            <a:ext cx="1005840" cy="237744"/>
          </a:xfrm>
          <a:prstGeom prst="roundRect">
            <a:avLst>
              <a:gd name="adj" fmla="val 11538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515600" y="49194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566928" y="5632704"/>
            <a:ext cx="11057839" cy="566928"/>
          </a:xfrm>
          <a:prstGeom prst="roundRect">
            <a:avLst>
              <a:gd name="adj" fmla="val 9677"/>
            </a:avLst>
          </a:prstGeom>
          <a:solidFill>
            <a:srgbClr val="F5F4E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49808" y="573328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BLOCK IS JUDGED ON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749808" y="5897880"/>
            <a:ext cx="10692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milestones are about people, and neither needs a feature that does not exist. Week 1 runs a tool already written; week 3 builds the one thing that must exist before a stranger holds a vault.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 SOMEONE COMES BACK · M4 FIRST PAID CONVERSION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5–8 · Coming back, and paying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276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W05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14 – 20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572768" y="1728216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72768" y="1728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76272" y="1609344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 the digest on a cadence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806440" y="1609344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 thing we send on our own initiative is manual-only by design. Drive the route from an external scheduler, weekly. Prove the high-water marks on a real send, and that unsubscribe survives a mail scanner fetching every link.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251460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660904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W06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731520" y="300837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21 – 27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572768" y="2761488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572768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176272" y="2642616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second visit worth the trip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806440" y="2642616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saved property already reports what its market did while its owner was away, drawn from other people's searches. Land the digest on that, not on a generic desk. The return visit is the product; the first is the advert.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0515600" y="2852928"/>
            <a:ext cx="1005840" cy="237744"/>
          </a:xfrm>
          <a:prstGeom prst="roundRect">
            <a:avLst>
              <a:gd name="adj" fmla="val 11538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515600" y="28529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354787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369417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W07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31520" y="404164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28 – Oct 04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572768" y="379476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7276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2176272" y="367588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Unset PRO_AUDIENCE — that is the launch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5806440" y="3675888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set, the paid tier is live and unbuyable and the deployment looks perfectly healthy. Before flipping: one real card end to end, and confirm all nine Stripe events are ticked on the live endpoint — three of them sat inert for two weeks.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66928" y="4581144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472744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W08</a:t>
            </a:r>
            <a:endParaRPr lang="en-US" sz="1900" dirty="0"/>
          </a:p>
        </p:txBody>
      </p:sp>
      <p:sp>
        <p:nvSpPr>
          <p:cNvPr id="32" name="Text 29"/>
          <p:cNvSpPr/>
          <p:nvPr/>
        </p:nvSpPr>
        <p:spPr>
          <a:xfrm>
            <a:off x="731520" y="5074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05 – 11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1572768" y="482803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572768" y="4828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176272" y="4709160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 the $20 report where the lock is felt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806440" y="4709160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tile only appears on a report with locked comps, which is the only honest moment to ask. Measure lock seen → tile shown → checkout opened. Move the Stripe price before the copy, never after.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10515600" y="4919472"/>
            <a:ext cx="1005840" cy="237744"/>
          </a:xfrm>
          <a:prstGeom prst="roundRect">
            <a:avLst>
              <a:gd name="adj" fmla="val 11538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515600" y="49194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566928" y="5632704"/>
            <a:ext cx="11057839" cy="566928"/>
          </a:xfrm>
          <a:prstGeom prst="roundRect">
            <a:avLst>
              <a:gd name="adj" fmla="val 9677"/>
            </a:avLst>
          </a:prstGeom>
          <a:solidFill>
            <a:srgbClr val="F5F4E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49808" y="573328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BLOCK IS JUDGED ON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749808" y="5897880"/>
            <a:ext cx="10692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is proved before the money is asked for, deliberately. A first payment from somebody who was never going to return is a refund with a delay on it.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 CORPUS DENSITY · M6 CLEARANCE TO GROW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Weeks 9–12 · Density, accuracy, clearance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627632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W09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31520" y="197510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12 – 18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1572768" y="1728216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572768" y="1728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2176272" y="1609344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real traffic feed the corpus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806440" y="1609344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search harvests, billed or cached, and repeat markets cut the search budget. Watch bucket density and the corpus hit rate on /admin — judge the ratio going forward, since the lifetime figure counts weeks before retrieval existed.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566928" y="2514600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31520" y="2660904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W10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731520" y="3008376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19 – 25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1572768" y="2761488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572768" y="27614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2176272" y="2642616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 the accuracy floor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5806440" y="2642616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backtest shows progress toward 20 scored subjects instead of a number, because a median over a handful swings too far. Cross it, read the error per type, and only then consider whether any of it may be said out loud.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0515600" y="2852928"/>
            <a:ext cx="1005840" cy="237744"/>
          </a:xfrm>
          <a:prstGeom prst="roundRect">
            <a:avLst>
              <a:gd name="adj" fmla="val 11538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515600" y="285292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3547872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E2D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31520" y="369417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W11</a:t>
            </a:r>
            <a:endParaRPr lang="en-US" sz="1900" dirty="0"/>
          </a:p>
        </p:txBody>
      </p:sp>
      <p:sp>
        <p:nvSpPr>
          <p:cNvPr id="25" name="Text 22"/>
          <p:cNvSpPr/>
          <p:nvPr/>
        </p:nvSpPr>
        <p:spPr>
          <a:xfrm>
            <a:off x="731520" y="4041648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 26 – Nov 01</a:t>
            </a:r>
            <a:endParaRPr lang="en-US" sz="850" dirty="0"/>
          </a:p>
        </p:txBody>
      </p:sp>
      <p:sp>
        <p:nvSpPr>
          <p:cNvPr id="26" name="Shape 23"/>
          <p:cNvSpPr/>
          <p:nvPr/>
        </p:nvSpPr>
        <p:spPr>
          <a:xfrm>
            <a:off x="1572768" y="3794760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1A2433"/>
          </a:solidFill>
          <a:ln w="6350">
            <a:solidFill>
              <a:srgbClr val="1A24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572768" y="37947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2176272" y="3675888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the attorney's three answers</a:t>
            </a:r>
            <a:endParaRPr lang="en-US" sz="1250" dirty="0"/>
          </a:p>
        </p:txBody>
      </p:sp>
      <p:sp>
        <p:nvSpPr>
          <p:cNvPr id="29" name="Text 26"/>
          <p:cNvSpPr/>
          <p:nvPr/>
        </p:nvSpPr>
        <p:spPr>
          <a:xfrm>
            <a:off x="5806440" y="3675888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Broker-data privacy — processing limits, deletion rights, liability for data a broker was not licensed to hold. It stopped being hypothetical the day private comps went into storage. It gates launch, not development, so it is asked now and built around.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566928" y="4581144"/>
            <a:ext cx="11057839" cy="914400"/>
          </a:xfrm>
          <a:prstGeom prst="roundRect">
            <a:avLst>
              <a:gd name="adj" fmla="val 6000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731520" y="4727448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W12</a:t>
            </a:r>
            <a:endParaRPr lang="en-US" sz="1900" dirty="0"/>
          </a:p>
        </p:txBody>
      </p:sp>
      <p:sp>
        <p:nvSpPr>
          <p:cNvPr id="32" name="Text 29"/>
          <p:cNvSpPr/>
          <p:nvPr/>
        </p:nvSpPr>
        <p:spPr>
          <a:xfrm>
            <a:off x="731520" y="507492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02 – 08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1572768" y="4828032"/>
            <a:ext cx="420624" cy="420624"/>
          </a:xfrm>
          <a:prstGeom prst="roundRect">
            <a:avLst>
              <a:gd name="adj" fmla="val 10870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1572768" y="4828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176272" y="4709160"/>
            <a:ext cx="3474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broker network's shape</a:t>
            </a:r>
            <a:endParaRPr lang="en-US" sz="1250" dirty="0"/>
          </a:p>
        </p:txBody>
      </p:sp>
      <p:sp>
        <p:nvSpPr>
          <p:cNvPr id="36" name="Text 33"/>
          <p:cNvSpPr/>
          <p:nvPr/>
        </p:nvSpPr>
        <p:spPr>
          <a:xfrm>
            <a:off x="5806440" y="4709160"/>
            <a:ext cx="459028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 ratings are the last v4 slice. Monetisation waits on the referral-fee answer; if fees are barred, the fallback is lead visibility as a subscription benefit. Decide it in writing either way and move the line to the Shipped log.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10515600" y="4919472"/>
            <a:ext cx="1005840" cy="237744"/>
          </a:xfrm>
          <a:prstGeom prst="roundRect">
            <a:avLst>
              <a:gd name="adj" fmla="val 11538"/>
            </a:avLst>
          </a:prstGeom>
          <a:solidFill>
            <a:srgbClr val="B91C1C"/>
          </a:solidFill>
          <a:ln w="6350">
            <a:solidFill>
              <a:srgbClr val="B91C1C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10515600" y="491947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MILESTONE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566928" y="5632704"/>
            <a:ext cx="11057839" cy="566928"/>
          </a:xfrm>
          <a:prstGeom prst="roundRect">
            <a:avLst>
              <a:gd name="adj" fmla="val 9677"/>
            </a:avLst>
          </a:prstGeom>
          <a:solidFill>
            <a:srgbClr val="F5F4E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749808" y="573328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BLOCK IS JUDGED ON</a:t>
            </a:r>
            <a:endParaRPr lang="en-US" sz="950" dirty="0"/>
          </a:p>
        </p:txBody>
      </p:sp>
      <p:sp>
        <p:nvSpPr>
          <p:cNvPr id="41" name="Text 38"/>
          <p:cNvSpPr/>
          <p:nvPr/>
        </p:nvSpPr>
        <p:spPr>
          <a:xfrm>
            <a:off x="749808" y="5897880"/>
            <a:ext cx="1069207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last block is the one that compounds: a dense corpus makes every later search cheaper and every later report better, and the legal answers decide what may be sold at all.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INVENTORY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things are built and switched off.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1444752"/>
            <a:ext cx="1105783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of the first four milestones is blocked on code that does not exist. It is blocked on code nobody has turned on — which is a much cheaper problem, and a much easier one to leave unsolved for months.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2084832"/>
            <a:ext cx="11057839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139696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outreach.js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3035808" y="2139696"/>
            <a:ext cx="6903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real reports on real buildings, publishes share links, drafts a message each. Bills nothing without --confirm.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9646920" y="2322576"/>
            <a:ext cx="1874520" cy="237744"/>
          </a:xfrm>
          <a:prstGeom prst="roundRect">
            <a:avLst>
              <a:gd name="adj" fmla="val 11538"/>
            </a:avLst>
          </a:prstGeom>
          <a:solidFill>
            <a:srgbClr val="FCF1EF"/>
          </a:solidFill>
          <a:ln w="6350">
            <a:solidFill>
              <a:srgbClr val="FCF1E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46920" y="232257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RUN LIVE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566928" y="2907792"/>
            <a:ext cx="11057839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4672" y="2962656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PRO_AUDIENCE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3035808" y="2962656"/>
            <a:ext cx="6903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set, so the paid tier is live and unbuyable. Unsetting it is the launch — there is no other switch.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646920" y="3145536"/>
            <a:ext cx="1874520" cy="237744"/>
          </a:xfrm>
          <a:prstGeom prst="roundRect">
            <a:avLst>
              <a:gd name="adj" fmla="val 11538"/>
            </a:avLst>
          </a:prstGeom>
          <a:solidFill>
            <a:srgbClr val="FCF1EF"/>
          </a:solidFill>
          <a:ln w="6350">
            <a:solidFill>
              <a:srgbClr val="FCF1E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646920" y="314553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7F1D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NARROWED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66928" y="3730752"/>
            <a:ext cx="11057839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04672" y="3785616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Watchlist digest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3035808" y="3785616"/>
            <a:ext cx="6903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Route, copy rules and the /admin card all exist. A timer was refused on purpose; an external schedule was never added.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9646920" y="3968496"/>
            <a:ext cx="1874520" cy="237744"/>
          </a:xfrm>
          <a:prstGeom prst="roundRect">
            <a:avLst>
              <a:gd name="adj" fmla="val 11538"/>
            </a:avLst>
          </a:prstGeom>
          <a:solidFill>
            <a:srgbClr val="FBF3DC"/>
          </a:solidFill>
          <a:ln w="6350">
            <a:solidFill>
              <a:srgbClr val="FBF3D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46920" y="396849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A6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CADENCE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66928" y="4553712"/>
            <a:ext cx="11057839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4608576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VAULT_PASSKEY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3035808" y="4608576"/>
            <a:ext cx="6903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Shipped 2026-08-13 so a broker can be onboarded in the room instead of waiting on the SQL editor.</a:t>
            </a:r>
            <a:endParaRPr lang="en-US" sz="1050" dirty="0"/>
          </a:p>
        </p:txBody>
      </p:sp>
      <p:sp>
        <p:nvSpPr>
          <p:cNvPr id="26" name="Shape 23"/>
          <p:cNvSpPr/>
          <p:nvPr/>
        </p:nvSpPr>
        <p:spPr>
          <a:xfrm>
            <a:off x="9646920" y="4791456"/>
            <a:ext cx="1874520" cy="237744"/>
          </a:xfrm>
          <a:prstGeom prst="roundRect">
            <a:avLst>
              <a:gd name="adj" fmla="val 11538"/>
            </a:avLst>
          </a:prstGeom>
          <a:solidFill>
            <a:srgbClr val="FBF3DC"/>
          </a:solidFill>
          <a:ln w="6350">
            <a:solidFill>
              <a:srgbClr val="FBF3DC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646920" y="479145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A6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UNHANDED</a:t>
            </a:r>
            <a:endParaRPr lang="en-US" sz="850" dirty="0"/>
          </a:p>
        </p:txBody>
      </p:sp>
      <p:sp>
        <p:nvSpPr>
          <p:cNvPr id="28" name="Shape 25"/>
          <p:cNvSpPr/>
          <p:nvPr/>
        </p:nvSpPr>
        <p:spPr>
          <a:xfrm>
            <a:off x="566928" y="5376672"/>
            <a:ext cx="11057839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04672" y="5431536"/>
            <a:ext cx="21488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Refund handlers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3035808" y="5431536"/>
            <a:ext cx="6903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charge.refunded and the async-payment pair. Inert for two weeks; ticked on the live endpoint 2026-08-17.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9646920" y="5614416"/>
            <a:ext cx="1874520" cy="237744"/>
          </a:xfrm>
          <a:prstGeom prst="roundRect">
            <a:avLst>
              <a:gd name="adj" fmla="val 11538"/>
            </a:avLst>
          </a:prstGeom>
          <a:solidFill>
            <a:srgbClr val="E7F5EE"/>
          </a:solidFill>
          <a:ln w="6350">
            <a:solidFill>
              <a:srgbClr val="E7F5E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646920" y="5614416"/>
            <a:ext cx="1874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06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LIVE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ON SOMEBODY ELSE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decisions this plan cannot make for itself.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3538728" cy="3931920"/>
          </a:xfrm>
          <a:prstGeom prst="roundRect">
            <a:avLst>
              <a:gd name="adj" fmla="val 1550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68249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attorney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04672" y="2121408"/>
            <a:ext cx="306324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Broker-data privacy: processing limits, deletion rights, and liability for data a broker was not licensed to hold.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fees — whether they may be taken at all.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MLS re-share terms.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804672" y="4370832"/>
            <a:ext cx="3063240" cy="859536"/>
          </a:xfrm>
          <a:prstGeom prst="roundRect">
            <a:avLst>
              <a:gd name="adj" fmla="val 6383"/>
            </a:avLst>
          </a:prstGeom>
          <a:solidFill>
            <a:srgbClr val="FCF1EF"/>
          </a:solidFill>
          <a:ln w="9525">
            <a:solidFill>
              <a:srgbClr val="F0C7C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9264" y="4480560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launch, not development. Live since private comps entered storage.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306824" y="1481328"/>
            <a:ext cx="3538728" cy="3931920"/>
          </a:xfrm>
          <a:prstGeom prst="roundRect">
            <a:avLst>
              <a:gd name="adj" fmla="val 1550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44568" y="168249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Chuck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44568" y="2121408"/>
            <a:ext cx="306324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gut-check benchmark: which public figure a broker's book is judged against.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Day-one dashboard views.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544568" y="4370832"/>
            <a:ext cx="3063240" cy="859536"/>
          </a:xfrm>
          <a:prstGeom prst="roundRect">
            <a:avLst>
              <a:gd name="adj" fmla="val 6383"/>
            </a:avLst>
          </a:prstGeom>
          <a:solidFill>
            <a:srgbClr val="F5F4E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09160" y="4480560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of the Ecosystem Plan. Shapes M5, does not block it.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046720" y="1481328"/>
            <a:ext cx="3538728" cy="3931920"/>
          </a:xfrm>
          <a:prstGeom prst="roundRect">
            <a:avLst>
              <a:gd name="adj" fmla="val 1550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84464" y="1682496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 the owner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84464" y="2121408"/>
            <a:ext cx="3063240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market gets the first outreach run, and whether it is one we already have corpus in.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licence gate binds us too — decided yes, 2026-08-12.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9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any accuracy figure may be said publicly.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8284464" y="4370832"/>
            <a:ext cx="3063240" cy="859536"/>
          </a:xfrm>
          <a:prstGeom prst="roundRect">
            <a:avLst>
              <a:gd name="adj" fmla="val 6383"/>
            </a:avLst>
          </a:prstGeom>
          <a:solidFill>
            <a:srgbClr val="F5F4E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49056" y="4480560"/>
            <a:ext cx="27432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are answerable this month; none needs new data.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566928" y="563270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unanswered question is not a blocked week — build around it and record the date it was asked.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UNDERNEATH THE MILESTONES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track that needs no product decision.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 dirty="0"/>
          </a:p>
        </p:txBody>
      </p:sp>
      <p:sp>
        <p:nvSpPr>
          <p:cNvPr id="7" name="Shape 4"/>
          <p:cNvSpPr/>
          <p:nvPr/>
        </p:nvSpPr>
        <p:spPr>
          <a:xfrm>
            <a:off x="566928" y="1481328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00784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TRACK — PICK UP ANY OF THESE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22960" y="201168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 checklist skill: tests → tailwind regen → pending migrations → push → verify live → devlog.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tested pure modules out of server.js as they are touched — when touched, with tests first, never as a sweep.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protection on main, once PR flow feels routine.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pages onto the rd-* tokens; regenerate og-image.png from the cut-card logo.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PARALLEL_SEARCH on real traffic before ever flipping it on.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marketOf() yielding “Canada” before a non-USD report is ever harvested.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81344" y="1481328"/>
            <a:ext cx="5440680" cy="4160520"/>
          </a:xfrm>
          <a:prstGeom prst="roundRect">
            <a:avLst>
              <a:gd name="adj" fmla="val 1319"/>
            </a:avLst>
          </a:prstGeom>
          <a:solidFill>
            <a:srgbClr val="F5F4E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37376" y="1700784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PARKED — DECIDED, NOT FORGOTTEN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6437376" y="2011680"/>
            <a:ext cx="49377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origin/ledger: Owen's in-repo ledger tooling. Parked 2026-08-04; its data files are already protected on main.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Per-type recommended lookbacks. Industrial moved to 24 months on measurement; the rest stay until measured the same way — priced sale comps per window, not total comps.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Explorer and seed pipeline stay pinned at 8 comps.</a:t>
            </a:r>
            <a:endParaRPr lang="en-US" sz="1100" dirty="0"/>
          </a:p>
          <a:p>
            <a:pPr marL="342900" indent="-3429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Plus-tier packaging ideas from the 2026-07-16 tiering draft.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66928" y="581558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870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Parked means a future reader should stop proposing it. Reviving one is a decision with a date, not a slow drift.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4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30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BINDS EVERY SLIDE BEFORE THIS ONE</a:t>
            </a:r>
            <a:endParaRPr lang="en-US" sz="950" dirty="0"/>
          </a:p>
        </p:txBody>
      </p:sp>
      <p:sp>
        <p:nvSpPr>
          <p:cNvPr id="3" name="Text 1"/>
          <p:cNvSpPr/>
          <p:nvPr/>
        </p:nvSpPr>
        <p:spPr>
          <a:xfrm>
            <a:off x="566928" y="841248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Principles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440680" cy="1847088"/>
          </a:xfrm>
          <a:prstGeom prst="roundRect">
            <a:avLst>
              <a:gd name="adj" fmla="val 2970"/>
            </a:avLst>
          </a:prstGeom>
          <a:solidFill>
            <a:srgbClr val="243044"/>
          </a:solidFill>
          <a:ln w="9525">
            <a:solidFill>
              <a:srgbClr val="3D4B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0116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71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product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22960" y="241401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5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customer-first, daily-use tool growing toward Director-of-Asset-Management analysis. Favour client-side deterministic finance math — it costs nothing per run — and recurring-engagement loops over one-shot answers.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181344" y="1828800"/>
            <a:ext cx="5440680" cy="1847088"/>
          </a:xfrm>
          <a:prstGeom prst="roundRect">
            <a:avLst>
              <a:gd name="adj" fmla="val 2970"/>
            </a:avLst>
          </a:prstGeom>
          <a:solidFill>
            <a:srgbClr val="243044"/>
          </a:solidFill>
          <a:ln w="9525">
            <a:solidFill>
              <a:srgbClr val="3D4B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37376" y="201168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71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brand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37376" y="2414016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5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Calm UI. The brand is CompNinja, never Adler. A brand-identity change needs an explicit named yes, and so does any edit to visible copy.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913632"/>
            <a:ext cx="5440680" cy="1847088"/>
          </a:xfrm>
          <a:prstGeom prst="roundRect">
            <a:avLst>
              <a:gd name="adj" fmla="val 2970"/>
            </a:avLst>
          </a:prstGeom>
          <a:solidFill>
            <a:srgbClr val="243044"/>
          </a:solidFill>
          <a:ln w="9525">
            <a:solidFill>
              <a:srgbClr val="3D4B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965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71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position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22960" y="4498848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5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not a licensed broker. The site connects you with a local broker; it never is one. Every valuation is an automated estimate, never an appraisal — and that reaches the data, not only the copy.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81344" y="3913632"/>
            <a:ext cx="5440680" cy="1847088"/>
          </a:xfrm>
          <a:prstGeom prst="roundRect">
            <a:avLst>
              <a:gd name="adj" fmla="val 2970"/>
            </a:avLst>
          </a:prstGeom>
          <a:solidFill>
            <a:srgbClr val="243044"/>
          </a:solidFill>
          <a:ln w="9525">
            <a:solidFill>
              <a:srgbClr val="3D4B5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37376" y="409651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8717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claim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37376" y="4498848"/>
            <a:ext cx="493776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5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market “analyst-grade” before the comp audit scores 90%+. Nothing from the backtest ships to a marketing surface until it has crossed its own floor.</a:t>
            </a:r>
            <a:endParaRPr lang="en-US" sz="1150" dirty="0"/>
          </a:p>
        </p:txBody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F8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B9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B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DECK STAYS TRUE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A24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roadmap decays quietly.</a:t>
            </a:r>
            <a:endParaRPr lang="en-US" sz="30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73368"/>
            <a:ext cx="162560" cy="162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3496" y="6345936"/>
            <a:ext cx="2194560" cy="2174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4" kern="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</a:t>
            </a:r>
            <a:pPr indent="0" marL="0">
              <a:buNone/>
            </a:pPr>
            <a:r>
              <a:rPr lang="en-US" sz="800" b="1" spc="104" kern="0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10527487" y="6355080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AA2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566928" y="1298448"/>
            <a:ext cx="1105783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four habits are the whole defence. None of them is about writing more; three are about deleting on time.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66928" y="1755648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1938528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572768" y="1883664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the line the week it ships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047488" y="1883664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deck listing work already live is worse than no deck: it makes the reader distrust every other line. Move it to the Shipped log with its date, in the same commit.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66928" y="2816352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2960" y="2999232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1572768" y="2944368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Dates, never adverbs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047488" y="2944368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“Recently”, “soon” and “currently” all age into lies. A date does not. Every claim on these slides carries the day it was last true.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566928" y="3877056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22960" y="40599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1572768" y="4005072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reason, not just the item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47488" y="4005072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entry saying only what to do gets re-argued next month. One saying why gets executed. Record what was rejected and what it would have cost — that is the most expensive thing here to regenerate.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566928" y="4937760"/>
            <a:ext cx="11057839" cy="932688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8D4C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22960" y="512064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91C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1572768" y="5065776"/>
            <a:ext cx="32461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 file wins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5047488" y="5065776"/>
            <a:ext cx="6309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37425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docs/ROADMAP.md is the source of truth and docs/ROADMAP-TEMPLATE.md is its shape. This deck is how the same plan is read out loud; when they disagree, the file is right.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CompNinja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CompNinja Roadmap — 12 Weeks</dc:title>
  <dc:subject>Milestone roadmap, Aug 17 – Nov 08 2026</dc:subject>
  <dc:creator>CompNinja</dc:creator>
  <cp:lastModifiedBy>CompNinja</cp:lastModifiedBy>
  <cp:revision>1</cp:revision>
  <dcterms:created xsi:type="dcterms:W3CDTF">2026-08-19T06:21:05Z</dcterms:created>
  <dcterms:modified xsi:type="dcterms:W3CDTF">2026-08-19T06:21:05Z</dcterms:modified>
</cp:coreProperties>
</file>